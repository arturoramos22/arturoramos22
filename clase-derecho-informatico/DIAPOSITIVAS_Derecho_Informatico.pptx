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cf699278-a5ef-d8da-b5be-d813dc8188a2}">
          <p14:sldIdLst>
            <p14:sldId id="256"/>
            <p14:sldId id="257"/>
            <p14:sldId id="258"/>
          </p14:sldIdLst>
        </p14:section>
        <p14:section name="Fundamentos" id="{82f23ff5-a6c0-c2e2-90af-3ce500f4a9e4}">
          <p14:sldIdLst>
            <p14:sldId id="259"/>
            <p14:sldId id="260"/>
            <p14:sldId id="261"/>
            <p14:sldId id="262"/>
          </p14:sldIdLst>
        </p14:section>
        <p14:section name="Evolución, objeto y fuentes" id="{d6e6f719-5022-ff83-b56f-e0e8adb3b4e6}">
          <p14:sldIdLst>
            <p14:sldId id="263"/>
            <p14:sldId id="264"/>
            <p14:sldId id="265"/>
            <p14:sldId id="266"/>
            <p14:sldId id="267"/>
          </p14:sldIdLst>
        </p14:section>
        <p14:section name="Principios y campos" id="{36434724-3fd0-77c9-46c4-eedc633a37bc}">
          <p14:sldIdLst>
            <p14:sldId id="268"/>
            <p14:sldId id="269"/>
            <p14:sldId id="270"/>
            <p14:sldId id="271"/>
          </p14:sldIdLst>
        </p14:section>
        <p14:section name="Lectura académica" id="{ec13626e-52ff-d313-4034-03a32fce71ed}">
          <p14:sldIdLst>
            <p14:sldId id="272"/>
            <p14:sldId id="273"/>
          </p14:sldIdLst>
        </p14:section>
        <p14:section name="Video" id="{1d538675-cc49-0de8-0c98-89fb6480f3c2}">
          <p14:sldIdLst>
            <p14:sldId id="274"/>
          </p14:sldIdLst>
        </p14:section>
        <p14:section name="Sentencia hito" id="{89d0eac4-67f8-c790-98b3-6c96bf24a6c9}">
          <p14:sldIdLst>
            <p14:sldId id="275"/>
            <p14:sldId id="276"/>
            <p14:sldId id="277"/>
            <p14:sldId id="278"/>
            <p14:sldId id="279"/>
            <p14:sldId id="280"/>
          </p14:sldIdLst>
        </p14:section>
        <p14:section name="Aplicación y cierre" id="{74be571e-98a1-af14-aac7-60fad3fa946e}">
          <p14:sldIdLst>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(minuto 0-8). Pregunta detonante en la siguiente diapositiva. Anunciar la regla del día: toda cita que hagamos se abre en la fuente oficial. Materiales: guía de trabajo (entregada una semana antes), lectura académica, sentencia hito,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Recoger tres respuestas rápidas a mano alzada. Anotar en el tablero: las dos preguntas son, en realidad, las dos preguntas fundacionales del Derecho Informático: quién controla la información sobre las personas y quién responde por la decisión asistida por una máquina. Presentar la agenda.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los seis objetivos. Señalar que el 5 y el 6 se evalúan con la matriz de la sentencia y los minicasos de la guía de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 8-25. Tres diapositivas y un ejercicio relámpago.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Definición de trabajo y definición clásica de Julio Téllez Valdés (conjunto de leyes, normas y principios aplicables a los hechos y actos derivados de la informática). Lo esencial: la información digital y los sistemas que la procesan son OBJETO o MEDIO de la conducta regulada. Contrastar con la lectura asignada (Donoso y Reusser, 2021).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cuatro criterios clásicos de autonomía. En Colombia los cuatro existen. Posición defendible: disciplina con objeto, principios e instituciones propios, pero transversal al derecho civil, penal, constitucional, administrativo, laboral y procesal. La lectura asignada toma posición: pedir a los estudiantes que la identifiquen.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Claves: 1 informática jurídica. 2 Derecho Informático (datos personales, Ley 1581/2012). 3 Derecho de las telecomunicaciones. 4 Derecho Informático (prueba electrónica, Ley 527/1999 y art. 247 CGP). 5 ambas: informática jurídica como herramienta y Derecho Informático como problema regulado (T-323/2024).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 25-45.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1: cibernética (Wiener 1948), iuscibernética (Losano, Frosini 1968), primeras leyes de datos (Hesse 1970, Suecia 1973, EE. UU. 1974, Francia 1978), Convenio 108 (1981). Etapa 2: Ley Modelo CNUDMI 1996, Directiva 95/46, Lessig 1999. Etapa 3: Convenio de Budapest 2001, RGPD 2016. Etapa 4: Reglamento europeo de IA 2024, Recomendación UNESCO 2021.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Línea colombiana. Subrayar que la Sentencia T-323 de 2024 es la sentencia hito que se analiza en el taller. T-323/2024: uso de IA generativa por un juez. STC17832-2025 de la Corte Suprema: providencia con citas inexistentes. CONPES 4144/2025: política nacional de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grupos del objeto. La IA atraviesa los tres: datos de entrenamiento, actos automatizados, nuevos riesgos. Pedir un ejemplo de la vida cotidiana por grupo.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Pirámide de fuentes. Recordar que las leyes de datos (1266, 1581, 1712) son estatutarias y pasaron por control previo de la Corte (C-1011/08, C-748/11, C-274/13). Última capa: la lex informatica, el diseño técnico también regula (Lessig).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 45-60. Cada grupo recibe un campo y formula en una frase la pregunta que responde.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Equivalencia funcional (Ley 527, arts. 6-8); neutralidad tecnológica; no discriminación del mensaje de datos (arts. 5 y 10); autodeterminación informativa (art. 15 C.P.; Ley 1581, art. 4); responsabilidad demostrada (Decreto 1377/2013, arts. 26-27, hoy Decreto 1074/2015); supervisión humana (T-323/2024); transparencia y explicabilidad (T-323/2024; Circular SIC 002/2024).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Actividad de 8 minutos: cada grupo toma un campo y formula la pregunta que responde y un caso de la vida real. Puesta en común de una frase por grupo.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Siete problemas abiertos. Conectar con el video y con los minicasos. Pedir a los estudiantes que ubiquen cada problema en uno de los tres grupos del objeto.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Ficha: Donoso Abarca, L. y Reusser Monsálvez, C. (2021). Derecho Informático (Serie Materiales Docentes n.º 31). Academia Judicial de Chile. https://academiajudicial.cl/wp-content/uploads/2022/03/Derecho-informatico.pdf
Tesis y aportes: Texto doctrinal que parte de la informática jurídica para llegar al derecho informático, discute la denominación (informático o digital), fija sus características y principios regulatorios (neutralidad tecnológica, mínima intervención) y despliega los campos: documento y firma electrónica, datos personales.
Pregunta de la ficha de lectura: ¿Es el Derecho Informático una rama autónoma o un método transversal? Responda con los criterios del texto y con un ejemplo colombiano.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Contrastar con lo expuesto: ¿qué agrega o discute el texto? Citas tomadas literalmente del PDF (página indicada).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Proyectar completo (13:50 (por confirmar en YouTube)). Luego las tres preguntas. Enlace: https://www.youtube.com/watch?v=xSPRouBvgFE. Verificado el 5 de octubre de 2026: canal TEDx Talks (YouTube), publicado 2025 (charla de marzo de 2025, publicada en octubre de 2025). Véliz muestra con casos concretos que un dato que hoy parece inocuo (la religión en un registro civil, el genoma, la ubicación) puede convertirse en instrumento de daño cuando cambia quien tiene el poder; defiende la minimización de datos, la privacidad como bien colectivo y límites al modelo de negocio basado en datos personales. En inglés, con subtítulos en español.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 82-105. Taller en grupos de cuatro con la matriz de la guía. Texto oficial: https://www.corteconstitucional.gov.co/relatoria/2024/T-323-24.htm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Hechos: Una madre, en representación de su hijo con trastorno del espectro autista, presentó acción de tutela contra su EPS para que lo exonerara de copagos y cuotas moderadoras, cubriera el transporte a terapias y controles y garantizara el tratamiento integral. El 7 de diciembre de 2022 un juzgado municipal de Cartagena concedió el amparo; la EPS impugnó. El 30 de enero de 2023 el Juzgado Primero Laboral del Circuito de Cartagena confirmó la decisión y, para ampliar los argumentos de la decisión ya adoptada, transcribió en la sentencia las preguntas que formuló a ChatGPT 3.5 y las respuestas obtenidas. La Corte Constitucional seleccionó el caso para revisión y decretó pruebas con intervenciones de universidades y autoridades.
Problema jurídico: (1) ¿Se vulneró el derecho al debido proceso en la decisión de segunda instancia por el uso de ChatGPT 3.5, en cuanto genera dudas sobre si quien decidió fue un juez de la República o una IA y sobre si la decisión fue debidamente motivada o fue producto de respuestas o alucinaciones de la IA? (2) ¿Vulneró la EPS los derechos a la salud, a la vida digna y a la seguridad social del niño al no exonerarlo de copagos y cuotas moderadoras, negar el transporte y no autorizar el tratamiento integral?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Decisión: Confirmó parcialmente la sentencia de segunda instancia: mantuvo el amparo y lo extendió al transporte para valoraciones, controles y ayudas diagnósticas. Concluyó que el uso de ChatGPT no comportó una usurpación de la función de administrar justicia ni violó el debido proceso, porque el juez ya había fundamentado y adoptado la decisión; encontró, sin embargo, que no se cumplieron a cabalidad la transparencia (exposición parcial del uso) ni la responsabilidad (datos de la IA no del todo precisos). Ordenó al Consejo Superior de la Judicatura divulgar una guía o lineamiento sobre IA generativa en la Rama Judicial y, mediante la Escuela Judicial Rodrigo Lara Bonilla, difundir la sentencia y capacitar; exhortó a los jueces a evaluar el uso adecuado de estas herramientas; dio órdenes a la EPS.
Ratio: El juez natural tiene que ser un ser humano: la IA no puede sustituirlo en las labores que exigen razonamiento lógico y humano (interpretar los hechos, valorar las pruebas, motivar y adoptar la decisión); una decisión adoptada por la IA sin valoración del juez sería inválida y violaría el debido proceso. Es admisible un uso razonable y ponderado de la IA, con enfoque de protección de derechos, bajo las cargas de transparencia, responsabilidad y protección de datos personales y con el requisito esencial de no sustituir la racionalidad humana.
Regla: Un funcionario judicial puede usar IA generativa como apoyo (gestión administrativa y documental, corrección y resumen de textos) siempre que (i) no le delegue la interpretación de los hechos, la valoración de las pruebas, la motivación ni la decisión; (ii) evidencie con claridad y precisión el uso, su alcance y su ubicación en la providencia; (iii) verifique con rigor las fuentes y los datos y proteja la reserva de la información del proceso; y (iv) responda por el resultado. Criterios para la Rama Judicial: transparencia, responsabilidad, privacidad, no sustitución de la racionalidad humana, seriedad y verificación, prevención de riesgos, igualdad y equidad, control humano, regulación ética, adecuación a buenas prácticas y estándares colectivos, seguimiento continuo y adaptación, e idoneidad.
Precedente: Primer pronunciamiento de una alta corte colombiana que fija condiciones para el uso de IA generativa en la decisión judicial. Vincula a los funcionarios y empleados de la Rama Judicial; su desarrollo institucional son el ABC de la sentencia (Circular PCSJC24-37 de 2024) y los lineamientos de uso de IA de la Rama Judicial (diciembre de 2024). Para el abogado litigante opera como estándar de diligencia: la Corte Suprema (STC17832-2025) dejó sin efectos una decisión apoyada en citas jurisprudenciales inexistentes.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Citas literales tomadas del texto oficial en la relatoría de la Corte Constitucional (verificadas el 5 de octubre de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Precedente: Primer pronunciamiento de una alta corte colombiana que fija condiciones para el uso de IA generativa en la decisión judicial. Vincula a los funcionarios y empleados de la Rama Judicial; su desarrollo institucional son el ABC de la sentencia (Circular PCSJC24-37 de 2024) y los lineamientos de uso de IA de la Rama Judicial (diciembre de 2024). Para el abogado litigante opera como estándar de diligencia: la Corte Suprema (STC17832-2025) dejó sin efectos una decisión apoyada en citas jurisprudenciales inexistentes.
Utilidad pedagógica: Permite practicar la distinción entre ratio y reglas prospectivas (la Corte no anuló, pero reguló), conectar los principios de la disciplina con un caso concreto y discutir la responsabilidad profesional del abogado que usa IA. Los estudiantes reconocen el caso por la prensa.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Grupos de cuatro. Completan la matriz de la guía de trabajo (sección 6.2) y responden la pregunta de contraste. Un relator expone en dos minutos. Insistir en distinguir ratio de obiter.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1 (El auto redactado por la máquina). Clave: Se afectan no sustitución (si no valoró), transparencia, verificación y responsabilidad. Debió revisar, dejar constancia del uso y verificar normas. No es nulo si el juez lo examinó y lo hizo suyo; sí lo sería si la decisión fue de la máquina sin valoración.
Caso 2 (La tutela con la cita inexistente). Clave: Lealtad y probidad (Ley 1123/2007); pérdida de credibilidad y eventual temeridad; daño al usuario. Protocolo: abrir cada cita en la relatoría oficial, cotejar el extracto con el texto, dejar constancia interna de la herramienta y la verificación.
Caso 3 (La EPS que decide sola). Clave: Salud, habeas data (datos sensibles, Ley 1581/2012), debido proceso administrativo y explicación. Exigir revisión humana, motivación, información sobre el tratamiento (art. 8 Ley 1581) y tutela si hay barrera; apoyo en control humano y transparencia (T-323/2024; Circular SIC 002/2024).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con las cinco conclusiones y volver a la pregunta detonante.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 de cinco preguntas (guía, sección 8.1) y ticket de salida. Pesos: ficha de lectura 30 %, matriz de la sentencia 40 %, aplicación y quiz 30 %.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Todas las fuentes, con su estado de verificación, están en FUENTES.md / FUENTES.docx de la carpeta de la clase en Google Drive.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F224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8046720" cy="12801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834640"/>
            <a:ext cx="8046720" cy="109728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949440" cy="731520"/>
          </a:xfrm>
          <a:prstGeom prst="rect">
            <a:avLst/>
          </a:prstGeom>
          <a:noFill/>
          <a:ln/>
        </p:spPr>
        <p:txBody>
          <a:bodyPr wrap="square" rtlCol="0"/>
          <a:lstStyle>
            <a:lvl1pPr algn="l" indent="0" marL="0">
              <a:buNone/>
              <a:defRPr lang="en-US" sz="2400" b="1" dirty="0">
                <a:solidFill>
                  <a:schemeClr val="tx1"/>
                </a:solidFill>
              </a:defRPr>
            </a:lvl1pPr>
          </a:lstStyle>
          <a:p>
            <a:pPr algn="l" indent="0" marL="0">
              <a:buNone/>
            </a:pPr>
            <a:endParaRPr lang="en-US" sz="2400" dirty="0"/>
          </a:p>
        </p:txBody>
      </p:sp>
      <p:sp>
        <p:nvSpPr>
          <p:cNvPr id="3" name="Text 0"/>
          <p:cNvSpPr txBox="1"/>
          <p:nvPr/>
        </p:nvSpPr>
        <p:spPr>
          <a:xfrm>
            <a:off x="457200" y="4773168"/>
            <a:ext cx="5486400" cy="274320"/>
          </a:xfrm>
          <a:prstGeom prst="rect">
            <a:avLst/>
          </a:prstGeom>
          <a:noFill/>
          <a:ln/>
        </p:spPr>
        <p:txBody>
          <a:bodyPr wrap="square" lIns="0" tIns="0" rIns="0" bIns="0" rtlCol="0" anchor="ctr"/>
          <a:lstStyle/>
          <a:p>
            <a:pPr indent="0" marL="0">
              <a:buNone/>
            </a:pPr>
            <a:r>
              <a:rPr lang="en-US" sz="900" dirty="0">
                <a:solidFill>
                  <a:schemeClr val="tx2"/>
                </a:solidFill>
              </a:rPr>
              <a:t>Tecnología y Derecho · Derecho Informático · UFPS</a:t>
            </a:r>
            <a:endParaRPr lang="en-US" sz="9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3C3F5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109728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548640" y="3017520"/>
            <a:ext cx="8046720" cy="82296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academiajudicial.cl/wp-content/uploads/2022/03/Derecho-informatico.pdf" TargetMode="External"/><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www.youtube.com/watch?v=xSPRouBvgFE" TargetMode="External"/><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academiajudicial.cl/wp-content/uploads/2022/03/Derecho-informatico.pdf" TargetMode="External"/><Relationship Id="rId2" Type="http://schemas.openxmlformats.org/officeDocument/2006/relationships/hyperlink" Target="https://ediciones.uniandes.edu.co/library/publication/derecho-de-las-tecnologias-y-las-tecnologias-para-el-derecho" TargetMode="External"/><Relationship Id="rId3" Type="http://schemas.openxmlformats.org/officeDocument/2006/relationships/hyperlink" Target="https://www.corteconstitucional.gov.co/relatoria/2024/T-323-24.htm" TargetMode="External"/><Relationship Id="rId4" Type="http://schemas.openxmlformats.org/officeDocument/2006/relationships/hyperlink" Target="https://www.corteconstitucional.gov.co/relatoria/1992/T-414-92.htm" TargetMode="External"/><Relationship Id="rId5" Type="http://schemas.openxmlformats.org/officeDocument/2006/relationships/hyperlink" Target="https://escuelajudicial.ramajudicial.gov.co/sites/default/files/ABC_SentenciaIA_T323De2024.pdf" TargetMode="External"/><Relationship Id="rId6" Type="http://schemas.openxmlformats.org/officeDocument/2006/relationships/hyperlink" Target="https://cortesuprema.gov.co" TargetMode="External"/><Relationship Id="rId7" Type="http://schemas.openxmlformats.org/officeDocument/2006/relationships/hyperlink" Target="https://www.secretariasenado.gov.co" TargetMode="External"/><Relationship Id="rId8" Type="http://schemas.openxmlformats.org/officeDocument/2006/relationships/slideLayout" Target="../slideLayouts/slideLayout3.xml"/><Relationship Id="rId9"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822960"/>
            <a:ext cx="8046720" cy="365760"/>
          </a:xfrm>
          <a:prstGeom prst="rect">
            <a:avLst/>
          </a:prstGeom>
          <a:noFill/>
          <a:ln/>
        </p:spPr>
        <p:txBody>
          <a:bodyPr wrap="square" lIns="0" tIns="0" rIns="0" bIns="0" rtlCol="0" anchor="ctr"/>
          <a:lstStyle/>
          <a:p>
            <a:pPr indent="0" marL="0">
              <a:buNone/>
            </a:pPr>
            <a:r>
              <a:rPr lang="en-US" sz="1300" b="1" dirty="0">
                <a:solidFill>
                  <a:schemeClr val="accent2"/>
                </a:solidFill>
              </a:rPr>
              <a:t>Asignatura Tecnología y Derecho · Sesión de 120 minutos</a:t>
            </a:r>
            <a:endParaRPr lang="en-US" sz="1300" dirty="0"/>
          </a:p>
        </p:txBody>
      </p:sp>
      <p:sp>
        <p:nvSpPr>
          <p:cNvPr id="3" name="Text 0"/>
          <p:cNvSpPr/>
          <p:nvPr>
            <p:ph idx="100" type="title" hasCustomPrompt="1"/>
          </p:nvPr>
        </p:nvSpPr>
        <p:spPr>
          <a:xfrm>
            <a:off x="548640" y="1463040"/>
            <a:ext cx="8046720" cy="1280160"/>
          </a:xfrm>
          <a:prstGeom prst="rect">
            <a:avLst/>
          </a:prstGeom>
          <a:noFill/>
          <a:ln/>
        </p:spPr>
        <p:txBody>
          <a:bodyPr wrap="square" lIns="0" tIns="0" rIns="0" bIns="0" rtlCol="0" anchor="b"/>
          <a:lstStyle/>
          <a:p>
            <a:pPr algn="l" indent="0" marL="0">
              <a:buNone/>
            </a:pPr>
            <a:r>
              <a:rPr lang="en-US" sz="4000" b="1" dirty="0">
                <a:solidFill>
                  <a:schemeClr val="bg1"/>
                </a:solidFill>
              </a:rPr>
              <a:t>Derecho Informático</a:t>
            </a:r>
            <a:endParaRPr lang="en-US" sz="4000" dirty="0"/>
          </a:p>
        </p:txBody>
      </p:sp>
      <p:sp>
        <p:nvSpPr>
          <p:cNvPr id="4" name="Text 0"/>
          <p:cNvSpPr/>
          <p:nvPr>
            <p:ph idx="101" type="body" hasCustomPrompt="1"/>
          </p:nvPr>
        </p:nvSpPr>
        <p:spPr>
          <a:xfrm>
            <a:off x="548640" y="2834640"/>
            <a:ext cx="8046720" cy="1097280"/>
          </a:xfrm>
          <a:prstGeom prst="rect">
            <a:avLst/>
          </a:prstGeom>
          <a:noFill/>
          <a:ln/>
        </p:spPr>
        <p:txBody>
          <a:bodyPr wrap="square" lIns="0" tIns="0" rIns="0" bIns="0" rtlCol="0" anchor="t"/>
          <a:lstStyle/>
          <a:p>
            <a:pPr algn="l" indent="0" marL="0">
              <a:buNone/>
            </a:pPr>
            <a:r>
              <a:rPr lang="en-US" sz="1800" dirty="0">
                <a:solidFill>
                  <a:schemeClr val="accent6"/>
                </a:solidFill>
              </a:rPr>
              <a:t>Fundamentos, evolución, objeto, fuentes, campos y problemas contemporáneos (2025-2026)</a:t>
            </a:r>
            <a:endParaRPr lang="en-US" sz="1800" dirty="0"/>
          </a:p>
        </p:txBody>
      </p:sp>
      <p:sp>
        <p:nvSpPr>
          <p:cNvPr id="5" name="pie"/>
          <p:cNvSpPr txBox="1"/>
          <p:nvPr/>
        </p:nvSpPr>
        <p:spPr>
          <a:xfrm>
            <a:off x="548640" y="3931920"/>
            <a:ext cx="8046720" cy="731520"/>
          </a:xfrm>
          <a:prstGeom prst="rect">
            <a:avLst/>
          </a:prstGeom>
          <a:noFill/>
          <a:ln/>
        </p:spPr>
        <p:txBody>
          <a:bodyPr wrap="square" lIns="0" tIns="0" rIns="0" bIns="0" rtlCol="0" anchor="ctr"/>
          <a:lstStyle/>
          <a:p>
            <a:pPr indent="0" marL="0">
              <a:buNone/>
            </a:pPr>
            <a:r>
              <a:rPr lang="en-US" sz="1200" dirty="0">
                <a:solidFill>
                  <a:schemeClr val="accent6"/>
                </a:solidFill>
              </a:rPr>
              <a:t>Programa de Derecho · Universidad Francisco de Paula Santander</a:t>
            </a:r>
            <a:endParaRPr lang="en-US" sz="1200" dirty="0"/>
          </a:p>
          <a:p>
            <a:pPr indent="0" marL="0">
              <a:buNone/>
            </a:pPr>
            <a:r>
              <a:rPr lang="en-US" sz="1200" dirty="0">
                <a:solidFill>
                  <a:schemeClr val="accent6"/>
                </a:solidFill>
              </a:rPr>
              <a:t>Docente: Carlos Arturo Ramos Mejía</a:t>
            </a:r>
            <a:endParaRPr lang="en-US" sz="1200" dirty="0"/>
          </a:p>
        </p:txBody>
      </p:sp>
      <p:sp>
        <p:nvSpPr>
          <p:cNvPr id="6" name="motivo"/>
          <p:cNvSpPr/>
          <p:nvPr/>
        </p:nvSpPr>
        <p:spPr>
          <a:xfrm>
            <a:off x="7406640" y="640080"/>
            <a:ext cx="1188720" cy="1188720"/>
          </a:xfrm>
          <a:prstGeom prst="ellipse">
            <a:avLst/>
          </a:prstGeom>
          <a:solidFill>
            <a:schemeClr val="accent1"/>
          </a:solidFill>
          <a:ln w="12700">
            <a:solidFill>
              <a:schemeClr val="accent1"/>
            </a:solidFill>
            <a:prstDash val="solid"/>
          </a:ln>
        </p:spPr>
      </p:sp>
      <p:sp>
        <p:nvSpPr>
          <p:cNvPr id="7" name="motivo-txt"/>
          <p:cNvSpPr txBox="1"/>
          <p:nvPr/>
        </p:nvSpPr>
        <p:spPr>
          <a:xfrm>
            <a:off x="7406640" y="640080"/>
            <a:ext cx="1188720" cy="1188720"/>
          </a:xfrm>
          <a:prstGeom prst="rect">
            <a:avLst/>
          </a:prstGeom>
          <a:noFill/>
          <a:ln/>
        </p:spPr>
        <p:txBody>
          <a:bodyPr wrap="square" lIns="0" tIns="0" rIns="0" bIns="0" rtlCol="0" anchor="ctr"/>
          <a:lstStyle/>
          <a:p>
            <a:pPr algn="ctr" indent="0" marL="0">
              <a:buNone/>
            </a:pPr>
            <a:r>
              <a:rPr lang="en-US" sz="4400" b="1" dirty="0">
                <a:solidFill>
                  <a:schemeClr val="bg1"/>
                </a:solidFill>
              </a:rPr>
              <a:t>§</a:t>
            </a:r>
            <a:endParaRPr lang="en-US" sz="4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949440" cy="731520"/>
          </a:xfrm>
          <a:prstGeom prst="rect">
            <a:avLst/>
          </a:prstGeom>
          <a:noFill/>
          <a:ln/>
        </p:spPr>
        <p:txBody>
          <a:bodyPr wrap="square" lIns="0" tIns="0" rIns="0" bIns="0" rtlCol="0" anchor="ctr"/>
          <a:lstStyle/>
          <a:p>
            <a:pPr algn="l" indent="0" marL="0">
              <a:buNone/>
            </a:pPr>
            <a:r>
              <a:rPr lang="en-US" sz="2400" b="1" dirty="0">
                <a:solidFill>
                  <a:schemeClr val="tx1"/>
                </a:solidFill>
              </a:rPr>
              <a:t>Dos preguntas para empezar</a:t>
            </a:r>
            <a:endParaRPr lang="en-US" sz="2400" dirty="0"/>
          </a:p>
        </p:txBody>
      </p:sp>
      <p:sp>
        <p:nvSpPr>
          <p:cNvPr id="3" name="bloque"/>
          <p:cNvSpPr txBox="1"/>
          <p:nvPr/>
        </p:nvSpPr>
        <p:spPr>
          <a:xfrm>
            <a:off x="7498080" y="411480"/>
            <a:ext cx="1188720" cy="292608"/>
          </a:xfrm>
          <a:prstGeom prst="rect">
            <a:avLst/>
          </a:prstGeom>
          <a:solidFill>
            <a:schemeClr val="accent1"/>
          </a:solidFill>
          <a:ln/>
        </p:spPr>
        <p:txBody>
          <a:bodyPr wrap="square" lIns="0" tIns="0" rIns="0" bIns="0" rtlCol="0" anchor="ctr"/>
          <a:lstStyle/>
          <a:p>
            <a:pPr algn="ctr" indent="0" marL="0">
              <a:buNone/>
            </a:pPr>
            <a:r>
              <a:rPr lang="en-US" sz="900" b="1" dirty="0">
                <a:solidFill>
                  <a:schemeClr val="bg1"/>
                </a:solidFill>
              </a:rPr>
              <a:t>APERTURA 0-8</a:t>
            </a:r>
            <a:endParaRPr lang="en-US" sz="900" dirty="0"/>
          </a:p>
        </p:txBody>
      </p:sp>
      <p:sp>
        <p:nvSpPr>
          <p:cNvPr id="5" name="ag0"/>
          <p:cNvSpPr/>
          <p:nvPr/>
        </p:nvSpPr>
        <p:spPr>
          <a:xfrm>
            <a:off x="457200" y="2011680"/>
            <a:ext cx="3931920" cy="566928"/>
          </a:xfrm>
          <a:prstGeom prst="roundRect">
            <a:avLst>
              <a:gd name="adj" fmla="val 12903"/>
            </a:avLst>
          </a:prstGeom>
          <a:solidFill>
            <a:schemeClr val="bg2"/>
          </a:solidFill>
          <a:ln w="12700">
            <a:solidFill>
              <a:schemeClr val="bg2"/>
            </a:solidFill>
            <a:prstDash val="solid"/>
          </a:ln>
        </p:spPr>
      </p:sp>
      <p:sp>
        <p:nvSpPr>
          <p:cNvPr id="6" name="agm0"/>
          <p:cNvSpPr txBox="1"/>
          <p:nvPr/>
        </p:nvSpPr>
        <p:spPr>
          <a:xfrm>
            <a:off x="594360" y="2011680"/>
            <a:ext cx="914400" cy="566928"/>
          </a:xfrm>
          <a:prstGeom prst="rect">
            <a:avLst/>
          </a:prstGeom>
          <a:noFill/>
          <a:ln/>
        </p:spPr>
        <p:txBody>
          <a:bodyPr wrap="square" lIns="0" tIns="0" rIns="0" bIns="0" rtlCol="0" anchor="ctr"/>
          <a:lstStyle/>
          <a:p>
            <a:pPr indent="0" marL="0">
              <a:buNone/>
            </a:pPr>
            <a:r>
              <a:rPr lang="en-US" sz="1300" b="1" dirty="0">
                <a:solidFill>
                  <a:schemeClr val="accent1"/>
                </a:solidFill>
              </a:rPr>
              <a:t>0-8</a:t>
            </a:r>
            <a:endParaRPr lang="en-US" sz="1300" dirty="0"/>
          </a:p>
        </p:txBody>
      </p:sp>
      <p:sp>
        <p:nvSpPr>
          <p:cNvPr id="7" name="agt0"/>
          <p:cNvSpPr txBox="1"/>
          <p:nvPr/>
        </p:nvSpPr>
        <p:spPr>
          <a:xfrm>
            <a:off x="1554480" y="2011680"/>
            <a:ext cx="2743200" cy="566928"/>
          </a:xfrm>
          <a:prstGeom prst="rect">
            <a:avLst/>
          </a:prstGeom>
          <a:noFill/>
          <a:ln/>
        </p:spPr>
        <p:txBody>
          <a:bodyPr wrap="square" lIns="0" tIns="0" rIns="0" bIns="0" rtlCol="0" anchor="ctr"/>
          <a:lstStyle/>
          <a:p>
            <a:pPr indent="0" marL="0">
              <a:buNone/>
            </a:pPr>
            <a:r>
              <a:rPr lang="en-US" sz="1200" dirty="0">
                <a:solidFill>
                  <a:schemeClr val="tx1"/>
                </a:solidFill>
              </a:rPr>
              <a:t>Apertura y objetivos</a:t>
            </a:r>
            <a:endParaRPr lang="en-US" sz="1200" dirty="0"/>
          </a:p>
        </p:txBody>
      </p:sp>
      <p:sp>
        <p:nvSpPr>
          <p:cNvPr id="8" name="ag1"/>
          <p:cNvSpPr/>
          <p:nvPr/>
        </p:nvSpPr>
        <p:spPr>
          <a:xfrm>
            <a:off x="457200" y="2670048"/>
            <a:ext cx="3931920" cy="566928"/>
          </a:xfrm>
          <a:prstGeom prst="roundRect">
            <a:avLst>
              <a:gd name="adj" fmla="val 12903"/>
            </a:avLst>
          </a:prstGeom>
          <a:solidFill>
            <a:schemeClr val="bg2"/>
          </a:solidFill>
          <a:ln w="12700">
            <a:solidFill>
              <a:schemeClr val="bg2"/>
            </a:solidFill>
            <a:prstDash val="solid"/>
          </a:ln>
        </p:spPr>
      </p:sp>
      <p:sp>
        <p:nvSpPr>
          <p:cNvPr id="9" name="agm1"/>
          <p:cNvSpPr txBox="1"/>
          <p:nvPr/>
        </p:nvSpPr>
        <p:spPr>
          <a:xfrm>
            <a:off x="594360" y="2670048"/>
            <a:ext cx="914400" cy="566928"/>
          </a:xfrm>
          <a:prstGeom prst="rect">
            <a:avLst/>
          </a:prstGeom>
          <a:noFill/>
          <a:ln/>
        </p:spPr>
        <p:txBody>
          <a:bodyPr wrap="square" lIns="0" tIns="0" rIns="0" bIns="0" rtlCol="0" anchor="ctr"/>
          <a:lstStyle/>
          <a:p>
            <a:pPr indent="0" marL="0">
              <a:buNone/>
            </a:pPr>
            <a:r>
              <a:rPr lang="en-US" sz="1300" b="1" dirty="0">
                <a:solidFill>
                  <a:schemeClr val="accent1"/>
                </a:solidFill>
              </a:rPr>
              <a:t>8-25</a:t>
            </a:r>
            <a:endParaRPr lang="en-US" sz="1300" dirty="0"/>
          </a:p>
        </p:txBody>
      </p:sp>
      <p:sp>
        <p:nvSpPr>
          <p:cNvPr id="10" name="agt1"/>
          <p:cNvSpPr txBox="1"/>
          <p:nvPr/>
        </p:nvSpPr>
        <p:spPr>
          <a:xfrm>
            <a:off x="1554480" y="2670048"/>
            <a:ext cx="2743200" cy="566928"/>
          </a:xfrm>
          <a:prstGeom prst="rect">
            <a:avLst/>
          </a:prstGeom>
          <a:noFill/>
          <a:ln/>
        </p:spPr>
        <p:txBody>
          <a:bodyPr wrap="square" lIns="0" tIns="0" rIns="0" bIns="0" rtlCol="0" anchor="ctr"/>
          <a:lstStyle/>
          <a:p>
            <a:pPr indent="0" marL="0">
              <a:buNone/>
            </a:pPr>
            <a:r>
              <a:rPr lang="en-US" sz="1200" dirty="0">
                <a:solidFill>
                  <a:schemeClr val="tx1"/>
                </a:solidFill>
              </a:rPr>
              <a:t>Fundamentos: qué es y qué no es</a:t>
            </a:r>
            <a:endParaRPr lang="en-US" sz="1200" dirty="0"/>
          </a:p>
        </p:txBody>
      </p:sp>
      <p:sp>
        <p:nvSpPr>
          <p:cNvPr id="11" name="ag2"/>
          <p:cNvSpPr/>
          <p:nvPr/>
        </p:nvSpPr>
        <p:spPr>
          <a:xfrm>
            <a:off x="457200" y="3328416"/>
            <a:ext cx="3931920" cy="566928"/>
          </a:xfrm>
          <a:prstGeom prst="roundRect">
            <a:avLst>
              <a:gd name="adj" fmla="val 12903"/>
            </a:avLst>
          </a:prstGeom>
          <a:solidFill>
            <a:schemeClr val="bg2"/>
          </a:solidFill>
          <a:ln w="12700">
            <a:solidFill>
              <a:schemeClr val="bg2"/>
            </a:solidFill>
            <a:prstDash val="solid"/>
          </a:ln>
        </p:spPr>
      </p:sp>
      <p:sp>
        <p:nvSpPr>
          <p:cNvPr id="12" name="agm2"/>
          <p:cNvSpPr txBox="1"/>
          <p:nvPr/>
        </p:nvSpPr>
        <p:spPr>
          <a:xfrm>
            <a:off x="594360" y="3328416"/>
            <a:ext cx="914400" cy="566928"/>
          </a:xfrm>
          <a:prstGeom prst="rect">
            <a:avLst/>
          </a:prstGeom>
          <a:noFill/>
          <a:ln/>
        </p:spPr>
        <p:txBody>
          <a:bodyPr wrap="square" lIns="0" tIns="0" rIns="0" bIns="0" rtlCol="0" anchor="ctr"/>
          <a:lstStyle/>
          <a:p>
            <a:pPr indent="0" marL="0">
              <a:buNone/>
            </a:pPr>
            <a:r>
              <a:rPr lang="en-US" sz="1300" b="1" dirty="0">
                <a:solidFill>
                  <a:schemeClr val="accent1"/>
                </a:solidFill>
              </a:rPr>
              <a:t>25-45</a:t>
            </a:r>
            <a:endParaRPr lang="en-US" sz="1300" dirty="0"/>
          </a:p>
        </p:txBody>
      </p:sp>
      <p:sp>
        <p:nvSpPr>
          <p:cNvPr id="13" name="agt2"/>
          <p:cNvSpPr txBox="1"/>
          <p:nvPr/>
        </p:nvSpPr>
        <p:spPr>
          <a:xfrm>
            <a:off x="1554480" y="3328416"/>
            <a:ext cx="2743200" cy="566928"/>
          </a:xfrm>
          <a:prstGeom prst="rect">
            <a:avLst/>
          </a:prstGeom>
          <a:noFill/>
          <a:ln/>
        </p:spPr>
        <p:txBody>
          <a:bodyPr wrap="square" lIns="0" tIns="0" rIns="0" bIns="0" rtlCol="0" anchor="ctr"/>
          <a:lstStyle/>
          <a:p>
            <a:pPr indent="0" marL="0">
              <a:buNone/>
            </a:pPr>
            <a:r>
              <a:rPr lang="en-US" sz="1200" dirty="0">
                <a:solidFill>
                  <a:schemeClr val="tx1"/>
                </a:solidFill>
              </a:rPr>
              <a:t>Evolución, objeto y fuentes</a:t>
            </a:r>
            <a:endParaRPr lang="en-US" sz="1200" dirty="0"/>
          </a:p>
        </p:txBody>
      </p:sp>
      <p:sp>
        <p:nvSpPr>
          <p:cNvPr id="14" name="ag3"/>
          <p:cNvSpPr/>
          <p:nvPr/>
        </p:nvSpPr>
        <p:spPr>
          <a:xfrm>
            <a:off x="457200" y="3986784"/>
            <a:ext cx="3931920" cy="566928"/>
          </a:xfrm>
          <a:prstGeom prst="roundRect">
            <a:avLst>
              <a:gd name="adj" fmla="val 12903"/>
            </a:avLst>
          </a:prstGeom>
          <a:solidFill>
            <a:schemeClr val="bg2"/>
          </a:solidFill>
          <a:ln w="12700">
            <a:solidFill>
              <a:schemeClr val="bg2"/>
            </a:solidFill>
            <a:prstDash val="solid"/>
          </a:ln>
        </p:spPr>
      </p:sp>
      <p:sp>
        <p:nvSpPr>
          <p:cNvPr id="15" name="agm3"/>
          <p:cNvSpPr txBox="1"/>
          <p:nvPr/>
        </p:nvSpPr>
        <p:spPr>
          <a:xfrm>
            <a:off x="594360" y="3986784"/>
            <a:ext cx="914400" cy="566928"/>
          </a:xfrm>
          <a:prstGeom prst="rect">
            <a:avLst/>
          </a:prstGeom>
          <a:noFill/>
          <a:ln/>
        </p:spPr>
        <p:txBody>
          <a:bodyPr wrap="square" lIns="0" tIns="0" rIns="0" bIns="0" rtlCol="0" anchor="ctr"/>
          <a:lstStyle/>
          <a:p>
            <a:pPr indent="0" marL="0">
              <a:buNone/>
            </a:pPr>
            <a:r>
              <a:rPr lang="en-US" sz="1300" b="1" dirty="0">
                <a:solidFill>
                  <a:schemeClr val="accent1"/>
                </a:solidFill>
              </a:rPr>
              <a:t>45-60</a:t>
            </a:r>
            <a:endParaRPr lang="en-US" sz="1300" dirty="0"/>
          </a:p>
        </p:txBody>
      </p:sp>
      <p:sp>
        <p:nvSpPr>
          <p:cNvPr id="16" name="agt3"/>
          <p:cNvSpPr txBox="1"/>
          <p:nvPr/>
        </p:nvSpPr>
        <p:spPr>
          <a:xfrm>
            <a:off x="1554480" y="3986784"/>
            <a:ext cx="2743200" cy="566928"/>
          </a:xfrm>
          <a:prstGeom prst="rect">
            <a:avLst/>
          </a:prstGeom>
          <a:noFill/>
          <a:ln/>
        </p:spPr>
        <p:txBody>
          <a:bodyPr wrap="square" lIns="0" tIns="0" rIns="0" bIns="0" rtlCol="0" anchor="ctr"/>
          <a:lstStyle/>
          <a:p>
            <a:pPr indent="0" marL="0">
              <a:buNone/>
            </a:pPr>
            <a:r>
              <a:rPr lang="en-US" sz="1200" dirty="0">
                <a:solidFill>
                  <a:schemeClr val="tx1"/>
                </a:solidFill>
              </a:rPr>
              <a:t>Principios y mapa de campos</a:t>
            </a:r>
            <a:endParaRPr lang="en-US" sz="1200" dirty="0"/>
          </a:p>
        </p:txBody>
      </p:sp>
      <p:sp>
        <p:nvSpPr>
          <p:cNvPr id="17" name="ag4"/>
          <p:cNvSpPr/>
          <p:nvPr/>
        </p:nvSpPr>
        <p:spPr>
          <a:xfrm>
            <a:off x="4663440" y="2011680"/>
            <a:ext cx="3931920" cy="566928"/>
          </a:xfrm>
          <a:prstGeom prst="roundRect">
            <a:avLst>
              <a:gd name="adj" fmla="val 12903"/>
            </a:avLst>
          </a:prstGeom>
          <a:solidFill>
            <a:schemeClr val="bg2"/>
          </a:solidFill>
          <a:ln w="12700">
            <a:solidFill>
              <a:schemeClr val="bg2"/>
            </a:solidFill>
            <a:prstDash val="solid"/>
          </a:ln>
        </p:spPr>
      </p:sp>
      <p:sp>
        <p:nvSpPr>
          <p:cNvPr id="18" name="agm4"/>
          <p:cNvSpPr txBox="1"/>
          <p:nvPr/>
        </p:nvSpPr>
        <p:spPr>
          <a:xfrm>
            <a:off x="4800600" y="2011680"/>
            <a:ext cx="914400" cy="566928"/>
          </a:xfrm>
          <a:prstGeom prst="rect">
            <a:avLst/>
          </a:prstGeom>
          <a:noFill/>
          <a:ln/>
        </p:spPr>
        <p:txBody>
          <a:bodyPr wrap="square" lIns="0" tIns="0" rIns="0" bIns="0" rtlCol="0" anchor="ctr"/>
          <a:lstStyle/>
          <a:p>
            <a:pPr indent="0" marL="0">
              <a:buNone/>
            </a:pPr>
            <a:r>
              <a:rPr lang="en-US" sz="1300" b="1" dirty="0">
                <a:solidFill>
                  <a:schemeClr val="accent1"/>
                </a:solidFill>
              </a:rPr>
              <a:t>60-70</a:t>
            </a:r>
            <a:endParaRPr lang="en-US" sz="1300" dirty="0"/>
          </a:p>
        </p:txBody>
      </p:sp>
      <p:sp>
        <p:nvSpPr>
          <p:cNvPr id="19" name="agt4"/>
          <p:cNvSpPr txBox="1"/>
          <p:nvPr/>
        </p:nvSpPr>
        <p:spPr>
          <a:xfrm>
            <a:off x="5760720" y="2011680"/>
            <a:ext cx="2743200" cy="566928"/>
          </a:xfrm>
          <a:prstGeom prst="rect">
            <a:avLst/>
          </a:prstGeom>
          <a:noFill/>
          <a:ln/>
        </p:spPr>
        <p:txBody>
          <a:bodyPr wrap="square" lIns="0" tIns="0" rIns="0" bIns="0" rtlCol="0" anchor="ctr"/>
          <a:lstStyle/>
          <a:p>
            <a:pPr indent="0" marL="0">
              <a:buNone/>
            </a:pPr>
            <a:r>
              <a:rPr lang="en-US" sz="1200" dirty="0">
                <a:solidFill>
                  <a:schemeClr val="tx1"/>
                </a:solidFill>
              </a:rPr>
              <a:t>Pausa</a:t>
            </a:r>
            <a:endParaRPr lang="en-US" sz="1200" dirty="0"/>
          </a:p>
        </p:txBody>
      </p:sp>
      <p:sp>
        <p:nvSpPr>
          <p:cNvPr id="20" name="ag5"/>
          <p:cNvSpPr/>
          <p:nvPr/>
        </p:nvSpPr>
        <p:spPr>
          <a:xfrm>
            <a:off x="4663440" y="2670048"/>
            <a:ext cx="3931920" cy="566928"/>
          </a:xfrm>
          <a:prstGeom prst="roundRect">
            <a:avLst>
              <a:gd name="adj" fmla="val 12903"/>
            </a:avLst>
          </a:prstGeom>
          <a:solidFill>
            <a:schemeClr val="bg2"/>
          </a:solidFill>
          <a:ln w="12700">
            <a:solidFill>
              <a:schemeClr val="bg2"/>
            </a:solidFill>
            <a:prstDash val="solid"/>
          </a:ln>
        </p:spPr>
      </p:sp>
      <p:sp>
        <p:nvSpPr>
          <p:cNvPr id="21" name="agm5"/>
          <p:cNvSpPr txBox="1"/>
          <p:nvPr/>
        </p:nvSpPr>
        <p:spPr>
          <a:xfrm>
            <a:off x="4800600" y="2670048"/>
            <a:ext cx="914400" cy="566928"/>
          </a:xfrm>
          <a:prstGeom prst="rect">
            <a:avLst/>
          </a:prstGeom>
          <a:noFill/>
          <a:ln/>
        </p:spPr>
        <p:txBody>
          <a:bodyPr wrap="square" lIns="0" tIns="0" rIns="0" bIns="0" rtlCol="0" anchor="ctr"/>
          <a:lstStyle/>
          <a:p>
            <a:pPr indent="0" marL="0">
              <a:buNone/>
            </a:pPr>
            <a:r>
              <a:rPr lang="en-US" sz="1300" b="1" dirty="0">
                <a:solidFill>
                  <a:schemeClr val="accent1"/>
                </a:solidFill>
              </a:rPr>
              <a:t>70-82</a:t>
            </a:r>
            <a:endParaRPr lang="en-US" sz="1300" dirty="0"/>
          </a:p>
        </p:txBody>
      </p:sp>
      <p:sp>
        <p:nvSpPr>
          <p:cNvPr id="22" name="agt5"/>
          <p:cNvSpPr txBox="1"/>
          <p:nvPr/>
        </p:nvSpPr>
        <p:spPr>
          <a:xfrm>
            <a:off x="5760720" y="2670048"/>
            <a:ext cx="2743200" cy="566928"/>
          </a:xfrm>
          <a:prstGeom prst="rect">
            <a:avLst/>
          </a:prstGeom>
          <a:noFill/>
          <a:ln/>
        </p:spPr>
        <p:txBody>
          <a:bodyPr wrap="square" lIns="0" tIns="0" rIns="0" bIns="0" rtlCol="0" anchor="ctr"/>
          <a:lstStyle/>
          <a:p>
            <a:pPr indent="0" marL="0">
              <a:buNone/>
            </a:pPr>
            <a:r>
              <a:rPr lang="en-US" sz="1200" dirty="0">
                <a:solidFill>
                  <a:schemeClr val="tx1"/>
                </a:solidFill>
              </a:rPr>
              <a:t>Video y discusión</a:t>
            </a:r>
            <a:endParaRPr lang="en-US" sz="1200" dirty="0"/>
          </a:p>
        </p:txBody>
      </p:sp>
      <p:sp>
        <p:nvSpPr>
          <p:cNvPr id="23" name="ag6"/>
          <p:cNvSpPr/>
          <p:nvPr/>
        </p:nvSpPr>
        <p:spPr>
          <a:xfrm>
            <a:off x="4663440" y="3328416"/>
            <a:ext cx="3931920" cy="566928"/>
          </a:xfrm>
          <a:prstGeom prst="roundRect">
            <a:avLst>
              <a:gd name="adj" fmla="val 12903"/>
            </a:avLst>
          </a:prstGeom>
          <a:solidFill>
            <a:schemeClr val="bg2"/>
          </a:solidFill>
          <a:ln w="12700">
            <a:solidFill>
              <a:schemeClr val="bg2"/>
            </a:solidFill>
            <a:prstDash val="solid"/>
          </a:ln>
        </p:spPr>
      </p:sp>
      <p:sp>
        <p:nvSpPr>
          <p:cNvPr id="24" name="agm6"/>
          <p:cNvSpPr txBox="1"/>
          <p:nvPr/>
        </p:nvSpPr>
        <p:spPr>
          <a:xfrm>
            <a:off x="4800600" y="3328416"/>
            <a:ext cx="914400" cy="566928"/>
          </a:xfrm>
          <a:prstGeom prst="rect">
            <a:avLst/>
          </a:prstGeom>
          <a:noFill/>
          <a:ln/>
        </p:spPr>
        <p:txBody>
          <a:bodyPr wrap="square" lIns="0" tIns="0" rIns="0" bIns="0" rtlCol="0" anchor="ctr"/>
          <a:lstStyle/>
          <a:p>
            <a:pPr indent="0" marL="0">
              <a:buNone/>
            </a:pPr>
            <a:r>
              <a:rPr lang="en-US" sz="1300" b="1" dirty="0">
                <a:solidFill>
                  <a:schemeClr val="accent1"/>
                </a:solidFill>
              </a:rPr>
              <a:t>82-105</a:t>
            </a:r>
            <a:endParaRPr lang="en-US" sz="1300" dirty="0"/>
          </a:p>
        </p:txBody>
      </p:sp>
      <p:sp>
        <p:nvSpPr>
          <p:cNvPr id="25" name="agt6"/>
          <p:cNvSpPr txBox="1"/>
          <p:nvPr/>
        </p:nvSpPr>
        <p:spPr>
          <a:xfrm>
            <a:off x="5760720" y="3328416"/>
            <a:ext cx="2743200" cy="566928"/>
          </a:xfrm>
          <a:prstGeom prst="rect">
            <a:avLst/>
          </a:prstGeom>
          <a:noFill/>
          <a:ln/>
        </p:spPr>
        <p:txBody>
          <a:bodyPr wrap="square" lIns="0" tIns="0" rIns="0" bIns="0" rtlCol="0" anchor="ctr"/>
          <a:lstStyle/>
          <a:p>
            <a:pPr indent="0" marL="0">
              <a:buNone/>
            </a:pPr>
            <a:r>
              <a:rPr lang="en-US" sz="1200" dirty="0">
                <a:solidFill>
                  <a:schemeClr val="tx1"/>
                </a:solidFill>
              </a:rPr>
              <a:t>Taller: sentencia hito</a:t>
            </a:r>
            <a:endParaRPr lang="en-US" sz="1200" dirty="0"/>
          </a:p>
        </p:txBody>
      </p:sp>
      <p:sp>
        <p:nvSpPr>
          <p:cNvPr id="26" name="ag7"/>
          <p:cNvSpPr/>
          <p:nvPr/>
        </p:nvSpPr>
        <p:spPr>
          <a:xfrm>
            <a:off x="4663440" y="3986784"/>
            <a:ext cx="3931920" cy="566928"/>
          </a:xfrm>
          <a:prstGeom prst="roundRect">
            <a:avLst>
              <a:gd name="adj" fmla="val 12903"/>
            </a:avLst>
          </a:prstGeom>
          <a:solidFill>
            <a:schemeClr val="bg2"/>
          </a:solidFill>
          <a:ln w="12700">
            <a:solidFill>
              <a:schemeClr val="bg2"/>
            </a:solidFill>
            <a:prstDash val="solid"/>
          </a:ln>
        </p:spPr>
      </p:sp>
      <p:sp>
        <p:nvSpPr>
          <p:cNvPr id="27" name="agm7"/>
          <p:cNvSpPr txBox="1"/>
          <p:nvPr/>
        </p:nvSpPr>
        <p:spPr>
          <a:xfrm>
            <a:off x="4800600" y="3986784"/>
            <a:ext cx="914400" cy="566928"/>
          </a:xfrm>
          <a:prstGeom prst="rect">
            <a:avLst/>
          </a:prstGeom>
          <a:noFill/>
          <a:ln/>
        </p:spPr>
        <p:txBody>
          <a:bodyPr wrap="square" lIns="0" tIns="0" rIns="0" bIns="0" rtlCol="0" anchor="ctr"/>
          <a:lstStyle/>
          <a:p>
            <a:pPr indent="0" marL="0">
              <a:buNone/>
            </a:pPr>
            <a:r>
              <a:rPr lang="en-US" sz="1300" b="1" dirty="0">
                <a:solidFill>
                  <a:schemeClr val="accent1"/>
                </a:solidFill>
              </a:rPr>
              <a:t>105-120</a:t>
            </a:r>
            <a:endParaRPr lang="en-US" sz="1300" dirty="0"/>
          </a:p>
        </p:txBody>
      </p:sp>
      <p:sp>
        <p:nvSpPr>
          <p:cNvPr id="28" name="agt7"/>
          <p:cNvSpPr txBox="1"/>
          <p:nvPr/>
        </p:nvSpPr>
        <p:spPr>
          <a:xfrm>
            <a:off x="5760720" y="3986784"/>
            <a:ext cx="2743200" cy="566928"/>
          </a:xfrm>
          <a:prstGeom prst="rect">
            <a:avLst/>
          </a:prstGeom>
          <a:noFill/>
          <a:ln/>
        </p:spPr>
        <p:txBody>
          <a:bodyPr wrap="square" lIns="0" tIns="0" rIns="0" bIns="0" rtlCol="0" anchor="ctr"/>
          <a:lstStyle/>
          <a:p>
            <a:pPr indent="0" marL="0">
              <a:buNone/>
            </a:pPr>
            <a:r>
              <a:rPr lang="en-US" sz="1200" dirty="0">
                <a:solidFill>
                  <a:schemeClr val="tx1"/>
                </a:solidFill>
              </a:rPr>
              <a:t>Aplicación, cierre y evaluación</a:t>
            </a:r>
            <a:endParaRPr lang="en-US" sz="1200" dirty="0"/>
          </a:p>
        </p:txBody>
      </p:sp>
      <p:sp>
        <p:nvSpPr>
          <p:cNvPr id="29" name="q0"/>
          <p:cNvSpPr/>
          <p:nvPr/>
        </p:nvSpPr>
        <p:spPr>
          <a:xfrm>
            <a:off x="457200" y="1097280"/>
            <a:ext cx="3931920" cy="548640"/>
          </a:xfrm>
          <a:prstGeom prst="roundRect">
            <a:avLst>
              <a:gd name="adj" fmla="val 13333"/>
            </a:avLst>
          </a:prstGeom>
          <a:solidFill>
            <a:schemeClr val="tx1"/>
          </a:solidFill>
          <a:ln w="12700">
            <a:solidFill>
              <a:schemeClr val="tx1"/>
            </a:solidFill>
            <a:prstDash val="solid"/>
          </a:ln>
        </p:spPr>
      </p:sp>
      <p:sp>
        <p:nvSpPr>
          <p:cNvPr id="30" name="qt0"/>
          <p:cNvSpPr txBox="1"/>
          <p:nvPr/>
        </p:nvSpPr>
        <p:spPr>
          <a:xfrm>
            <a:off x="594360" y="1097280"/>
            <a:ext cx="3657600" cy="548640"/>
          </a:xfrm>
          <a:prstGeom prst="rect">
            <a:avLst/>
          </a:prstGeom>
          <a:noFill/>
          <a:ln/>
        </p:spPr>
        <p:txBody>
          <a:bodyPr wrap="square" lIns="0" tIns="0" rIns="0" bIns="0" rtlCol="0" anchor="ctr"/>
          <a:lstStyle/>
          <a:p>
            <a:pPr indent="0" marL="0">
              <a:buNone/>
            </a:pPr>
            <a:r>
              <a:rPr lang="en-US" sz="1400" b="1" dirty="0">
                <a:solidFill>
                  <a:schemeClr val="bg1"/>
                </a:solidFill>
              </a:rPr>
              <a:t>¿Un juez puede preguntarle a ChatGPT?</a:t>
            </a:r>
            <a:endParaRPr lang="en-US" sz="1400" dirty="0"/>
          </a:p>
        </p:txBody>
      </p:sp>
      <p:sp>
        <p:nvSpPr>
          <p:cNvPr id="31" name="q1"/>
          <p:cNvSpPr/>
          <p:nvPr/>
        </p:nvSpPr>
        <p:spPr>
          <a:xfrm>
            <a:off x="4663440" y="1097280"/>
            <a:ext cx="3931920" cy="548640"/>
          </a:xfrm>
          <a:prstGeom prst="roundRect">
            <a:avLst>
              <a:gd name="adj" fmla="val 13333"/>
            </a:avLst>
          </a:prstGeom>
          <a:solidFill>
            <a:schemeClr val="tx1"/>
          </a:solidFill>
          <a:ln w="12700">
            <a:solidFill>
              <a:schemeClr val="tx1"/>
            </a:solidFill>
            <a:prstDash val="solid"/>
          </a:ln>
        </p:spPr>
      </p:sp>
      <p:sp>
        <p:nvSpPr>
          <p:cNvPr id="32" name="qt1"/>
          <p:cNvSpPr txBox="1"/>
          <p:nvPr/>
        </p:nvSpPr>
        <p:spPr>
          <a:xfrm>
            <a:off x="4800600" y="1097280"/>
            <a:ext cx="3657600" cy="548640"/>
          </a:xfrm>
          <a:prstGeom prst="rect">
            <a:avLst/>
          </a:prstGeom>
          <a:noFill/>
          <a:ln/>
        </p:spPr>
        <p:txBody>
          <a:bodyPr wrap="square" lIns="0" tIns="0" rIns="0" bIns="0" rtlCol="0" anchor="ctr"/>
          <a:lstStyle/>
          <a:p>
            <a:pPr indent="0" marL="0">
              <a:buNone/>
            </a:pPr>
            <a:r>
              <a:rPr lang="en-US" sz="1400" b="1" dirty="0">
                <a:solidFill>
                  <a:schemeClr val="bg1"/>
                </a:solidFill>
              </a:rPr>
              <a:t>¿Un banco puede guardar su deuda para siempre?</a:t>
            </a:r>
            <a:endParaRPr lang="en-US" sz="1400" dirty="0"/>
          </a:p>
        </p:txBody>
      </p:sp>
      <p:sp>
        <p:nvSpPr>
          <p:cNvPr id="33" name="agl"/>
          <p:cNvSpPr txBox="1"/>
          <p:nvPr/>
        </p:nvSpPr>
        <p:spPr>
          <a:xfrm>
            <a:off x="457200" y="1737360"/>
            <a:ext cx="5486400" cy="256032"/>
          </a:xfrm>
          <a:prstGeom prst="rect">
            <a:avLst/>
          </a:prstGeom>
          <a:noFill/>
          <a:ln/>
        </p:spPr>
        <p:txBody>
          <a:bodyPr wrap="square" lIns="0" tIns="0" rIns="0" bIns="0" rtlCol="0" anchor="ctr"/>
          <a:lstStyle/>
          <a:p>
            <a:pPr indent="0" marL="0">
              <a:buNone/>
            </a:pPr>
            <a:r>
              <a:rPr lang="en-US" sz="1100" i="1" dirty="0">
                <a:solidFill>
                  <a:schemeClr val="tx2"/>
                </a:solidFill>
              </a:rPr>
              <a:t>Agenda de la sesión (minutos)</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949440" cy="731520"/>
          </a:xfrm>
          <a:prstGeom prst="rect">
            <a:avLst/>
          </a:prstGeom>
          <a:noFill/>
          <a:ln/>
        </p:spPr>
        <p:txBody>
          <a:bodyPr wrap="square" lIns="0" tIns="0" rIns="0" bIns="0" rtlCol="0" anchor="ctr"/>
          <a:lstStyle/>
          <a:p>
            <a:pPr algn="l" indent="0" marL="0">
              <a:buNone/>
            </a:pPr>
            <a:r>
              <a:rPr lang="en-US" sz="2400" b="1" dirty="0">
                <a:solidFill>
                  <a:schemeClr val="tx1"/>
                </a:solidFill>
              </a:rPr>
              <a:t>Objetivos de aprendizaje</a:t>
            </a:r>
            <a:endParaRPr lang="en-US" sz="2400" dirty="0"/>
          </a:p>
        </p:txBody>
      </p:sp>
      <p:sp>
        <p:nvSpPr>
          <p:cNvPr id="3" name="bloque"/>
          <p:cNvSpPr txBox="1"/>
          <p:nvPr/>
        </p:nvSpPr>
        <p:spPr>
          <a:xfrm>
            <a:off x="7498080" y="411480"/>
            <a:ext cx="1188720" cy="292608"/>
          </a:xfrm>
          <a:prstGeom prst="rect">
            <a:avLst/>
          </a:prstGeom>
          <a:solidFill>
            <a:schemeClr val="accent1"/>
          </a:solidFill>
          <a:ln/>
        </p:spPr>
        <p:txBody>
          <a:bodyPr wrap="square" lIns="0" tIns="0" rIns="0" bIns="0" rtlCol="0" anchor="ctr"/>
          <a:lstStyle/>
          <a:p>
            <a:pPr algn="ctr" indent="0" marL="0">
              <a:buNone/>
            </a:pPr>
            <a:r>
              <a:rPr lang="en-US" sz="900" b="1" dirty="0">
                <a:solidFill>
                  <a:schemeClr val="bg1"/>
                </a:solidFill>
              </a:rPr>
              <a:t>APERTURA 0-8</a:t>
            </a:r>
            <a:endParaRPr lang="en-US" sz="900" dirty="0"/>
          </a:p>
        </p:txBody>
      </p:sp>
      <p:sp>
        <p:nvSpPr>
          <p:cNvPr id="5" name="card Definir"/>
          <p:cNvSpPr/>
          <p:nvPr/>
        </p:nvSpPr>
        <p:spPr>
          <a:xfrm>
            <a:off x="457200" y="1188720"/>
            <a:ext cx="4023360" cy="1097280"/>
          </a:xfrm>
          <a:prstGeom prst="roundRect">
            <a:avLst>
              <a:gd name="adj" fmla="val 6667"/>
            </a:avLst>
          </a:prstGeom>
          <a:solidFill>
            <a:schemeClr val="bg2"/>
          </a:solidFill>
          <a:ln w="12700">
            <a:solidFill>
              <a:schemeClr val="bg2"/>
            </a:solidFill>
            <a:prstDash val="solid"/>
          </a:ln>
        </p:spPr>
      </p:sp>
      <p:sp>
        <p:nvSpPr>
          <p:cNvPr id="6" name="num Definir"/>
          <p:cNvSpPr/>
          <p:nvPr/>
        </p:nvSpPr>
        <p:spPr>
          <a:xfrm>
            <a:off x="594360" y="1325880"/>
            <a:ext cx="384048" cy="384048"/>
          </a:xfrm>
          <a:prstGeom prst="ellipse">
            <a:avLst/>
          </a:prstGeom>
          <a:solidFill>
            <a:schemeClr val="accent1"/>
          </a:solidFill>
          <a:ln w="12700">
            <a:solidFill>
              <a:schemeClr val="accent1"/>
            </a:solidFill>
            <a:prstDash val="solid"/>
          </a:ln>
        </p:spPr>
      </p:sp>
      <p:sp>
        <p:nvSpPr>
          <p:cNvPr id="7" name="numtxt Definir"/>
          <p:cNvSpPr txBox="1"/>
          <p:nvPr/>
        </p:nvSpPr>
        <p:spPr>
          <a:xfrm>
            <a:off x="594360" y="13258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head Definir"/>
          <p:cNvSpPr txBox="1"/>
          <p:nvPr/>
        </p:nvSpPr>
        <p:spPr>
          <a:xfrm>
            <a:off x="1078992" y="1280160"/>
            <a:ext cx="3264408" cy="411480"/>
          </a:xfrm>
          <a:prstGeom prst="rect">
            <a:avLst/>
          </a:prstGeom>
          <a:noFill/>
          <a:ln/>
        </p:spPr>
        <p:txBody>
          <a:bodyPr wrap="square" lIns="0" tIns="0" rIns="0" bIns="0" rtlCol="0" anchor="ctr"/>
          <a:lstStyle/>
          <a:p>
            <a:pPr indent="0" marL="0">
              <a:buNone/>
            </a:pPr>
            <a:r>
              <a:rPr lang="en-US" sz="1300" b="1" dirty="0">
                <a:solidFill>
                  <a:schemeClr val="tx1"/>
                </a:solidFill>
              </a:rPr>
              <a:t>Definir</a:t>
            </a:r>
            <a:endParaRPr lang="en-US" sz="1300" dirty="0"/>
          </a:p>
        </p:txBody>
      </p:sp>
      <p:sp>
        <p:nvSpPr>
          <p:cNvPr id="9" name="body Definir"/>
          <p:cNvSpPr txBox="1"/>
          <p:nvPr/>
        </p:nvSpPr>
        <p:spPr>
          <a:xfrm>
            <a:off x="621792" y="1719072"/>
            <a:ext cx="3694176" cy="475488"/>
          </a:xfrm>
          <a:prstGeom prst="rect">
            <a:avLst/>
          </a:prstGeom>
          <a:noFill/>
          <a:ln/>
        </p:spPr>
        <p:txBody>
          <a:bodyPr wrap="square" lIns="0" tIns="0" rIns="0" bIns="0" rtlCol="0" anchor="t"/>
          <a:lstStyle/>
          <a:p>
            <a:pPr indent="0" marL="0">
              <a:buNone/>
            </a:pPr>
            <a:r>
              <a:rPr lang="en-US" sz="1050" dirty="0">
                <a:solidFill>
                  <a:schemeClr val="tx2"/>
                </a:solidFill>
              </a:rPr>
              <a:t>el Derecho Informático y distinguirlo de la informática jurídica y del Derecho de las telecomunicaciones; explicar el debate sobre su autonomía.</a:t>
            </a:r>
            <a:endParaRPr lang="en-US" sz="1050" dirty="0"/>
          </a:p>
        </p:txBody>
      </p:sp>
      <p:sp>
        <p:nvSpPr>
          <p:cNvPr id="10" name="card Reconstruir"/>
          <p:cNvSpPr/>
          <p:nvPr/>
        </p:nvSpPr>
        <p:spPr>
          <a:xfrm>
            <a:off x="4663440" y="1188720"/>
            <a:ext cx="4023360" cy="1097280"/>
          </a:xfrm>
          <a:prstGeom prst="roundRect">
            <a:avLst>
              <a:gd name="adj" fmla="val 6667"/>
            </a:avLst>
          </a:prstGeom>
          <a:solidFill>
            <a:schemeClr val="bg2"/>
          </a:solidFill>
          <a:ln w="12700">
            <a:solidFill>
              <a:schemeClr val="bg2"/>
            </a:solidFill>
            <a:prstDash val="solid"/>
          </a:ln>
        </p:spPr>
      </p:sp>
      <p:sp>
        <p:nvSpPr>
          <p:cNvPr id="11" name="num Reconstruir"/>
          <p:cNvSpPr/>
          <p:nvPr/>
        </p:nvSpPr>
        <p:spPr>
          <a:xfrm>
            <a:off x="4800600" y="1325880"/>
            <a:ext cx="384048" cy="384048"/>
          </a:xfrm>
          <a:prstGeom prst="ellipse">
            <a:avLst/>
          </a:prstGeom>
          <a:solidFill>
            <a:schemeClr val="accent1"/>
          </a:solidFill>
          <a:ln w="12700">
            <a:solidFill>
              <a:schemeClr val="accent1"/>
            </a:solidFill>
            <a:prstDash val="solid"/>
          </a:ln>
        </p:spPr>
      </p:sp>
      <p:sp>
        <p:nvSpPr>
          <p:cNvPr id="12" name="numtxt Reconstruir"/>
          <p:cNvSpPr txBox="1"/>
          <p:nvPr/>
        </p:nvSpPr>
        <p:spPr>
          <a:xfrm>
            <a:off x="4800600" y="13258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3" name="head Reconstruir"/>
          <p:cNvSpPr txBox="1"/>
          <p:nvPr/>
        </p:nvSpPr>
        <p:spPr>
          <a:xfrm>
            <a:off x="5285232" y="1280160"/>
            <a:ext cx="3264408" cy="411480"/>
          </a:xfrm>
          <a:prstGeom prst="rect">
            <a:avLst/>
          </a:prstGeom>
          <a:noFill/>
          <a:ln/>
        </p:spPr>
        <p:txBody>
          <a:bodyPr wrap="square" lIns="0" tIns="0" rIns="0" bIns="0" rtlCol="0" anchor="ctr"/>
          <a:lstStyle/>
          <a:p>
            <a:pPr indent="0" marL="0">
              <a:buNone/>
            </a:pPr>
            <a:r>
              <a:rPr lang="en-US" sz="1300" b="1" dirty="0">
                <a:solidFill>
                  <a:schemeClr val="tx1"/>
                </a:solidFill>
              </a:rPr>
              <a:t>Reconstruir</a:t>
            </a:r>
            <a:endParaRPr lang="en-US" sz="1300" dirty="0"/>
          </a:p>
        </p:txBody>
      </p:sp>
      <p:sp>
        <p:nvSpPr>
          <p:cNvPr id="14" name="body Reconstruir"/>
          <p:cNvSpPr txBox="1"/>
          <p:nvPr/>
        </p:nvSpPr>
        <p:spPr>
          <a:xfrm>
            <a:off x="4828032" y="1719072"/>
            <a:ext cx="3694176" cy="475488"/>
          </a:xfrm>
          <a:prstGeom prst="rect">
            <a:avLst/>
          </a:prstGeom>
          <a:noFill/>
          <a:ln/>
        </p:spPr>
        <p:txBody>
          <a:bodyPr wrap="square" lIns="0" tIns="0" rIns="0" bIns="0" rtlCol="0" anchor="t"/>
          <a:lstStyle/>
          <a:p>
            <a:pPr indent="0" marL="0">
              <a:buNone/>
            </a:pPr>
            <a:r>
              <a:rPr lang="en-US" sz="1050" dirty="0">
                <a:solidFill>
                  <a:schemeClr val="tx2"/>
                </a:solidFill>
              </a:rPr>
              <a:t>su evolución en cuatro etapas y ubicar los hitos colombianos (art. 15 C.P., Ley 527/1999, Ley 1273/2009, Ley 1581/2012, T-323/2024).</a:t>
            </a:r>
            <a:endParaRPr lang="en-US" sz="1050" dirty="0"/>
          </a:p>
        </p:txBody>
      </p:sp>
      <p:sp>
        <p:nvSpPr>
          <p:cNvPr id="15" name="card Identificar"/>
          <p:cNvSpPr/>
          <p:nvPr/>
        </p:nvSpPr>
        <p:spPr>
          <a:xfrm>
            <a:off x="457200" y="2350008"/>
            <a:ext cx="4023360" cy="1097280"/>
          </a:xfrm>
          <a:prstGeom prst="roundRect">
            <a:avLst>
              <a:gd name="adj" fmla="val 6667"/>
            </a:avLst>
          </a:prstGeom>
          <a:solidFill>
            <a:schemeClr val="bg2"/>
          </a:solidFill>
          <a:ln w="12700">
            <a:solidFill>
              <a:schemeClr val="bg2"/>
            </a:solidFill>
            <a:prstDash val="solid"/>
          </a:ln>
        </p:spPr>
      </p:sp>
      <p:sp>
        <p:nvSpPr>
          <p:cNvPr id="16" name="num Identificar"/>
          <p:cNvSpPr/>
          <p:nvPr/>
        </p:nvSpPr>
        <p:spPr>
          <a:xfrm>
            <a:off x="594360" y="2487168"/>
            <a:ext cx="384048" cy="384048"/>
          </a:xfrm>
          <a:prstGeom prst="ellipse">
            <a:avLst/>
          </a:prstGeom>
          <a:solidFill>
            <a:schemeClr val="accent1"/>
          </a:solidFill>
          <a:ln w="12700">
            <a:solidFill>
              <a:schemeClr val="accent1"/>
            </a:solidFill>
            <a:prstDash val="solid"/>
          </a:ln>
        </p:spPr>
      </p:sp>
      <p:sp>
        <p:nvSpPr>
          <p:cNvPr id="17" name="numtxt Identificar"/>
          <p:cNvSpPr txBox="1"/>
          <p:nvPr/>
        </p:nvSpPr>
        <p:spPr>
          <a:xfrm>
            <a:off x="594360" y="248716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8" name="head Identificar"/>
          <p:cNvSpPr txBox="1"/>
          <p:nvPr/>
        </p:nvSpPr>
        <p:spPr>
          <a:xfrm>
            <a:off x="1078992" y="2441448"/>
            <a:ext cx="3264408" cy="411480"/>
          </a:xfrm>
          <a:prstGeom prst="rect">
            <a:avLst/>
          </a:prstGeom>
          <a:noFill/>
          <a:ln/>
        </p:spPr>
        <p:txBody>
          <a:bodyPr wrap="square" lIns="0" tIns="0" rIns="0" bIns="0" rtlCol="0" anchor="ctr"/>
          <a:lstStyle/>
          <a:p>
            <a:pPr indent="0" marL="0">
              <a:buNone/>
            </a:pPr>
            <a:r>
              <a:rPr lang="en-US" sz="1300" b="1" dirty="0">
                <a:solidFill>
                  <a:schemeClr val="tx1"/>
                </a:solidFill>
              </a:rPr>
              <a:t>Identificar</a:t>
            </a:r>
            <a:endParaRPr lang="en-US" sz="1300" dirty="0"/>
          </a:p>
        </p:txBody>
      </p:sp>
      <p:sp>
        <p:nvSpPr>
          <p:cNvPr id="19" name="body Identificar"/>
          <p:cNvSpPr txBox="1"/>
          <p:nvPr/>
        </p:nvSpPr>
        <p:spPr>
          <a:xfrm>
            <a:off x="621792" y="2880360"/>
            <a:ext cx="3694176" cy="475488"/>
          </a:xfrm>
          <a:prstGeom prst="rect">
            <a:avLst/>
          </a:prstGeom>
          <a:noFill/>
          <a:ln/>
        </p:spPr>
        <p:txBody>
          <a:bodyPr wrap="square" lIns="0" tIns="0" rIns="0" bIns="0" rtlCol="0" anchor="t"/>
          <a:lstStyle/>
          <a:p>
            <a:pPr indent="0" marL="0">
              <a:buNone/>
            </a:pPr>
            <a:r>
              <a:rPr lang="en-US" sz="1050" dirty="0">
                <a:solidFill>
                  <a:schemeClr val="tx2"/>
                </a:solidFill>
              </a:rPr>
              <a:t>objeto, fuentes y principios estructurales (equivalencia funcional, neutralidad tecnológica, autodeterminación informativa, responsabilidad demostrada).</a:t>
            </a:r>
            <a:endParaRPr lang="en-US" sz="1050" dirty="0"/>
          </a:p>
        </p:txBody>
      </p:sp>
      <p:sp>
        <p:nvSpPr>
          <p:cNvPr id="20" name="card Mapear"/>
          <p:cNvSpPr/>
          <p:nvPr/>
        </p:nvSpPr>
        <p:spPr>
          <a:xfrm>
            <a:off x="4663440" y="2350008"/>
            <a:ext cx="4023360" cy="1097280"/>
          </a:xfrm>
          <a:prstGeom prst="roundRect">
            <a:avLst>
              <a:gd name="adj" fmla="val 6667"/>
            </a:avLst>
          </a:prstGeom>
          <a:solidFill>
            <a:schemeClr val="bg2"/>
          </a:solidFill>
          <a:ln w="12700">
            <a:solidFill>
              <a:schemeClr val="bg2"/>
            </a:solidFill>
            <a:prstDash val="solid"/>
          </a:ln>
        </p:spPr>
      </p:sp>
      <p:sp>
        <p:nvSpPr>
          <p:cNvPr id="21" name="num Mapear"/>
          <p:cNvSpPr/>
          <p:nvPr/>
        </p:nvSpPr>
        <p:spPr>
          <a:xfrm>
            <a:off x="4800600" y="2487168"/>
            <a:ext cx="384048" cy="384048"/>
          </a:xfrm>
          <a:prstGeom prst="ellipse">
            <a:avLst/>
          </a:prstGeom>
          <a:solidFill>
            <a:schemeClr val="accent1"/>
          </a:solidFill>
          <a:ln w="12700">
            <a:solidFill>
              <a:schemeClr val="accent1"/>
            </a:solidFill>
            <a:prstDash val="solid"/>
          </a:ln>
        </p:spPr>
      </p:sp>
      <p:sp>
        <p:nvSpPr>
          <p:cNvPr id="22" name="numtxt Mapear"/>
          <p:cNvSpPr txBox="1"/>
          <p:nvPr/>
        </p:nvSpPr>
        <p:spPr>
          <a:xfrm>
            <a:off x="4800600" y="248716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3" name="head Mapear"/>
          <p:cNvSpPr txBox="1"/>
          <p:nvPr/>
        </p:nvSpPr>
        <p:spPr>
          <a:xfrm>
            <a:off x="5285232" y="2441448"/>
            <a:ext cx="3264408" cy="411480"/>
          </a:xfrm>
          <a:prstGeom prst="rect">
            <a:avLst/>
          </a:prstGeom>
          <a:noFill/>
          <a:ln/>
        </p:spPr>
        <p:txBody>
          <a:bodyPr wrap="square" lIns="0" tIns="0" rIns="0" bIns="0" rtlCol="0" anchor="ctr"/>
          <a:lstStyle/>
          <a:p>
            <a:pPr indent="0" marL="0">
              <a:buNone/>
            </a:pPr>
            <a:r>
              <a:rPr lang="en-US" sz="1300" b="1" dirty="0">
                <a:solidFill>
                  <a:schemeClr val="tx1"/>
                </a:solidFill>
              </a:rPr>
              <a:t>Mapear</a:t>
            </a:r>
            <a:endParaRPr lang="en-US" sz="1300" dirty="0"/>
          </a:p>
        </p:txBody>
      </p:sp>
      <p:sp>
        <p:nvSpPr>
          <p:cNvPr id="24" name="body Mapear"/>
          <p:cNvSpPr txBox="1"/>
          <p:nvPr/>
        </p:nvSpPr>
        <p:spPr>
          <a:xfrm>
            <a:off x="4828032" y="2880360"/>
            <a:ext cx="3694176" cy="475488"/>
          </a:xfrm>
          <a:prstGeom prst="rect">
            <a:avLst/>
          </a:prstGeom>
          <a:noFill/>
          <a:ln/>
        </p:spPr>
        <p:txBody>
          <a:bodyPr wrap="square" lIns="0" tIns="0" rIns="0" bIns="0" rtlCol="0" anchor="t"/>
          <a:lstStyle/>
          <a:p>
            <a:pPr indent="0" marL="0">
              <a:buNone/>
            </a:pPr>
            <a:r>
              <a:rPr lang="en-US" sz="1050" dirty="0">
                <a:solidFill>
                  <a:schemeClr val="tx2"/>
                </a:solidFill>
              </a:rPr>
              <a:t>los campos de la disciplina con su norma de cabecera en Colombia.</a:t>
            </a:r>
            <a:endParaRPr lang="en-US" sz="1050" dirty="0"/>
          </a:p>
        </p:txBody>
      </p:sp>
      <p:sp>
        <p:nvSpPr>
          <p:cNvPr id="25" name="card Analizar"/>
          <p:cNvSpPr/>
          <p:nvPr/>
        </p:nvSpPr>
        <p:spPr>
          <a:xfrm>
            <a:off x="457200" y="3511296"/>
            <a:ext cx="4023360" cy="1097280"/>
          </a:xfrm>
          <a:prstGeom prst="roundRect">
            <a:avLst>
              <a:gd name="adj" fmla="val 6667"/>
            </a:avLst>
          </a:prstGeom>
          <a:solidFill>
            <a:schemeClr val="bg2"/>
          </a:solidFill>
          <a:ln w="12700">
            <a:solidFill>
              <a:schemeClr val="bg2"/>
            </a:solidFill>
            <a:prstDash val="solid"/>
          </a:ln>
        </p:spPr>
      </p:sp>
      <p:sp>
        <p:nvSpPr>
          <p:cNvPr id="26" name="num Analizar"/>
          <p:cNvSpPr/>
          <p:nvPr/>
        </p:nvSpPr>
        <p:spPr>
          <a:xfrm>
            <a:off x="594360" y="3648456"/>
            <a:ext cx="384048" cy="384048"/>
          </a:xfrm>
          <a:prstGeom prst="ellipse">
            <a:avLst/>
          </a:prstGeom>
          <a:solidFill>
            <a:schemeClr val="accent1"/>
          </a:solidFill>
          <a:ln w="12700">
            <a:solidFill>
              <a:schemeClr val="accent1"/>
            </a:solidFill>
            <a:prstDash val="solid"/>
          </a:ln>
        </p:spPr>
      </p:sp>
      <p:sp>
        <p:nvSpPr>
          <p:cNvPr id="27" name="numtxt Analizar"/>
          <p:cNvSpPr txBox="1"/>
          <p:nvPr/>
        </p:nvSpPr>
        <p:spPr>
          <a:xfrm>
            <a:off x="594360" y="364845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head Analizar"/>
          <p:cNvSpPr txBox="1"/>
          <p:nvPr/>
        </p:nvSpPr>
        <p:spPr>
          <a:xfrm>
            <a:off x="1078992" y="3602736"/>
            <a:ext cx="3264408" cy="411480"/>
          </a:xfrm>
          <a:prstGeom prst="rect">
            <a:avLst/>
          </a:prstGeom>
          <a:noFill/>
          <a:ln/>
        </p:spPr>
        <p:txBody>
          <a:bodyPr wrap="square" lIns="0" tIns="0" rIns="0" bIns="0" rtlCol="0" anchor="ctr"/>
          <a:lstStyle/>
          <a:p>
            <a:pPr indent="0" marL="0">
              <a:buNone/>
            </a:pPr>
            <a:r>
              <a:rPr lang="en-US" sz="1300" b="1" dirty="0">
                <a:solidFill>
                  <a:schemeClr val="tx1"/>
                </a:solidFill>
              </a:rPr>
              <a:t>Analizar</a:t>
            </a:r>
            <a:endParaRPr lang="en-US" sz="1300" dirty="0"/>
          </a:p>
        </p:txBody>
      </p:sp>
      <p:sp>
        <p:nvSpPr>
          <p:cNvPr id="29" name="body Analizar"/>
          <p:cNvSpPr txBox="1"/>
          <p:nvPr/>
        </p:nvSpPr>
        <p:spPr>
          <a:xfrm>
            <a:off x="621792" y="4041648"/>
            <a:ext cx="3694176" cy="475488"/>
          </a:xfrm>
          <a:prstGeom prst="rect">
            <a:avLst/>
          </a:prstGeom>
          <a:noFill/>
          <a:ln/>
        </p:spPr>
        <p:txBody>
          <a:bodyPr wrap="square" lIns="0" tIns="0" rIns="0" bIns="0" rtlCol="0" anchor="t"/>
          <a:lstStyle/>
          <a:p>
            <a:pPr indent="0" marL="0">
              <a:buNone/>
            </a:pPr>
            <a:r>
              <a:rPr lang="en-US" sz="1050" dirty="0">
                <a:solidFill>
                  <a:schemeClr val="tx2"/>
                </a:solidFill>
              </a:rPr>
              <a:t>la Sentencia T-323 de 2024 con el método hechos, problema jurídico, decisión, ratio decidendi, regla y precedente.</a:t>
            </a:r>
            <a:endParaRPr lang="en-US" sz="1050" dirty="0"/>
          </a:p>
        </p:txBody>
      </p:sp>
      <p:sp>
        <p:nvSpPr>
          <p:cNvPr id="30" name="card Aplicar"/>
          <p:cNvSpPr/>
          <p:nvPr/>
        </p:nvSpPr>
        <p:spPr>
          <a:xfrm>
            <a:off x="4663440" y="3511296"/>
            <a:ext cx="4023360" cy="1097280"/>
          </a:xfrm>
          <a:prstGeom prst="roundRect">
            <a:avLst>
              <a:gd name="adj" fmla="val 6667"/>
            </a:avLst>
          </a:prstGeom>
          <a:solidFill>
            <a:schemeClr val="bg2"/>
          </a:solidFill>
          <a:ln w="12700">
            <a:solidFill>
              <a:schemeClr val="bg2"/>
            </a:solidFill>
            <a:prstDash val="solid"/>
          </a:ln>
        </p:spPr>
      </p:sp>
      <p:sp>
        <p:nvSpPr>
          <p:cNvPr id="31" name="num Aplicar"/>
          <p:cNvSpPr/>
          <p:nvPr/>
        </p:nvSpPr>
        <p:spPr>
          <a:xfrm>
            <a:off x="4800600" y="3648456"/>
            <a:ext cx="384048" cy="384048"/>
          </a:xfrm>
          <a:prstGeom prst="ellipse">
            <a:avLst/>
          </a:prstGeom>
          <a:solidFill>
            <a:schemeClr val="accent1"/>
          </a:solidFill>
          <a:ln w="12700">
            <a:solidFill>
              <a:schemeClr val="accent1"/>
            </a:solidFill>
            <a:prstDash val="solid"/>
          </a:ln>
        </p:spPr>
      </p:sp>
      <p:sp>
        <p:nvSpPr>
          <p:cNvPr id="32" name="numtxt Aplicar"/>
          <p:cNvSpPr txBox="1"/>
          <p:nvPr/>
        </p:nvSpPr>
        <p:spPr>
          <a:xfrm>
            <a:off x="4800600" y="364845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3" name="head Aplicar"/>
          <p:cNvSpPr txBox="1"/>
          <p:nvPr/>
        </p:nvSpPr>
        <p:spPr>
          <a:xfrm>
            <a:off x="5285232" y="3602736"/>
            <a:ext cx="3264408" cy="411480"/>
          </a:xfrm>
          <a:prstGeom prst="rect">
            <a:avLst/>
          </a:prstGeom>
          <a:noFill/>
          <a:ln/>
        </p:spPr>
        <p:txBody>
          <a:bodyPr wrap="square" lIns="0" tIns="0" rIns="0" bIns="0" rtlCol="0" anchor="ctr"/>
          <a:lstStyle/>
          <a:p>
            <a:pPr indent="0" marL="0">
              <a:buNone/>
            </a:pPr>
            <a:r>
              <a:rPr lang="en-US" sz="1300" b="1" dirty="0">
                <a:solidFill>
                  <a:schemeClr val="tx1"/>
                </a:solidFill>
              </a:rPr>
              <a:t>Aplicar</a:t>
            </a:r>
            <a:endParaRPr lang="en-US" sz="1300" dirty="0"/>
          </a:p>
        </p:txBody>
      </p:sp>
      <p:sp>
        <p:nvSpPr>
          <p:cNvPr id="34" name="body Aplicar"/>
          <p:cNvSpPr txBox="1"/>
          <p:nvPr/>
        </p:nvSpPr>
        <p:spPr>
          <a:xfrm>
            <a:off x="4828032" y="4041648"/>
            <a:ext cx="3694176" cy="475488"/>
          </a:xfrm>
          <a:prstGeom prst="rect">
            <a:avLst/>
          </a:prstGeom>
          <a:noFill/>
          <a:ln/>
        </p:spPr>
        <p:txBody>
          <a:bodyPr wrap="square" lIns="0" tIns="0" rIns="0" bIns="0" rtlCol="0" anchor="t"/>
          <a:lstStyle/>
          <a:p>
            <a:pPr indent="0" marL="0">
              <a:buNone/>
            </a:pPr>
            <a:r>
              <a:rPr lang="en-US" sz="1050" dirty="0">
                <a:solidFill>
                  <a:schemeClr val="tx2"/>
                </a:solidFill>
              </a:rPr>
              <a:t>las reglas estudiadas a minicasos y formular una regla propia de uso responsable de herramientas digitales en la práctica jurídica.</a:t>
            </a:r>
            <a:endParaRPr lang="en-US" sz="10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1097280"/>
          </a:xfrm>
          <a:prstGeom prst="rect">
            <a:avLst/>
          </a:prstGeom>
          <a:noFill/>
          <a:ln/>
        </p:spPr>
        <p:txBody>
          <a:bodyPr wrap="square" lIns="0" tIns="0" rIns="0" bIns="0" rtlCol="0" anchor="b"/>
          <a:lstStyle/>
          <a:p>
            <a:pPr algn="l" indent="0" marL="0">
              <a:buNone/>
            </a:pPr>
            <a:r>
              <a:rPr lang="en-US" sz="3800" b="1" dirty="0">
                <a:solidFill>
                  <a:schemeClr val="bg1"/>
                </a:solidFill>
              </a:rPr>
              <a:t>1. Fundamentos</a:t>
            </a:r>
            <a:endParaRPr lang="en-US" sz="3800" dirty="0"/>
          </a:p>
        </p:txBody>
      </p:sp>
      <p:sp>
        <p:nvSpPr>
          <p:cNvPr id="3" name="Text 0"/>
          <p:cNvSpPr/>
          <p:nvPr>
            <p:ph idx="101" type="body" hasCustomPrompt="1"/>
          </p:nvPr>
        </p:nvSpPr>
        <p:spPr>
          <a:xfrm>
            <a:off x="548640" y="3017520"/>
            <a:ext cx="8046720" cy="822960"/>
          </a:xfrm>
          <a:prstGeom prst="rect">
            <a:avLst/>
          </a:prstGeom>
          <a:noFill/>
          <a:ln/>
        </p:spPr>
        <p:txBody>
          <a:bodyPr wrap="square" lIns="0" tIns="0" rIns="0" bIns="0" rtlCol="0" anchor="t"/>
          <a:lstStyle/>
          <a:p>
            <a:pPr algn="l" indent="0" marL="0">
              <a:buNone/>
            </a:pPr>
            <a:r>
              <a:rPr lang="en-US" sz="1800" dirty="0">
                <a:solidFill>
                  <a:schemeClr val="accent6"/>
                </a:solidFill>
              </a:rPr>
              <a:t>¿Qué es el Derecho Informático y qué no es?</a:t>
            </a:r>
            <a:endParaRPr lang="en-US" sz="1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949440" cy="731520"/>
          </a:xfrm>
          <a:prstGeom prst="rect">
            <a:avLst/>
          </a:prstGeom>
          <a:noFill/>
          <a:ln/>
        </p:spPr>
        <p:txBody>
          <a:bodyPr wrap="square" lIns="0" tIns="0" rIns="0" bIns="0" rtlCol="0" anchor="ctr"/>
          <a:lstStyle/>
          <a:p>
            <a:pPr algn="l" indent="0" marL="0">
              <a:buNone/>
            </a:pPr>
            <a:r>
              <a:rPr lang="en-US" sz="2400" b="1" dirty="0">
                <a:solidFill>
                  <a:schemeClr val="tx1"/>
                </a:solidFill>
              </a:rPr>
              <a:t>Qué es el Derecho Informático</a:t>
            </a:r>
            <a:endParaRPr lang="en-US" sz="2400" dirty="0"/>
          </a:p>
        </p:txBody>
      </p:sp>
      <p:sp>
        <p:nvSpPr>
          <p:cNvPr id="3" name="bloque"/>
          <p:cNvSpPr txBox="1"/>
          <p:nvPr/>
        </p:nvSpPr>
        <p:spPr>
          <a:xfrm>
            <a:off x="7498080" y="411480"/>
            <a:ext cx="1188720" cy="292608"/>
          </a:xfrm>
          <a:prstGeom prst="rect">
            <a:avLst/>
          </a:prstGeom>
          <a:solidFill>
            <a:schemeClr val="accent1"/>
          </a:solidFill>
          <a:ln/>
        </p:spPr>
        <p:txBody>
          <a:bodyPr wrap="square" lIns="0" tIns="0" rIns="0" bIns="0" rtlCol="0" anchor="ctr"/>
          <a:lstStyle/>
          <a:p>
            <a:pPr algn="ctr" indent="0" marL="0">
              <a:buNone/>
            </a:pPr>
            <a:r>
              <a:rPr lang="en-US" sz="900" b="1" dirty="0">
                <a:solidFill>
                  <a:schemeClr val="bg1"/>
                </a:solidFill>
              </a:rPr>
              <a:t>FUNDAMENTOS 8-25</a:t>
            </a:r>
            <a:endParaRPr lang="en-US" sz="900" dirty="0"/>
          </a:p>
        </p:txBody>
      </p:sp>
      <p:sp>
        <p:nvSpPr>
          <p:cNvPr id="5" name="def"/>
          <p:cNvSpPr/>
          <p:nvPr/>
        </p:nvSpPr>
        <p:spPr>
          <a:xfrm>
            <a:off x="457200" y="1188720"/>
            <a:ext cx="8229600" cy="1051560"/>
          </a:xfrm>
          <a:prstGeom prst="roundRect">
            <a:avLst>
              <a:gd name="adj" fmla="val 6957"/>
            </a:avLst>
          </a:prstGeom>
          <a:solidFill>
            <a:schemeClr val="tx1"/>
          </a:solidFill>
          <a:ln w="12700">
            <a:solidFill>
              <a:schemeClr val="tx1"/>
            </a:solidFill>
            <a:prstDash val="solid"/>
          </a:ln>
        </p:spPr>
      </p:sp>
      <p:sp>
        <p:nvSpPr>
          <p:cNvPr id="6" name="deftxt"/>
          <p:cNvSpPr txBox="1"/>
          <p:nvPr/>
        </p:nvSpPr>
        <p:spPr>
          <a:xfrm>
            <a:off x="685800" y="1188720"/>
            <a:ext cx="7772400" cy="1051560"/>
          </a:xfrm>
          <a:prstGeom prst="rect">
            <a:avLst/>
          </a:prstGeom>
          <a:noFill/>
          <a:ln/>
        </p:spPr>
        <p:txBody>
          <a:bodyPr wrap="square" lIns="0" tIns="0" rIns="0" bIns="0" rtlCol="0" anchor="ctr"/>
          <a:lstStyle/>
          <a:p>
            <a:pPr indent="0" marL="0">
              <a:buNone/>
            </a:pPr>
            <a:r>
              <a:rPr lang="en-US" sz="1500" dirty="0">
                <a:solidFill>
                  <a:schemeClr val="bg1"/>
                </a:solidFill>
              </a:rPr>
              <a:t>Conjunto de principios, normas e instituciones que regulan las relaciones jurídicas en las que </a:t>
            </a:r>
            <a:pPr indent="0" marL="0">
              <a:buNone/>
            </a:pPr>
            <a:r>
              <a:rPr lang="en-US" sz="1500" b="1" dirty="0">
                <a:solidFill>
                  <a:schemeClr val="accent2"/>
                </a:solidFill>
              </a:rPr>
              <a:t>la información digital, los sistemas informáticos y las redes</a:t>
            </a:r>
            <a:pPr indent="0" marL="0">
              <a:buNone/>
            </a:pPr>
            <a:r>
              <a:rPr lang="en-US" sz="1500" dirty="0">
                <a:solidFill>
                  <a:schemeClr val="bg1"/>
                </a:solidFill>
              </a:rPr>
              <a:t> son el objeto o el instrumento de la conducta.</a:t>
            </a:r>
            <a:endParaRPr lang="en-US" sz="1500" dirty="0"/>
          </a:p>
        </p:txBody>
      </p:sp>
      <p:sp>
        <p:nvSpPr>
          <p:cNvPr id="7" name="card Derecho Informático"/>
          <p:cNvSpPr/>
          <p:nvPr/>
        </p:nvSpPr>
        <p:spPr>
          <a:xfrm>
            <a:off x="457200" y="2468880"/>
            <a:ext cx="2651760" cy="2103120"/>
          </a:xfrm>
          <a:prstGeom prst="roundRect">
            <a:avLst>
              <a:gd name="adj" fmla="val 3478"/>
            </a:avLst>
          </a:prstGeom>
          <a:solidFill>
            <a:schemeClr val="bg2"/>
          </a:solidFill>
          <a:ln w="12700">
            <a:solidFill>
              <a:schemeClr val="bg2"/>
            </a:solidFill>
            <a:prstDash val="solid"/>
          </a:ln>
        </p:spPr>
      </p:sp>
      <p:sp>
        <p:nvSpPr>
          <p:cNvPr id="8" name="head Derecho Informático"/>
          <p:cNvSpPr txBox="1"/>
          <p:nvPr/>
        </p:nvSpPr>
        <p:spPr>
          <a:xfrm>
            <a:off x="621792" y="2560320"/>
            <a:ext cx="2350008" cy="411480"/>
          </a:xfrm>
          <a:prstGeom prst="rect">
            <a:avLst/>
          </a:prstGeom>
          <a:noFill/>
          <a:ln/>
        </p:spPr>
        <p:txBody>
          <a:bodyPr wrap="square" lIns="0" tIns="0" rIns="0" bIns="0" rtlCol="0" anchor="ctr"/>
          <a:lstStyle/>
          <a:p>
            <a:pPr indent="0" marL="0">
              <a:buNone/>
            </a:pPr>
            <a:r>
              <a:rPr lang="en-US" sz="1300" b="1" dirty="0">
                <a:solidFill>
                  <a:schemeClr val="accent1"/>
                </a:solidFill>
              </a:rPr>
              <a:t>Derecho Informático</a:t>
            </a:r>
            <a:endParaRPr lang="en-US" sz="1300" dirty="0"/>
          </a:p>
        </p:txBody>
      </p:sp>
      <p:sp>
        <p:nvSpPr>
          <p:cNvPr id="9" name="body Derecho Informático"/>
          <p:cNvSpPr txBox="1"/>
          <p:nvPr/>
        </p:nvSpPr>
        <p:spPr>
          <a:xfrm>
            <a:off x="621792" y="2999232"/>
            <a:ext cx="2322576" cy="1481328"/>
          </a:xfrm>
          <a:prstGeom prst="rect">
            <a:avLst/>
          </a:prstGeom>
          <a:noFill/>
          <a:ln/>
        </p:spPr>
        <p:txBody>
          <a:bodyPr wrap="square" lIns="0" tIns="0" rIns="0" bIns="0" rtlCol="0" anchor="t"/>
          <a:lstStyle/>
          <a:p>
            <a:pPr indent="0" marL="0">
              <a:buNone/>
            </a:pPr>
            <a:r>
              <a:rPr lang="en-US" sz="1100" dirty="0">
                <a:solidFill>
                  <a:schemeClr val="tx2"/>
                </a:solidFill>
              </a:rPr>
              <a:t>La informática como objeto de regulación</a:t>
            </a:r>
            <a:endParaRPr lang="en-US" sz="1100" dirty="0"/>
          </a:p>
          <a:p>
            <a:pPr indent="0" marL="0">
              <a:buNone/>
            </a:pPr>
            <a:endParaRPr lang="en-US" sz="1100" dirty="0"/>
          </a:p>
          <a:p>
            <a:pPr indent="0" marL="0">
              <a:buNone/>
            </a:pPr>
            <a:r>
              <a:rPr lang="en-US" sz="1100" dirty="0">
                <a:solidFill>
                  <a:schemeClr val="tx2"/>
                </a:solidFill>
              </a:rPr>
              <a:t>Ejemplo: Ley 1581 de 2012 (datos personales)</a:t>
            </a:r>
            <a:endParaRPr lang="en-US" sz="1100" dirty="0"/>
          </a:p>
        </p:txBody>
      </p:sp>
      <p:sp>
        <p:nvSpPr>
          <p:cNvPr id="10" name="card Informática jurídica"/>
          <p:cNvSpPr/>
          <p:nvPr/>
        </p:nvSpPr>
        <p:spPr>
          <a:xfrm>
            <a:off x="3246120" y="2468880"/>
            <a:ext cx="2651760" cy="2103120"/>
          </a:xfrm>
          <a:prstGeom prst="roundRect">
            <a:avLst>
              <a:gd name="adj" fmla="val 3478"/>
            </a:avLst>
          </a:prstGeom>
          <a:solidFill>
            <a:schemeClr val="bg2"/>
          </a:solidFill>
          <a:ln w="12700">
            <a:solidFill>
              <a:schemeClr val="bg2"/>
            </a:solidFill>
            <a:prstDash val="solid"/>
          </a:ln>
        </p:spPr>
      </p:sp>
      <p:sp>
        <p:nvSpPr>
          <p:cNvPr id="11" name="head Informática jurídica"/>
          <p:cNvSpPr txBox="1"/>
          <p:nvPr/>
        </p:nvSpPr>
        <p:spPr>
          <a:xfrm>
            <a:off x="3410712" y="2560320"/>
            <a:ext cx="2350008" cy="411480"/>
          </a:xfrm>
          <a:prstGeom prst="rect">
            <a:avLst/>
          </a:prstGeom>
          <a:noFill/>
          <a:ln/>
        </p:spPr>
        <p:txBody>
          <a:bodyPr wrap="square" lIns="0" tIns="0" rIns="0" bIns="0" rtlCol="0" anchor="ctr"/>
          <a:lstStyle/>
          <a:p>
            <a:pPr indent="0" marL="0">
              <a:buNone/>
            </a:pPr>
            <a:r>
              <a:rPr lang="en-US" sz="1300" b="1" dirty="0">
                <a:solidFill>
                  <a:schemeClr val="tx1"/>
                </a:solidFill>
              </a:rPr>
              <a:t>Informática jurídica</a:t>
            </a:r>
            <a:endParaRPr lang="en-US" sz="1300" dirty="0"/>
          </a:p>
        </p:txBody>
      </p:sp>
      <p:sp>
        <p:nvSpPr>
          <p:cNvPr id="12" name="body Informática jurídica"/>
          <p:cNvSpPr txBox="1"/>
          <p:nvPr/>
        </p:nvSpPr>
        <p:spPr>
          <a:xfrm>
            <a:off x="3410712" y="2999232"/>
            <a:ext cx="2322576" cy="1481328"/>
          </a:xfrm>
          <a:prstGeom prst="rect">
            <a:avLst/>
          </a:prstGeom>
          <a:noFill/>
          <a:ln/>
        </p:spPr>
        <p:txBody>
          <a:bodyPr wrap="square" lIns="0" tIns="0" rIns="0" bIns="0" rtlCol="0" anchor="t"/>
          <a:lstStyle/>
          <a:p>
            <a:pPr indent="0" marL="0">
              <a:buNone/>
            </a:pPr>
            <a:r>
              <a:rPr lang="en-US" sz="1100" dirty="0">
                <a:solidFill>
                  <a:schemeClr val="tx2"/>
                </a:solidFill>
              </a:rPr>
              <a:t>La informática como herramienta del jurista</a:t>
            </a:r>
            <a:endParaRPr lang="en-US" sz="1100" dirty="0"/>
          </a:p>
          <a:p>
            <a:pPr indent="0" marL="0">
              <a:buNone/>
            </a:pPr>
            <a:endParaRPr lang="en-US" sz="1100" dirty="0"/>
          </a:p>
          <a:p>
            <a:pPr indent="0" marL="0">
              <a:buNone/>
            </a:pPr>
            <a:r>
              <a:rPr lang="en-US" sz="1100" dirty="0">
                <a:solidFill>
                  <a:schemeClr val="tx2"/>
                </a:solidFill>
              </a:rPr>
              <a:t>Ejemplo: Gestor de expedientes; buscador de jurisprudencia</a:t>
            </a:r>
            <a:endParaRPr lang="en-US" sz="1100" dirty="0"/>
          </a:p>
        </p:txBody>
      </p:sp>
      <p:sp>
        <p:nvSpPr>
          <p:cNvPr id="13" name="card Derecho de las telecomunicaciones"/>
          <p:cNvSpPr/>
          <p:nvPr/>
        </p:nvSpPr>
        <p:spPr>
          <a:xfrm>
            <a:off x="6035040" y="2468880"/>
            <a:ext cx="2651760" cy="2103120"/>
          </a:xfrm>
          <a:prstGeom prst="roundRect">
            <a:avLst>
              <a:gd name="adj" fmla="val 3478"/>
            </a:avLst>
          </a:prstGeom>
          <a:solidFill>
            <a:schemeClr val="bg2"/>
          </a:solidFill>
          <a:ln w="12700">
            <a:solidFill>
              <a:schemeClr val="bg2"/>
            </a:solidFill>
            <a:prstDash val="solid"/>
          </a:ln>
        </p:spPr>
      </p:sp>
      <p:sp>
        <p:nvSpPr>
          <p:cNvPr id="14" name="head Derecho de las telecomunicaciones"/>
          <p:cNvSpPr txBox="1"/>
          <p:nvPr/>
        </p:nvSpPr>
        <p:spPr>
          <a:xfrm>
            <a:off x="6199632" y="2560320"/>
            <a:ext cx="2350008" cy="411480"/>
          </a:xfrm>
          <a:prstGeom prst="rect">
            <a:avLst/>
          </a:prstGeom>
          <a:noFill/>
          <a:ln/>
        </p:spPr>
        <p:txBody>
          <a:bodyPr wrap="square" lIns="0" tIns="0" rIns="0" bIns="0" rtlCol="0" anchor="ctr"/>
          <a:lstStyle/>
          <a:p>
            <a:pPr indent="0" marL="0">
              <a:buNone/>
            </a:pPr>
            <a:r>
              <a:rPr lang="en-US" sz="1300" b="1" dirty="0">
                <a:solidFill>
                  <a:schemeClr val="tx1"/>
                </a:solidFill>
              </a:rPr>
              <a:t>Derecho de las telecomunicaciones</a:t>
            </a:r>
            <a:endParaRPr lang="en-US" sz="1300" dirty="0"/>
          </a:p>
        </p:txBody>
      </p:sp>
      <p:sp>
        <p:nvSpPr>
          <p:cNvPr id="15" name="body Derecho de las telecomunicaciones"/>
          <p:cNvSpPr txBox="1"/>
          <p:nvPr/>
        </p:nvSpPr>
        <p:spPr>
          <a:xfrm>
            <a:off x="6199632" y="2999232"/>
            <a:ext cx="2322576" cy="1481328"/>
          </a:xfrm>
          <a:prstGeom prst="rect">
            <a:avLst/>
          </a:prstGeom>
          <a:noFill/>
          <a:ln/>
        </p:spPr>
        <p:txBody>
          <a:bodyPr wrap="square" lIns="0" tIns="0" rIns="0" bIns="0" rtlCol="0" anchor="t"/>
          <a:lstStyle/>
          <a:p>
            <a:pPr indent="0" marL="0">
              <a:buNone/>
            </a:pPr>
            <a:r>
              <a:rPr lang="en-US" sz="1100" dirty="0">
                <a:solidFill>
                  <a:schemeClr val="tx2"/>
                </a:solidFill>
              </a:rPr>
              <a:t>La infraestructura y los servicios de transmisión</a:t>
            </a:r>
            <a:endParaRPr lang="en-US" sz="1100" dirty="0"/>
          </a:p>
          <a:p>
            <a:pPr indent="0" marL="0">
              <a:buNone/>
            </a:pPr>
            <a:endParaRPr lang="en-US" sz="1100" dirty="0"/>
          </a:p>
          <a:p>
            <a:pPr indent="0" marL="0">
              <a:buNone/>
            </a:pPr>
            <a:r>
              <a:rPr lang="en-US" sz="1100" dirty="0">
                <a:solidFill>
                  <a:schemeClr val="tx2"/>
                </a:solidFill>
              </a:rPr>
              <a:t>Ejemplo: Ley 1341 de 2009 y la CRC</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949440" cy="731520"/>
          </a:xfrm>
          <a:prstGeom prst="rect">
            <a:avLst/>
          </a:prstGeom>
          <a:noFill/>
          <a:ln/>
        </p:spPr>
        <p:txBody>
          <a:bodyPr wrap="square" lIns="0" tIns="0" rIns="0" bIns="0" rtlCol="0" anchor="ctr"/>
          <a:lstStyle/>
          <a:p>
            <a:pPr algn="l" indent="0" marL="0">
              <a:buNone/>
            </a:pPr>
            <a:r>
              <a:rPr lang="en-US" sz="2400" b="1" dirty="0">
                <a:solidFill>
                  <a:schemeClr val="tx1"/>
                </a:solidFill>
              </a:rPr>
              <a:t>¿Rama autónoma o método transversal?</a:t>
            </a:r>
            <a:endParaRPr lang="en-US" sz="2400" dirty="0"/>
          </a:p>
        </p:txBody>
      </p:sp>
      <p:sp>
        <p:nvSpPr>
          <p:cNvPr id="3" name="bloque"/>
          <p:cNvSpPr txBox="1"/>
          <p:nvPr/>
        </p:nvSpPr>
        <p:spPr>
          <a:xfrm>
            <a:off x="7498080" y="411480"/>
            <a:ext cx="1188720" cy="292608"/>
          </a:xfrm>
          <a:prstGeom prst="rect">
            <a:avLst/>
          </a:prstGeom>
          <a:solidFill>
            <a:schemeClr val="accent1"/>
          </a:solidFill>
          <a:ln/>
        </p:spPr>
        <p:txBody>
          <a:bodyPr wrap="square" lIns="0" tIns="0" rIns="0" bIns="0" rtlCol="0" anchor="ctr"/>
          <a:lstStyle/>
          <a:p>
            <a:pPr algn="ctr" indent="0" marL="0">
              <a:buNone/>
            </a:pPr>
            <a:r>
              <a:rPr lang="en-US" sz="900" b="1" dirty="0">
                <a:solidFill>
                  <a:schemeClr val="bg1"/>
                </a:solidFill>
              </a:rPr>
              <a:t>FUNDAMENTOS 8-25</a:t>
            </a:r>
            <a:endParaRPr lang="en-US" sz="900" dirty="0"/>
          </a:p>
        </p:txBody>
      </p:sp>
      <p:sp>
        <p:nvSpPr>
          <p:cNvPr id="5" name="card Normativo"/>
          <p:cNvSpPr/>
          <p:nvPr/>
        </p:nvSpPr>
        <p:spPr>
          <a:xfrm>
            <a:off x="457200" y="1188720"/>
            <a:ext cx="4023360" cy="1280160"/>
          </a:xfrm>
          <a:prstGeom prst="roundRect">
            <a:avLst>
              <a:gd name="adj" fmla="val 5714"/>
            </a:avLst>
          </a:prstGeom>
          <a:solidFill>
            <a:schemeClr val="bg2"/>
          </a:solidFill>
          <a:ln w="12700">
            <a:solidFill>
              <a:schemeClr val="bg2"/>
            </a:solidFill>
            <a:prstDash val="solid"/>
          </a:ln>
        </p:spPr>
      </p:sp>
      <p:sp>
        <p:nvSpPr>
          <p:cNvPr id="6" name="num Normativo"/>
          <p:cNvSpPr/>
          <p:nvPr/>
        </p:nvSpPr>
        <p:spPr>
          <a:xfrm>
            <a:off x="594360" y="1325880"/>
            <a:ext cx="384048" cy="384048"/>
          </a:xfrm>
          <a:prstGeom prst="ellipse">
            <a:avLst/>
          </a:prstGeom>
          <a:solidFill>
            <a:schemeClr val="accent4"/>
          </a:solidFill>
          <a:ln w="12700">
            <a:solidFill>
              <a:schemeClr val="accent4"/>
            </a:solidFill>
            <a:prstDash val="solid"/>
          </a:ln>
        </p:spPr>
      </p:sp>
      <p:sp>
        <p:nvSpPr>
          <p:cNvPr id="7" name="numtxt Normativo"/>
          <p:cNvSpPr txBox="1"/>
          <p:nvPr/>
        </p:nvSpPr>
        <p:spPr>
          <a:xfrm>
            <a:off x="594360" y="13258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head Normativo"/>
          <p:cNvSpPr txBox="1"/>
          <p:nvPr/>
        </p:nvSpPr>
        <p:spPr>
          <a:xfrm>
            <a:off x="1078992" y="1280160"/>
            <a:ext cx="3264408" cy="411480"/>
          </a:xfrm>
          <a:prstGeom prst="rect">
            <a:avLst/>
          </a:prstGeom>
          <a:noFill/>
          <a:ln/>
        </p:spPr>
        <p:txBody>
          <a:bodyPr wrap="square" lIns="0" tIns="0" rIns="0" bIns="0" rtlCol="0" anchor="ctr"/>
          <a:lstStyle/>
          <a:p>
            <a:pPr indent="0" marL="0">
              <a:buNone/>
            </a:pPr>
            <a:r>
              <a:rPr lang="en-US" sz="1300" b="1" dirty="0">
                <a:solidFill>
                  <a:schemeClr val="tx1"/>
                </a:solidFill>
              </a:rPr>
              <a:t>Normativo</a:t>
            </a:r>
            <a:endParaRPr lang="en-US" sz="1300" dirty="0"/>
          </a:p>
        </p:txBody>
      </p:sp>
      <p:sp>
        <p:nvSpPr>
          <p:cNvPr id="9" name="body Normativo"/>
          <p:cNvSpPr txBox="1"/>
          <p:nvPr/>
        </p:nvSpPr>
        <p:spPr>
          <a:xfrm>
            <a:off x="621792" y="1719072"/>
            <a:ext cx="3694176" cy="658368"/>
          </a:xfrm>
          <a:prstGeom prst="rect">
            <a:avLst/>
          </a:prstGeom>
          <a:noFill/>
          <a:ln/>
        </p:spPr>
        <p:txBody>
          <a:bodyPr wrap="square" lIns="0" tIns="0" rIns="0" bIns="0" rtlCol="0" anchor="t"/>
          <a:lstStyle/>
          <a:p>
            <a:pPr indent="0" marL="0">
              <a:buNone/>
            </a:pPr>
            <a:r>
              <a:rPr lang="en-US" sz="1100" dirty="0">
                <a:solidFill>
                  <a:schemeClr val="tx2"/>
                </a:solidFill>
              </a:rPr>
              <a:t>Legislación propia: Ley 527/1999, Ley 1266/2008, Ley 1273/2009, Ley 1581/2012, Ley 2213/2022.</a:t>
            </a:r>
            <a:endParaRPr lang="en-US" sz="1100" dirty="0"/>
          </a:p>
        </p:txBody>
      </p:sp>
      <p:sp>
        <p:nvSpPr>
          <p:cNvPr id="10" name="card Docente"/>
          <p:cNvSpPr/>
          <p:nvPr/>
        </p:nvSpPr>
        <p:spPr>
          <a:xfrm>
            <a:off x="4663440" y="1188720"/>
            <a:ext cx="4023360" cy="1280160"/>
          </a:xfrm>
          <a:prstGeom prst="roundRect">
            <a:avLst>
              <a:gd name="adj" fmla="val 5714"/>
            </a:avLst>
          </a:prstGeom>
          <a:solidFill>
            <a:schemeClr val="bg2"/>
          </a:solidFill>
          <a:ln w="12700">
            <a:solidFill>
              <a:schemeClr val="bg2"/>
            </a:solidFill>
            <a:prstDash val="solid"/>
          </a:ln>
        </p:spPr>
      </p:sp>
      <p:sp>
        <p:nvSpPr>
          <p:cNvPr id="11" name="num Docente"/>
          <p:cNvSpPr/>
          <p:nvPr/>
        </p:nvSpPr>
        <p:spPr>
          <a:xfrm>
            <a:off x="4800600" y="1325880"/>
            <a:ext cx="384048" cy="384048"/>
          </a:xfrm>
          <a:prstGeom prst="ellipse">
            <a:avLst/>
          </a:prstGeom>
          <a:solidFill>
            <a:schemeClr val="accent4"/>
          </a:solidFill>
          <a:ln w="12700">
            <a:solidFill>
              <a:schemeClr val="accent4"/>
            </a:solidFill>
            <a:prstDash val="solid"/>
          </a:ln>
        </p:spPr>
      </p:sp>
      <p:sp>
        <p:nvSpPr>
          <p:cNvPr id="12" name="numtxt Docente"/>
          <p:cNvSpPr txBox="1"/>
          <p:nvPr/>
        </p:nvSpPr>
        <p:spPr>
          <a:xfrm>
            <a:off x="4800600" y="13258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3" name="head Docente"/>
          <p:cNvSpPr txBox="1"/>
          <p:nvPr/>
        </p:nvSpPr>
        <p:spPr>
          <a:xfrm>
            <a:off x="5285232" y="1280160"/>
            <a:ext cx="3264408" cy="411480"/>
          </a:xfrm>
          <a:prstGeom prst="rect">
            <a:avLst/>
          </a:prstGeom>
          <a:noFill/>
          <a:ln/>
        </p:spPr>
        <p:txBody>
          <a:bodyPr wrap="square" lIns="0" tIns="0" rIns="0" bIns="0" rtlCol="0" anchor="ctr"/>
          <a:lstStyle/>
          <a:p>
            <a:pPr indent="0" marL="0">
              <a:buNone/>
            </a:pPr>
            <a:r>
              <a:rPr lang="en-US" sz="1300" b="1" dirty="0">
                <a:solidFill>
                  <a:schemeClr val="tx1"/>
                </a:solidFill>
              </a:rPr>
              <a:t>Docente</a:t>
            </a:r>
            <a:endParaRPr lang="en-US" sz="1300" dirty="0"/>
          </a:p>
        </p:txBody>
      </p:sp>
      <p:sp>
        <p:nvSpPr>
          <p:cNvPr id="14" name="body Docente"/>
          <p:cNvSpPr txBox="1"/>
          <p:nvPr/>
        </p:nvSpPr>
        <p:spPr>
          <a:xfrm>
            <a:off x="4828032" y="1719072"/>
            <a:ext cx="3694176" cy="658368"/>
          </a:xfrm>
          <a:prstGeom prst="rect">
            <a:avLst/>
          </a:prstGeom>
          <a:noFill/>
          <a:ln/>
        </p:spPr>
        <p:txBody>
          <a:bodyPr wrap="square" lIns="0" tIns="0" rIns="0" bIns="0" rtlCol="0" anchor="t"/>
          <a:lstStyle/>
          <a:p>
            <a:pPr indent="0" marL="0">
              <a:buNone/>
            </a:pPr>
            <a:r>
              <a:rPr lang="en-US" sz="1100" dirty="0">
                <a:solidFill>
                  <a:schemeClr val="tx2"/>
                </a:solidFill>
              </a:rPr>
              <a:t>Cátedras y posgrados: Departamento de Derecho Informático del Externado; GECTI de Uniandes (2001); esta asignatura.</a:t>
            </a:r>
            <a:endParaRPr lang="en-US" sz="1100" dirty="0"/>
          </a:p>
        </p:txBody>
      </p:sp>
      <p:sp>
        <p:nvSpPr>
          <p:cNvPr id="15" name="card Científico"/>
          <p:cNvSpPr/>
          <p:nvPr/>
        </p:nvSpPr>
        <p:spPr>
          <a:xfrm>
            <a:off x="457200" y="2606040"/>
            <a:ext cx="4023360" cy="1280160"/>
          </a:xfrm>
          <a:prstGeom prst="roundRect">
            <a:avLst>
              <a:gd name="adj" fmla="val 5714"/>
            </a:avLst>
          </a:prstGeom>
          <a:solidFill>
            <a:schemeClr val="bg2"/>
          </a:solidFill>
          <a:ln w="12700">
            <a:solidFill>
              <a:schemeClr val="bg2"/>
            </a:solidFill>
            <a:prstDash val="solid"/>
          </a:ln>
        </p:spPr>
      </p:sp>
      <p:sp>
        <p:nvSpPr>
          <p:cNvPr id="16" name="num Científico"/>
          <p:cNvSpPr/>
          <p:nvPr/>
        </p:nvSpPr>
        <p:spPr>
          <a:xfrm>
            <a:off x="594360" y="2743200"/>
            <a:ext cx="384048" cy="384048"/>
          </a:xfrm>
          <a:prstGeom prst="ellipse">
            <a:avLst/>
          </a:prstGeom>
          <a:solidFill>
            <a:schemeClr val="accent4"/>
          </a:solidFill>
          <a:ln w="12700">
            <a:solidFill>
              <a:schemeClr val="accent4"/>
            </a:solidFill>
            <a:prstDash val="solid"/>
          </a:ln>
        </p:spPr>
      </p:sp>
      <p:sp>
        <p:nvSpPr>
          <p:cNvPr id="17" name="numtxt Científico"/>
          <p:cNvSpPr txBox="1"/>
          <p:nvPr/>
        </p:nvSpPr>
        <p:spPr>
          <a:xfrm>
            <a:off x="594360" y="274320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8" name="head Científico"/>
          <p:cNvSpPr txBox="1"/>
          <p:nvPr/>
        </p:nvSpPr>
        <p:spPr>
          <a:xfrm>
            <a:off x="1078992" y="2697480"/>
            <a:ext cx="3264408" cy="411480"/>
          </a:xfrm>
          <a:prstGeom prst="rect">
            <a:avLst/>
          </a:prstGeom>
          <a:noFill/>
          <a:ln/>
        </p:spPr>
        <p:txBody>
          <a:bodyPr wrap="square" lIns="0" tIns="0" rIns="0" bIns="0" rtlCol="0" anchor="ctr"/>
          <a:lstStyle/>
          <a:p>
            <a:pPr indent="0" marL="0">
              <a:buNone/>
            </a:pPr>
            <a:r>
              <a:rPr lang="en-US" sz="1300" b="1" dirty="0">
                <a:solidFill>
                  <a:schemeClr val="tx1"/>
                </a:solidFill>
              </a:rPr>
              <a:t>Científico</a:t>
            </a:r>
            <a:endParaRPr lang="en-US" sz="1300" dirty="0"/>
          </a:p>
        </p:txBody>
      </p:sp>
      <p:sp>
        <p:nvSpPr>
          <p:cNvPr id="19" name="body Científico"/>
          <p:cNvSpPr txBox="1"/>
          <p:nvPr/>
        </p:nvSpPr>
        <p:spPr>
          <a:xfrm>
            <a:off x="621792" y="3136392"/>
            <a:ext cx="3694176" cy="658368"/>
          </a:xfrm>
          <a:prstGeom prst="rect">
            <a:avLst/>
          </a:prstGeom>
          <a:noFill/>
          <a:ln/>
        </p:spPr>
        <p:txBody>
          <a:bodyPr wrap="square" lIns="0" tIns="0" rIns="0" bIns="0" rtlCol="0" anchor="t"/>
          <a:lstStyle/>
          <a:p>
            <a:pPr indent="0" marL="0">
              <a:buNone/>
            </a:pPr>
            <a:r>
              <a:rPr lang="en-US" sz="1100" dirty="0">
                <a:solidFill>
                  <a:schemeClr val="tx2"/>
                </a:solidFill>
              </a:rPr>
              <a:t>Doctrina, revistas y grupos de investigación especializados en Colombia e Iberoamérica.</a:t>
            </a:r>
            <a:endParaRPr lang="en-US" sz="1100" dirty="0"/>
          </a:p>
        </p:txBody>
      </p:sp>
      <p:sp>
        <p:nvSpPr>
          <p:cNvPr id="20" name="card Institucional"/>
          <p:cNvSpPr/>
          <p:nvPr/>
        </p:nvSpPr>
        <p:spPr>
          <a:xfrm>
            <a:off x="4663440" y="2606040"/>
            <a:ext cx="4023360" cy="1280160"/>
          </a:xfrm>
          <a:prstGeom prst="roundRect">
            <a:avLst>
              <a:gd name="adj" fmla="val 5714"/>
            </a:avLst>
          </a:prstGeom>
          <a:solidFill>
            <a:schemeClr val="bg2"/>
          </a:solidFill>
          <a:ln w="12700">
            <a:solidFill>
              <a:schemeClr val="bg2"/>
            </a:solidFill>
            <a:prstDash val="solid"/>
          </a:ln>
        </p:spPr>
      </p:sp>
      <p:sp>
        <p:nvSpPr>
          <p:cNvPr id="21" name="num Institucional"/>
          <p:cNvSpPr/>
          <p:nvPr/>
        </p:nvSpPr>
        <p:spPr>
          <a:xfrm>
            <a:off x="4800600" y="2743200"/>
            <a:ext cx="384048" cy="384048"/>
          </a:xfrm>
          <a:prstGeom prst="ellipse">
            <a:avLst/>
          </a:prstGeom>
          <a:solidFill>
            <a:schemeClr val="accent4"/>
          </a:solidFill>
          <a:ln w="12700">
            <a:solidFill>
              <a:schemeClr val="accent4"/>
            </a:solidFill>
            <a:prstDash val="solid"/>
          </a:ln>
        </p:spPr>
      </p:sp>
      <p:sp>
        <p:nvSpPr>
          <p:cNvPr id="22" name="numtxt Institucional"/>
          <p:cNvSpPr txBox="1"/>
          <p:nvPr/>
        </p:nvSpPr>
        <p:spPr>
          <a:xfrm>
            <a:off x="4800600" y="274320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3" name="head Institucional"/>
          <p:cNvSpPr txBox="1"/>
          <p:nvPr/>
        </p:nvSpPr>
        <p:spPr>
          <a:xfrm>
            <a:off x="5285232" y="2697480"/>
            <a:ext cx="3264408" cy="411480"/>
          </a:xfrm>
          <a:prstGeom prst="rect">
            <a:avLst/>
          </a:prstGeom>
          <a:noFill/>
          <a:ln/>
        </p:spPr>
        <p:txBody>
          <a:bodyPr wrap="square" lIns="0" tIns="0" rIns="0" bIns="0" rtlCol="0" anchor="ctr"/>
          <a:lstStyle/>
          <a:p>
            <a:pPr indent="0" marL="0">
              <a:buNone/>
            </a:pPr>
            <a:r>
              <a:rPr lang="en-US" sz="1300" b="1" dirty="0">
                <a:solidFill>
                  <a:schemeClr val="tx1"/>
                </a:solidFill>
              </a:rPr>
              <a:t>Institucional</a:t>
            </a:r>
            <a:endParaRPr lang="en-US" sz="1300" dirty="0"/>
          </a:p>
        </p:txBody>
      </p:sp>
      <p:sp>
        <p:nvSpPr>
          <p:cNvPr id="24" name="body Institucional"/>
          <p:cNvSpPr txBox="1"/>
          <p:nvPr/>
        </p:nvSpPr>
        <p:spPr>
          <a:xfrm>
            <a:off x="4828032" y="3136392"/>
            <a:ext cx="3694176" cy="658368"/>
          </a:xfrm>
          <a:prstGeom prst="rect">
            <a:avLst/>
          </a:prstGeom>
          <a:noFill/>
          <a:ln/>
        </p:spPr>
        <p:txBody>
          <a:bodyPr wrap="square" lIns="0" tIns="0" rIns="0" bIns="0" rtlCol="0" anchor="t"/>
          <a:lstStyle/>
          <a:p>
            <a:pPr indent="0" marL="0">
              <a:buNone/>
            </a:pPr>
            <a:r>
              <a:rPr lang="en-US" sz="1100" dirty="0">
                <a:solidFill>
                  <a:schemeClr val="tx2"/>
                </a:solidFill>
              </a:rPr>
              <a:t>Autoridades propias: Delegatura de Protección de Datos de la SIC, CRC, MinTIC, Agencia Nacional Digital.</a:t>
            </a:r>
            <a:endParaRPr lang="en-US" sz="1100" dirty="0"/>
          </a:p>
        </p:txBody>
      </p:sp>
      <p:sp>
        <p:nvSpPr>
          <p:cNvPr id="25" name="tesis"/>
          <p:cNvSpPr txBox="1"/>
          <p:nvPr/>
        </p:nvSpPr>
        <p:spPr>
          <a:xfrm>
            <a:off x="457200" y="4114800"/>
            <a:ext cx="8229600" cy="457200"/>
          </a:xfrm>
          <a:prstGeom prst="rect">
            <a:avLst/>
          </a:prstGeom>
          <a:noFill/>
          <a:ln/>
        </p:spPr>
        <p:txBody>
          <a:bodyPr wrap="square" lIns="0" tIns="0" rIns="0" bIns="0" rtlCol="0" anchor="ctr"/>
          <a:lstStyle/>
          <a:p>
            <a:pPr indent="0" marL="0">
              <a:buNone/>
            </a:pPr>
            <a:r>
              <a:rPr lang="en-US" sz="1300" b="1" i="1" dirty="0">
                <a:solidFill>
                  <a:schemeClr val="accent1"/>
                </a:solidFill>
              </a:rPr>
              <a:t>Tesis de la clase: disciplina con objeto, principios e instituciones propios, de carácter transversal.</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949440" cy="731520"/>
          </a:xfrm>
          <a:prstGeom prst="rect">
            <a:avLst/>
          </a:prstGeom>
          <a:noFill/>
          <a:ln/>
        </p:spPr>
        <p:txBody>
          <a:bodyPr wrap="square" lIns="0" tIns="0" rIns="0" bIns="0" rtlCol="0" anchor="ctr"/>
          <a:lstStyle/>
          <a:p>
            <a:pPr algn="l" indent="0" marL="0">
              <a:buNone/>
            </a:pPr>
            <a:r>
              <a:rPr lang="en-US" sz="2400" b="1" dirty="0">
                <a:solidFill>
                  <a:schemeClr val="tx1"/>
                </a:solidFill>
              </a:rPr>
              <a:t>Ejercicio relámpago (5 minutos)</a:t>
            </a:r>
            <a:endParaRPr lang="en-US" sz="2400" dirty="0"/>
          </a:p>
        </p:txBody>
      </p:sp>
      <p:sp>
        <p:nvSpPr>
          <p:cNvPr id="3" name="bloque"/>
          <p:cNvSpPr txBox="1"/>
          <p:nvPr/>
        </p:nvSpPr>
        <p:spPr>
          <a:xfrm>
            <a:off x="7498080" y="411480"/>
            <a:ext cx="1188720" cy="292608"/>
          </a:xfrm>
          <a:prstGeom prst="rect">
            <a:avLst/>
          </a:prstGeom>
          <a:solidFill>
            <a:schemeClr val="accent2"/>
          </a:solidFill>
          <a:ln/>
        </p:spPr>
        <p:txBody>
          <a:bodyPr wrap="square" lIns="0" tIns="0" rIns="0" bIns="0" rtlCol="0" anchor="ctr"/>
          <a:lstStyle/>
          <a:p>
            <a:pPr algn="ctr" indent="0" marL="0">
              <a:buNone/>
            </a:pPr>
            <a:r>
              <a:rPr lang="en-US" sz="900" b="1" dirty="0">
                <a:solidFill>
                  <a:schemeClr val="bg1"/>
                </a:solidFill>
              </a:rPr>
              <a:t>EJERCICIO 5 min</a:t>
            </a:r>
            <a:endParaRPr lang="en-US" sz="900" dirty="0"/>
          </a:p>
        </p:txBody>
      </p:sp>
      <p:sp>
        <p:nvSpPr>
          <p:cNvPr id="5" name="e0"/>
          <p:cNvSpPr/>
          <p:nvPr/>
        </p:nvSpPr>
        <p:spPr>
          <a:xfrm>
            <a:off x="457200" y="1234440"/>
            <a:ext cx="457200" cy="457200"/>
          </a:xfrm>
          <a:prstGeom prst="ellipse">
            <a:avLst/>
          </a:prstGeom>
          <a:solidFill>
            <a:schemeClr val="accent2"/>
          </a:solidFill>
          <a:ln w="12700">
            <a:solidFill>
              <a:schemeClr val="accent2"/>
            </a:solidFill>
            <a:prstDash val="solid"/>
          </a:ln>
        </p:spPr>
      </p:sp>
      <p:sp>
        <p:nvSpPr>
          <p:cNvPr id="6" name="en0"/>
          <p:cNvSpPr txBox="1"/>
          <p:nvPr/>
        </p:nvSpPr>
        <p:spPr>
          <a:xfrm>
            <a:off x="457200" y="12344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et0"/>
          <p:cNvSpPr txBox="1"/>
          <p:nvPr/>
        </p:nvSpPr>
        <p:spPr>
          <a:xfrm>
            <a:off x="1051560" y="1234440"/>
            <a:ext cx="4846320" cy="457200"/>
          </a:xfrm>
          <a:prstGeom prst="rect">
            <a:avLst/>
          </a:prstGeom>
          <a:noFill/>
          <a:ln/>
        </p:spPr>
        <p:txBody>
          <a:bodyPr wrap="square" lIns="0" tIns="0" rIns="0" bIns="0" rtlCol="0" anchor="ctr"/>
          <a:lstStyle/>
          <a:p>
            <a:pPr indent="0" marL="0">
              <a:buNone/>
            </a:pPr>
            <a:r>
              <a:rPr lang="en-US" sz="1300" dirty="0">
                <a:solidFill>
                  <a:schemeClr val="tx1"/>
                </a:solidFill>
              </a:rPr>
              <a:t>Un juzgado implementa un software para gestionar sus expedientes.</a:t>
            </a:r>
            <a:endParaRPr lang="en-US" sz="1300" dirty="0"/>
          </a:p>
        </p:txBody>
      </p:sp>
      <p:sp>
        <p:nvSpPr>
          <p:cNvPr id="8" name="e1"/>
          <p:cNvSpPr/>
          <p:nvPr/>
        </p:nvSpPr>
        <p:spPr>
          <a:xfrm>
            <a:off x="457200" y="1892808"/>
            <a:ext cx="457200" cy="457200"/>
          </a:xfrm>
          <a:prstGeom prst="ellipse">
            <a:avLst/>
          </a:prstGeom>
          <a:solidFill>
            <a:schemeClr val="accent2"/>
          </a:solidFill>
          <a:ln w="12700">
            <a:solidFill>
              <a:schemeClr val="accent2"/>
            </a:solidFill>
            <a:prstDash val="solid"/>
          </a:ln>
        </p:spPr>
      </p:sp>
      <p:sp>
        <p:nvSpPr>
          <p:cNvPr id="9" name="en1"/>
          <p:cNvSpPr txBox="1"/>
          <p:nvPr/>
        </p:nvSpPr>
        <p:spPr>
          <a:xfrm>
            <a:off x="457200" y="1892808"/>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et1"/>
          <p:cNvSpPr txBox="1"/>
          <p:nvPr/>
        </p:nvSpPr>
        <p:spPr>
          <a:xfrm>
            <a:off x="1051560" y="1892808"/>
            <a:ext cx="4846320" cy="457200"/>
          </a:xfrm>
          <a:prstGeom prst="rect">
            <a:avLst/>
          </a:prstGeom>
          <a:noFill/>
          <a:ln/>
        </p:spPr>
        <p:txBody>
          <a:bodyPr wrap="square" lIns="0" tIns="0" rIns="0" bIns="0" rtlCol="0" anchor="ctr"/>
          <a:lstStyle/>
          <a:p>
            <a:pPr indent="0" marL="0">
              <a:buNone/>
            </a:pPr>
            <a:r>
              <a:rPr lang="en-US" sz="1300" dirty="0">
                <a:solidFill>
                  <a:schemeClr val="tx1"/>
                </a:solidFill>
              </a:rPr>
              <a:t>Una app pide acceso a los contactos y la ubicación del usuario para funcionar.</a:t>
            </a:r>
            <a:endParaRPr lang="en-US" sz="1300" dirty="0"/>
          </a:p>
        </p:txBody>
      </p:sp>
      <p:sp>
        <p:nvSpPr>
          <p:cNvPr id="11" name="e2"/>
          <p:cNvSpPr/>
          <p:nvPr/>
        </p:nvSpPr>
        <p:spPr>
          <a:xfrm>
            <a:off x="457200" y="2551176"/>
            <a:ext cx="457200" cy="457200"/>
          </a:xfrm>
          <a:prstGeom prst="ellipse">
            <a:avLst/>
          </a:prstGeom>
          <a:solidFill>
            <a:schemeClr val="accent2"/>
          </a:solidFill>
          <a:ln w="12700">
            <a:solidFill>
              <a:schemeClr val="accent2"/>
            </a:solidFill>
            <a:prstDash val="solid"/>
          </a:ln>
        </p:spPr>
      </p:sp>
      <p:sp>
        <p:nvSpPr>
          <p:cNvPr id="12" name="en2"/>
          <p:cNvSpPr txBox="1"/>
          <p:nvPr/>
        </p:nvSpPr>
        <p:spPr>
          <a:xfrm>
            <a:off x="457200" y="2551176"/>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et2"/>
          <p:cNvSpPr txBox="1"/>
          <p:nvPr/>
        </p:nvSpPr>
        <p:spPr>
          <a:xfrm>
            <a:off x="1051560" y="2551176"/>
            <a:ext cx="4846320" cy="457200"/>
          </a:xfrm>
          <a:prstGeom prst="rect">
            <a:avLst/>
          </a:prstGeom>
          <a:noFill/>
          <a:ln/>
        </p:spPr>
        <p:txBody>
          <a:bodyPr wrap="square" lIns="0" tIns="0" rIns="0" bIns="0" rtlCol="0" anchor="ctr"/>
          <a:lstStyle/>
          <a:p>
            <a:pPr indent="0" marL="0">
              <a:buNone/>
            </a:pPr>
            <a:r>
              <a:rPr lang="en-US" sz="1300" dirty="0">
                <a:solidFill>
                  <a:schemeClr val="tx1"/>
                </a:solidFill>
              </a:rPr>
              <a:t>La CRC fija condiciones de interconexión entre operadores móviles.</a:t>
            </a:r>
            <a:endParaRPr lang="en-US" sz="1300" dirty="0"/>
          </a:p>
        </p:txBody>
      </p:sp>
      <p:sp>
        <p:nvSpPr>
          <p:cNvPr id="14" name="e3"/>
          <p:cNvSpPr/>
          <p:nvPr/>
        </p:nvSpPr>
        <p:spPr>
          <a:xfrm>
            <a:off x="457200" y="3209544"/>
            <a:ext cx="457200" cy="457200"/>
          </a:xfrm>
          <a:prstGeom prst="ellipse">
            <a:avLst/>
          </a:prstGeom>
          <a:solidFill>
            <a:schemeClr val="accent2"/>
          </a:solidFill>
          <a:ln w="12700">
            <a:solidFill>
              <a:schemeClr val="accent2"/>
            </a:solidFill>
            <a:prstDash val="solid"/>
          </a:ln>
        </p:spPr>
      </p:sp>
      <p:sp>
        <p:nvSpPr>
          <p:cNvPr id="15" name="en3"/>
          <p:cNvSpPr txBox="1"/>
          <p:nvPr/>
        </p:nvSpPr>
        <p:spPr>
          <a:xfrm>
            <a:off x="457200" y="3209544"/>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6" name="et3"/>
          <p:cNvSpPr txBox="1"/>
          <p:nvPr/>
        </p:nvSpPr>
        <p:spPr>
          <a:xfrm>
            <a:off x="1051560" y="3209544"/>
            <a:ext cx="4846320" cy="457200"/>
          </a:xfrm>
          <a:prstGeom prst="rect">
            <a:avLst/>
          </a:prstGeom>
          <a:noFill/>
          <a:ln/>
        </p:spPr>
        <p:txBody>
          <a:bodyPr wrap="square" lIns="0" tIns="0" rIns="0" bIns="0" rtlCol="0" anchor="ctr"/>
          <a:lstStyle/>
          <a:p>
            <a:pPr indent="0" marL="0">
              <a:buNone/>
            </a:pPr>
            <a:r>
              <a:rPr lang="en-US" sz="1300" dirty="0">
                <a:solidFill>
                  <a:schemeClr val="tx1"/>
                </a:solidFill>
              </a:rPr>
              <a:t>Una empresa aporta como prueba la captura de pantalla de un chat de WhatsApp.</a:t>
            </a:r>
            <a:endParaRPr lang="en-US" sz="1300" dirty="0"/>
          </a:p>
        </p:txBody>
      </p:sp>
      <p:sp>
        <p:nvSpPr>
          <p:cNvPr id="17" name="e4"/>
          <p:cNvSpPr/>
          <p:nvPr/>
        </p:nvSpPr>
        <p:spPr>
          <a:xfrm>
            <a:off x="457200" y="3867912"/>
            <a:ext cx="457200" cy="457200"/>
          </a:xfrm>
          <a:prstGeom prst="ellipse">
            <a:avLst/>
          </a:prstGeom>
          <a:solidFill>
            <a:schemeClr val="accent2"/>
          </a:solidFill>
          <a:ln w="12700">
            <a:solidFill>
              <a:schemeClr val="accent2"/>
            </a:solidFill>
            <a:prstDash val="solid"/>
          </a:ln>
        </p:spPr>
      </p:sp>
      <p:sp>
        <p:nvSpPr>
          <p:cNvPr id="18" name="en4"/>
          <p:cNvSpPr txBox="1"/>
          <p:nvPr/>
        </p:nvSpPr>
        <p:spPr>
          <a:xfrm>
            <a:off x="457200" y="386791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9" name="et4"/>
          <p:cNvSpPr txBox="1"/>
          <p:nvPr/>
        </p:nvSpPr>
        <p:spPr>
          <a:xfrm>
            <a:off x="1051560" y="3867912"/>
            <a:ext cx="4846320" cy="457200"/>
          </a:xfrm>
          <a:prstGeom prst="rect">
            <a:avLst/>
          </a:prstGeom>
          <a:noFill/>
          <a:ln/>
        </p:spPr>
        <p:txBody>
          <a:bodyPr wrap="square" lIns="0" tIns="0" rIns="0" bIns="0" rtlCol="0" anchor="ctr"/>
          <a:lstStyle/>
          <a:p>
            <a:pPr indent="0" marL="0">
              <a:buNone/>
            </a:pPr>
            <a:r>
              <a:rPr lang="en-US" sz="1300" dirty="0">
                <a:solidFill>
                  <a:schemeClr val="tx1"/>
                </a:solidFill>
              </a:rPr>
              <a:t>Un juez usa una IA generativa para redactar parte de una sentencia.</a:t>
            </a:r>
            <a:endParaRPr lang="en-US" sz="1300" dirty="0"/>
          </a:p>
        </p:txBody>
      </p:sp>
      <p:sp>
        <p:nvSpPr>
          <p:cNvPr id="20" name="cat0"/>
          <p:cNvSpPr/>
          <p:nvPr/>
        </p:nvSpPr>
        <p:spPr>
          <a:xfrm>
            <a:off x="6217920" y="1371600"/>
            <a:ext cx="2468880" cy="777240"/>
          </a:xfrm>
          <a:prstGeom prst="roundRect">
            <a:avLst>
              <a:gd name="adj" fmla="val 11765"/>
            </a:avLst>
          </a:prstGeom>
          <a:solidFill>
            <a:schemeClr val="bg2"/>
          </a:solidFill>
          <a:ln w="12700">
            <a:solidFill>
              <a:schemeClr val="accent1"/>
            </a:solidFill>
            <a:prstDash val="solid"/>
          </a:ln>
        </p:spPr>
      </p:sp>
      <p:sp>
        <p:nvSpPr>
          <p:cNvPr id="21" name="catt0"/>
          <p:cNvSpPr txBox="1"/>
          <p:nvPr/>
        </p:nvSpPr>
        <p:spPr>
          <a:xfrm>
            <a:off x="6217920" y="1371600"/>
            <a:ext cx="2468880" cy="777240"/>
          </a:xfrm>
          <a:prstGeom prst="rect">
            <a:avLst/>
          </a:prstGeom>
          <a:noFill/>
          <a:ln/>
        </p:spPr>
        <p:txBody>
          <a:bodyPr wrap="square" lIns="0" tIns="0" rIns="0" bIns="0" rtlCol="0" anchor="ctr"/>
          <a:lstStyle/>
          <a:p>
            <a:pPr algn="ctr" indent="0" marL="0">
              <a:buNone/>
            </a:pPr>
            <a:r>
              <a:rPr lang="en-US" sz="1200" b="1" dirty="0">
                <a:solidFill>
                  <a:schemeClr val="tx1"/>
                </a:solidFill>
              </a:rPr>
              <a:t>Derecho Informático</a:t>
            </a:r>
            <a:endParaRPr lang="en-US" sz="1200" dirty="0"/>
          </a:p>
        </p:txBody>
      </p:sp>
      <p:sp>
        <p:nvSpPr>
          <p:cNvPr id="22" name="cat1"/>
          <p:cNvSpPr/>
          <p:nvPr/>
        </p:nvSpPr>
        <p:spPr>
          <a:xfrm>
            <a:off x="6217920" y="2331720"/>
            <a:ext cx="2468880" cy="777240"/>
          </a:xfrm>
          <a:prstGeom prst="roundRect">
            <a:avLst>
              <a:gd name="adj" fmla="val 11765"/>
            </a:avLst>
          </a:prstGeom>
          <a:solidFill>
            <a:schemeClr val="bg2"/>
          </a:solidFill>
          <a:ln w="12700">
            <a:solidFill>
              <a:schemeClr val="accent1"/>
            </a:solidFill>
            <a:prstDash val="solid"/>
          </a:ln>
        </p:spPr>
      </p:sp>
      <p:sp>
        <p:nvSpPr>
          <p:cNvPr id="23" name="catt1"/>
          <p:cNvSpPr txBox="1"/>
          <p:nvPr/>
        </p:nvSpPr>
        <p:spPr>
          <a:xfrm>
            <a:off x="6217920" y="2331720"/>
            <a:ext cx="2468880" cy="777240"/>
          </a:xfrm>
          <a:prstGeom prst="rect">
            <a:avLst/>
          </a:prstGeom>
          <a:noFill/>
          <a:ln/>
        </p:spPr>
        <p:txBody>
          <a:bodyPr wrap="square" lIns="0" tIns="0" rIns="0" bIns="0" rtlCol="0" anchor="ctr"/>
          <a:lstStyle/>
          <a:p>
            <a:pPr algn="ctr" indent="0" marL="0">
              <a:buNone/>
            </a:pPr>
            <a:r>
              <a:rPr lang="en-US" sz="1200" b="1" dirty="0">
                <a:solidFill>
                  <a:schemeClr val="tx1"/>
                </a:solidFill>
              </a:rPr>
              <a:t>Informática jurídica</a:t>
            </a:r>
            <a:endParaRPr lang="en-US" sz="1200" dirty="0"/>
          </a:p>
        </p:txBody>
      </p:sp>
      <p:sp>
        <p:nvSpPr>
          <p:cNvPr id="24" name="cat2"/>
          <p:cNvSpPr/>
          <p:nvPr/>
        </p:nvSpPr>
        <p:spPr>
          <a:xfrm>
            <a:off x="6217920" y="3291840"/>
            <a:ext cx="2468880" cy="777240"/>
          </a:xfrm>
          <a:prstGeom prst="roundRect">
            <a:avLst>
              <a:gd name="adj" fmla="val 11765"/>
            </a:avLst>
          </a:prstGeom>
          <a:solidFill>
            <a:schemeClr val="bg2"/>
          </a:solidFill>
          <a:ln w="12700">
            <a:solidFill>
              <a:schemeClr val="accent1"/>
            </a:solidFill>
            <a:prstDash val="solid"/>
          </a:ln>
        </p:spPr>
      </p:sp>
      <p:sp>
        <p:nvSpPr>
          <p:cNvPr id="25" name="catt2"/>
          <p:cNvSpPr txBox="1"/>
          <p:nvPr/>
        </p:nvSpPr>
        <p:spPr>
          <a:xfrm>
            <a:off x="6217920" y="3291840"/>
            <a:ext cx="2468880" cy="777240"/>
          </a:xfrm>
          <a:prstGeom prst="rect">
            <a:avLst/>
          </a:prstGeom>
          <a:noFill/>
          <a:ln/>
        </p:spPr>
        <p:txBody>
          <a:bodyPr wrap="square" lIns="0" tIns="0" rIns="0" bIns="0" rtlCol="0" anchor="ctr"/>
          <a:lstStyle/>
          <a:p>
            <a:pPr algn="ctr" indent="0" marL="0">
              <a:buNone/>
            </a:pPr>
            <a:r>
              <a:rPr lang="en-US" sz="1200" b="1" dirty="0">
                <a:solidFill>
                  <a:schemeClr val="tx1"/>
                </a:solidFill>
              </a:rPr>
              <a:t>Derecho de las telecomunicaciones</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1097280"/>
          </a:xfrm>
          <a:prstGeom prst="rect">
            <a:avLst/>
          </a:prstGeom>
          <a:noFill/>
          <a:ln/>
        </p:spPr>
        <p:txBody>
          <a:bodyPr wrap="square" lIns="0" tIns="0" rIns="0" bIns="0" rtlCol="0" anchor="b"/>
          <a:lstStyle/>
          <a:p>
            <a:pPr algn="l" indent="0" marL="0">
              <a:buNone/>
            </a:pPr>
            <a:r>
              <a:rPr lang="en-US" sz="3800" b="1" dirty="0">
                <a:solidFill>
                  <a:schemeClr val="bg1"/>
                </a:solidFill>
              </a:rPr>
              <a:t>2. Evolución, objeto y fuentes</a:t>
            </a:r>
            <a:endParaRPr lang="en-US" sz="3800" dirty="0"/>
          </a:p>
        </p:txBody>
      </p:sp>
      <p:sp>
        <p:nvSpPr>
          <p:cNvPr id="3" name="Text 0"/>
          <p:cNvSpPr/>
          <p:nvPr>
            <p:ph idx="101" type="body" hasCustomPrompt="1"/>
          </p:nvPr>
        </p:nvSpPr>
        <p:spPr>
          <a:xfrm>
            <a:off x="548640" y="3017520"/>
            <a:ext cx="8046720" cy="822960"/>
          </a:xfrm>
          <a:prstGeom prst="rect">
            <a:avLst/>
          </a:prstGeom>
          <a:noFill/>
          <a:ln/>
        </p:spPr>
        <p:txBody>
          <a:bodyPr wrap="square" lIns="0" tIns="0" rIns="0" bIns="0" rtlCol="0" anchor="t"/>
          <a:lstStyle/>
          <a:p>
            <a:pPr algn="l" indent="0" marL="0">
              <a:buNone/>
            </a:pPr>
            <a:r>
              <a:rPr lang="en-US" sz="1800" dirty="0">
                <a:solidFill>
                  <a:schemeClr val="accent6"/>
                </a:solidFill>
              </a:rPr>
              <a:t>Cuatro etapas, tres grupos de relaciones y una pirámide normativa</a:t>
            </a:r>
            <a:endParaRPr lang="en-US" sz="1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949440" cy="731520"/>
          </a:xfrm>
          <a:prstGeom prst="rect">
            <a:avLst/>
          </a:prstGeom>
          <a:noFill/>
          <a:ln/>
        </p:spPr>
        <p:txBody>
          <a:bodyPr wrap="square" lIns="0" tIns="0" rIns="0" bIns="0" rtlCol="0" anchor="ctr"/>
          <a:lstStyle/>
          <a:p>
            <a:pPr algn="l" indent="0" marL="0">
              <a:buNone/>
            </a:pPr>
            <a:r>
              <a:rPr lang="en-US" sz="2400" b="1" dirty="0">
                <a:solidFill>
                  <a:schemeClr val="tx1"/>
                </a:solidFill>
              </a:rPr>
              <a:t>Evolución: cuatro etapas</a:t>
            </a:r>
            <a:endParaRPr lang="en-US" sz="2400" dirty="0"/>
          </a:p>
        </p:txBody>
      </p:sp>
      <p:sp>
        <p:nvSpPr>
          <p:cNvPr id="3" name="bloque"/>
          <p:cNvSpPr txBox="1"/>
          <p:nvPr/>
        </p:nvSpPr>
        <p:spPr>
          <a:xfrm>
            <a:off x="7498080" y="411480"/>
            <a:ext cx="1188720" cy="292608"/>
          </a:xfrm>
          <a:prstGeom prst="rect">
            <a:avLst/>
          </a:prstGeom>
          <a:solidFill>
            <a:schemeClr val="accent1"/>
          </a:solidFill>
          <a:ln/>
        </p:spPr>
        <p:txBody>
          <a:bodyPr wrap="square" lIns="0" tIns="0" rIns="0" bIns="0" rtlCol="0" anchor="ctr"/>
          <a:lstStyle/>
          <a:p>
            <a:pPr algn="ctr" indent="0" marL="0">
              <a:buNone/>
            </a:pPr>
            <a:r>
              <a:rPr lang="en-US" sz="900" b="1" dirty="0">
                <a:solidFill>
                  <a:schemeClr val="bg1"/>
                </a:solidFill>
              </a:rPr>
              <a:t>EVOLUCIÓN 25-45</a:t>
            </a:r>
            <a:endParaRPr lang="en-US" sz="900" dirty="0"/>
          </a:p>
        </p:txBody>
      </p:sp>
      <p:sp>
        <p:nvSpPr>
          <p:cNvPr id="5" name="tl"/>
          <p:cNvSpPr/>
          <p:nvPr/>
        </p:nvSpPr>
        <p:spPr>
          <a:xfrm>
            <a:off x="640080" y="1828800"/>
            <a:ext cx="7863840" cy="0"/>
          </a:xfrm>
          <a:prstGeom prst="line">
            <a:avLst/>
          </a:prstGeom>
          <a:noFill/>
          <a:ln w="25400">
            <a:solidFill>
              <a:schemeClr val="accent6"/>
            </a:solidFill>
            <a:prstDash val="solid"/>
          </a:ln>
        </p:spPr>
      </p:sp>
      <p:sp>
        <p:nvSpPr>
          <p:cNvPr id="6" name="dot0"/>
          <p:cNvSpPr/>
          <p:nvPr/>
        </p:nvSpPr>
        <p:spPr>
          <a:xfrm>
            <a:off x="1234440" y="1645920"/>
            <a:ext cx="365760" cy="365760"/>
          </a:xfrm>
          <a:prstGeom prst="ellipse">
            <a:avLst/>
          </a:prstGeom>
          <a:solidFill>
            <a:schemeClr val="accent4"/>
          </a:solidFill>
          <a:ln w="12700">
            <a:solidFill>
              <a:schemeClr val="accent4"/>
            </a:solidFill>
            <a:prstDash val="solid"/>
          </a:ln>
        </p:spPr>
      </p:sp>
      <p:sp>
        <p:nvSpPr>
          <p:cNvPr id="7" name="a0"/>
          <p:cNvSpPr txBox="1"/>
          <p:nvPr/>
        </p:nvSpPr>
        <p:spPr>
          <a:xfrm>
            <a:off x="457200" y="1188720"/>
            <a:ext cx="1920240" cy="365760"/>
          </a:xfrm>
          <a:prstGeom prst="rect">
            <a:avLst/>
          </a:prstGeom>
          <a:noFill/>
          <a:ln/>
        </p:spPr>
        <p:txBody>
          <a:bodyPr wrap="square" lIns="0" tIns="0" rIns="0" bIns="0" rtlCol="0" anchor="ctr"/>
          <a:lstStyle/>
          <a:p>
            <a:pPr algn="ctr" indent="0" marL="0">
              <a:buNone/>
            </a:pPr>
            <a:r>
              <a:rPr lang="en-US" sz="1300" b="1" dirty="0">
                <a:solidFill>
                  <a:schemeClr val="accent4"/>
                </a:solidFill>
              </a:rPr>
              <a:t>1948-1990</a:t>
            </a:r>
            <a:endParaRPr lang="en-US" sz="1300" dirty="0"/>
          </a:p>
        </p:txBody>
      </p:sp>
      <p:sp>
        <p:nvSpPr>
          <p:cNvPr id="8" name="h0"/>
          <p:cNvSpPr txBox="1"/>
          <p:nvPr/>
        </p:nvSpPr>
        <p:spPr>
          <a:xfrm>
            <a:off x="457200" y="2148840"/>
            <a:ext cx="1920240" cy="640080"/>
          </a:xfrm>
          <a:prstGeom prst="rect">
            <a:avLst/>
          </a:prstGeom>
          <a:noFill/>
          <a:ln/>
        </p:spPr>
        <p:txBody>
          <a:bodyPr wrap="square" lIns="0" tIns="0" rIns="0" bIns="0" rtlCol="0" anchor="t"/>
          <a:lstStyle/>
          <a:p>
            <a:pPr algn="ctr" indent="0" marL="0">
              <a:buNone/>
            </a:pPr>
            <a:r>
              <a:rPr lang="en-US" sz="1200" b="1" dirty="0">
                <a:solidFill>
                  <a:schemeClr val="tx1"/>
                </a:solidFill>
              </a:rPr>
              <a:t>Cibernética y primeras leyes de datos</a:t>
            </a:r>
            <a:endParaRPr lang="en-US" sz="1200" dirty="0"/>
          </a:p>
        </p:txBody>
      </p:sp>
      <p:sp>
        <p:nvSpPr>
          <p:cNvPr id="9" name="b0"/>
          <p:cNvSpPr txBox="1"/>
          <p:nvPr/>
        </p:nvSpPr>
        <p:spPr>
          <a:xfrm>
            <a:off x="457200" y="2834640"/>
            <a:ext cx="1920240" cy="1463040"/>
          </a:xfrm>
          <a:prstGeom prst="rect">
            <a:avLst/>
          </a:prstGeom>
          <a:noFill/>
          <a:ln/>
        </p:spPr>
        <p:txBody>
          <a:bodyPr wrap="square" lIns="0" tIns="0" rIns="0" bIns="0" rtlCol="0" anchor="t"/>
          <a:lstStyle/>
          <a:p>
            <a:pPr algn="ctr" indent="0" marL="0">
              <a:buNone/>
            </a:pPr>
            <a:r>
              <a:rPr lang="en-US" sz="1050" dirty="0">
                <a:solidFill>
                  <a:schemeClr val="tx2"/>
                </a:solidFill>
              </a:rPr>
              <a:t>Wiener; Losano y Frosini; leyes de Hesse, Suecia, EE. UU. y Francia; Convenio 108 (1981).</a:t>
            </a:r>
            <a:endParaRPr lang="en-US" sz="1050" dirty="0"/>
          </a:p>
        </p:txBody>
      </p:sp>
      <p:sp>
        <p:nvSpPr>
          <p:cNvPr id="10" name="dot1"/>
          <p:cNvSpPr/>
          <p:nvPr/>
        </p:nvSpPr>
        <p:spPr>
          <a:xfrm>
            <a:off x="3337560" y="1645920"/>
            <a:ext cx="365760" cy="365760"/>
          </a:xfrm>
          <a:prstGeom prst="ellipse">
            <a:avLst/>
          </a:prstGeom>
          <a:solidFill>
            <a:schemeClr val="accent1"/>
          </a:solidFill>
          <a:ln w="12700">
            <a:solidFill>
              <a:schemeClr val="accent1"/>
            </a:solidFill>
            <a:prstDash val="solid"/>
          </a:ln>
        </p:spPr>
      </p:sp>
      <p:sp>
        <p:nvSpPr>
          <p:cNvPr id="11" name="a1"/>
          <p:cNvSpPr txBox="1"/>
          <p:nvPr/>
        </p:nvSpPr>
        <p:spPr>
          <a:xfrm>
            <a:off x="2560320" y="1188720"/>
            <a:ext cx="1920240" cy="365760"/>
          </a:xfrm>
          <a:prstGeom prst="rect">
            <a:avLst/>
          </a:prstGeom>
          <a:noFill/>
          <a:ln/>
        </p:spPr>
        <p:txBody>
          <a:bodyPr wrap="square" lIns="0" tIns="0" rIns="0" bIns="0" rtlCol="0" anchor="ctr"/>
          <a:lstStyle/>
          <a:p>
            <a:pPr algn="ctr" indent="0" marL="0">
              <a:buNone/>
            </a:pPr>
            <a:r>
              <a:rPr lang="en-US" sz="1300" b="1" dirty="0">
                <a:solidFill>
                  <a:schemeClr val="accent1"/>
                </a:solidFill>
              </a:rPr>
              <a:t>1990-2008</a:t>
            </a:r>
            <a:endParaRPr lang="en-US" sz="1300" dirty="0"/>
          </a:p>
        </p:txBody>
      </p:sp>
      <p:sp>
        <p:nvSpPr>
          <p:cNvPr id="12" name="h1"/>
          <p:cNvSpPr txBox="1"/>
          <p:nvPr/>
        </p:nvSpPr>
        <p:spPr>
          <a:xfrm>
            <a:off x="2560320" y="2148840"/>
            <a:ext cx="1920240" cy="640080"/>
          </a:xfrm>
          <a:prstGeom prst="rect">
            <a:avLst/>
          </a:prstGeom>
          <a:noFill/>
          <a:ln/>
        </p:spPr>
        <p:txBody>
          <a:bodyPr wrap="square" lIns="0" tIns="0" rIns="0" bIns="0" rtlCol="0" anchor="t"/>
          <a:lstStyle/>
          <a:p>
            <a:pPr algn="ctr" indent="0" marL="0">
              <a:buNone/>
            </a:pPr>
            <a:r>
              <a:rPr lang="en-US" sz="1200" b="1" dirty="0">
                <a:solidFill>
                  <a:schemeClr val="tx1"/>
                </a:solidFill>
              </a:rPr>
              <a:t>Comercio electrónico y equivalencia funcional</a:t>
            </a:r>
            <a:endParaRPr lang="en-US" sz="1200" dirty="0"/>
          </a:p>
        </p:txBody>
      </p:sp>
      <p:sp>
        <p:nvSpPr>
          <p:cNvPr id="13" name="b1"/>
          <p:cNvSpPr txBox="1"/>
          <p:nvPr/>
        </p:nvSpPr>
        <p:spPr>
          <a:xfrm>
            <a:off x="2560320" y="2834640"/>
            <a:ext cx="1920240" cy="1463040"/>
          </a:xfrm>
          <a:prstGeom prst="rect">
            <a:avLst/>
          </a:prstGeom>
          <a:noFill/>
          <a:ln/>
        </p:spPr>
        <p:txBody>
          <a:bodyPr wrap="square" lIns="0" tIns="0" rIns="0" bIns="0" rtlCol="0" anchor="t"/>
          <a:lstStyle/>
          <a:p>
            <a:pPr algn="ctr" indent="0" marL="0">
              <a:buNone/>
            </a:pPr>
            <a:r>
              <a:rPr lang="en-US" sz="1050" dirty="0">
                <a:solidFill>
                  <a:schemeClr val="tx2"/>
                </a:solidFill>
              </a:rPr>
              <a:t>Ley Modelo CNUDMI (1996); Directiva 95/46; Lessig: «el código es ley» (1999).</a:t>
            </a:r>
            <a:endParaRPr lang="en-US" sz="1050" dirty="0"/>
          </a:p>
        </p:txBody>
      </p:sp>
      <p:sp>
        <p:nvSpPr>
          <p:cNvPr id="14" name="dot2"/>
          <p:cNvSpPr/>
          <p:nvPr/>
        </p:nvSpPr>
        <p:spPr>
          <a:xfrm>
            <a:off x="5440680" y="1645920"/>
            <a:ext cx="365760" cy="365760"/>
          </a:xfrm>
          <a:prstGeom prst="ellipse">
            <a:avLst/>
          </a:prstGeom>
          <a:solidFill>
            <a:schemeClr val="accent2"/>
          </a:solidFill>
          <a:ln w="12700">
            <a:solidFill>
              <a:schemeClr val="accent2"/>
            </a:solidFill>
            <a:prstDash val="solid"/>
          </a:ln>
        </p:spPr>
      </p:sp>
      <p:sp>
        <p:nvSpPr>
          <p:cNvPr id="15" name="a2"/>
          <p:cNvSpPr txBox="1"/>
          <p:nvPr/>
        </p:nvSpPr>
        <p:spPr>
          <a:xfrm>
            <a:off x="4663440" y="1188720"/>
            <a:ext cx="1920240" cy="365760"/>
          </a:xfrm>
          <a:prstGeom prst="rect">
            <a:avLst/>
          </a:prstGeom>
          <a:noFill/>
          <a:ln/>
        </p:spPr>
        <p:txBody>
          <a:bodyPr wrap="square" lIns="0" tIns="0" rIns="0" bIns="0" rtlCol="0" anchor="ctr"/>
          <a:lstStyle/>
          <a:p>
            <a:pPr algn="ctr" indent="0" marL="0">
              <a:buNone/>
            </a:pPr>
            <a:r>
              <a:rPr lang="en-US" sz="1300" b="1" dirty="0">
                <a:solidFill>
                  <a:schemeClr val="accent2"/>
                </a:solidFill>
              </a:rPr>
              <a:t>2001-2016</a:t>
            </a:r>
            <a:endParaRPr lang="en-US" sz="1300" dirty="0"/>
          </a:p>
        </p:txBody>
      </p:sp>
      <p:sp>
        <p:nvSpPr>
          <p:cNvPr id="16" name="h2"/>
          <p:cNvSpPr txBox="1"/>
          <p:nvPr/>
        </p:nvSpPr>
        <p:spPr>
          <a:xfrm>
            <a:off x="4663440" y="2148840"/>
            <a:ext cx="1920240" cy="640080"/>
          </a:xfrm>
          <a:prstGeom prst="rect">
            <a:avLst/>
          </a:prstGeom>
          <a:noFill/>
          <a:ln/>
        </p:spPr>
        <p:txBody>
          <a:bodyPr wrap="square" lIns="0" tIns="0" rIns="0" bIns="0" rtlCol="0" anchor="t"/>
          <a:lstStyle/>
          <a:p>
            <a:pPr algn="ctr" indent="0" marL="0">
              <a:buNone/>
            </a:pPr>
            <a:r>
              <a:rPr lang="en-US" sz="1200" b="1" dirty="0">
                <a:solidFill>
                  <a:schemeClr val="tx1"/>
                </a:solidFill>
              </a:rPr>
              <a:t>Ciberdelincuencia y datos como derecho</a:t>
            </a:r>
            <a:endParaRPr lang="en-US" sz="1200" dirty="0"/>
          </a:p>
        </p:txBody>
      </p:sp>
      <p:sp>
        <p:nvSpPr>
          <p:cNvPr id="17" name="b2"/>
          <p:cNvSpPr txBox="1"/>
          <p:nvPr/>
        </p:nvSpPr>
        <p:spPr>
          <a:xfrm>
            <a:off x="4663440" y="2834640"/>
            <a:ext cx="1920240" cy="1463040"/>
          </a:xfrm>
          <a:prstGeom prst="rect">
            <a:avLst/>
          </a:prstGeom>
          <a:noFill/>
          <a:ln/>
        </p:spPr>
        <p:txBody>
          <a:bodyPr wrap="square" lIns="0" tIns="0" rIns="0" bIns="0" rtlCol="0" anchor="t"/>
          <a:lstStyle/>
          <a:p>
            <a:pPr algn="ctr" indent="0" marL="0">
              <a:buNone/>
            </a:pPr>
            <a:r>
              <a:rPr lang="en-US" sz="1050" dirty="0">
                <a:solidFill>
                  <a:schemeClr val="tx2"/>
                </a:solidFill>
              </a:rPr>
              <a:t>Convenio de Budapest (2001); gobierno digital; RGPD (2016).</a:t>
            </a:r>
            <a:endParaRPr lang="en-US" sz="1050" dirty="0"/>
          </a:p>
        </p:txBody>
      </p:sp>
      <p:sp>
        <p:nvSpPr>
          <p:cNvPr id="18" name="dot3"/>
          <p:cNvSpPr/>
          <p:nvPr/>
        </p:nvSpPr>
        <p:spPr>
          <a:xfrm>
            <a:off x="7543800" y="1645920"/>
            <a:ext cx="365760" cy="365760"/>
          </a:xfrm>
          <a:prstGeom prst="ellipse">
            <a:avLst/>
          </a:prstGeom>
          <a:solidFill>
            <a:schemeClr val="accent3"/>
          </a:solidFill>
          <a:ln w="12700">
            <a:solidFill>
              <a:schemeClr val="accent3"/>
            </a:solidFill>
            <a:prstDash val="solid"/>
          </a:ln>
        </p:spPr>
      </p:sp>
      <p:sp>
        <p:nvSpPr>
          <p:cNvPr id="19" name="a3"/>
          <p:cNvSpPr txBox="1"/>
          <p:nvPr/>
        </p:nvSpPr>
        <p:spPr>
          <a:xfrm>
            <a:off x="6766560" y="1188720"/>
            <a:ext cx="1920240" cy="365760"/>
          </a:xfrm>
          <a:prstGeom prst="rect">
            <a:avLst/>
          </a:prstGeom>
          <a:noFill/>
          <a:ln/>
        </p:spPr>
        <p:txBody>
          <a:bodyPr wrap="square" lIns="0" tIns="0" rIns="0" bIns="0" rtlCol="0" anchor="ctr"/>
          <a:lstStyle/>
          <a:p>
            <a:pPr algn="ctr" indent="0" marL="0">
              <a:buNone/>
            </a:pPr>
            <a:r>
              <a:rPr lang="en-US" sz="1300" b="1" dirty="0">
                <a:solidFill>
                  <a:schemeClr val="accent3"/>
                </a:solidFill>
              </a:rPr>
              <a:t>2017-2026</a:t>
            </a:r>
            <a:endParaRPr lang="en-US" sz="1300" dirty="0"/>
          </a:p>
        </p:txBody>
      </p:sp>
      <p:sp>
        <p:nvSpPr>
          <p:cNvPr id="20" name="h3"/>
          <p:cNvSpPr txBox="1"/>
          <p:nvPr/>
        </p:nvSpPr>
        <p:spPr>
          <a:xfrm>
            <a:off x="6766560" y="2148840"/>
            <a:ext cx="1920240" cy="640080"/>
          </a:xfrm>
          <a:prstGeom prst="rect">
            <a:avLst/>
          </a:prstGeom>
          <a:noFill/>
          <a:ln/>
        </p:spPr>
        <p:txBody>
          <a:bodyPr wrap="square" lIns="0" tIns="0" rIns="0" bIns="0" rtlCol="0" anchor="t"/>
          <a:lstStyle/>
          <a:p>
            <a:pPr algn="ctr" indent="0" marL="0">
              <a:buNone/>
            </a:pPr>
            <a:r>
              <a:rPr lang="en-US" sz="1200" b="1" dirty="0">
                <a:solidFill>
                  <a:schemeClr val="tx1"/>
                </a:solidFill>
              </a:rPr>
              <a:t>Inteligencia artificial y justicia digital</a:t>
            </a:r>
            <a:endParaRPr lang="en-US" sz="1200" dirty="0"/>
          </a:p>
        </p:txBody>
      </p:sp>
      <p:sp>
        <p:nvSpPr>
          <p:cNvPr id="21" name="b3"/>
          <p:cNvSpPr txBox="1"/>
          <p:nvPr/>
        </p:nvSpPr>
        <p:spPr>
          <a:xfrm>
            <a:off x="6766560" y="2834640"/>
            <a:ext cx="1920240" cy="1463040"/>
          </a:xfrm>
          <a:prstGeom prst="rect">
            <a:avLst/>
          </a:prstGeom>
          <a:noFill/>
          <a:ln/>
        </p:spPr>
        <p:txBody>
          <a:bodyPr wrap="square" lIns="0" tIns="0" rIns="0" bIns="0" rtlCol="0" anchor="t"/>
          <a:lstStyle/>
          <a:p>
            <a:pPr algn="ctr" indent="0" marL="0">
              <a:buNone/>
            </a:pPr>
            <a:r>
              <a:rPr lang="en-US" sz="1050" dirty="0">
                <a:solidFill>
                  <a:schemeClr val="tx2"/>
                </a:solidFill>
              </a:rPr>
              <a:t>Principios OCDE (2019); Recomendación UNESCO (2021); Reglamento europeo de IA (2024).</a:t>
            </a:r>
            <a:endParaRPr lang="en-US" sz="1050" dirty="0"/>
          </a:p>
        </p:txBody>
      </p:sp>
      <p:sp>
        <p:nvSpPr>
          <p:cNvPr id="22" name="cierre"/>
          <p:cNvSpPr txBox="1"/>
          <p:nvPr/>
        </p:nvSpPr>
        <p:spPr>
          <a:xfrm>
            <a:off x="457200" y="4297680"/>
            <a:ext cx="8229600" cy="411480"/>
          </a:xfrm>
          <a:prstGeom prst="rect">
            <a:avLst/>
          </a:prstGeom>
          <a:noFill/>
          <a:ln/>
        </p:spPr>
        <p:txBody>
          <a:bodyPr wrap="square" lIns="0" tIns="0" rIns="0" bIns="0" rtlCol="0" anchor="ctr"/>
          <a:lstStyle/>
          <a:p>
            <a:pPr indent="0" marL="0">
              <a:buNone/>
            </a:pPr>
            <a:r>
              <a:rPr lang="en-US" sz="1150" i="1" dirty="0">
                <a:solidFill>
                  <a:schemeClr val="accent1"/>
                </a:solidFill>
              </a:rPr>
              <a:t>La pregunta cambia: de quién controla la información, a qué vale lo electrónico, a qué conductas son delito, a quién responde por la decisión de una máquina.</a:t>
            </a:r>
            <a:endParaRPr lang="en-US" sz="11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949440" cy="731520"/>
          </a:xfrm>
          <a:prstGeom prst="rect">
            <a:avLst/>
          </a:prstGeom>
          <a:noFill/>
          <a:ln/>
        </p:spPr>
        <p:txBody>
          <a:bodyPr wrap="square" lIns="0" tIns="0" rIns="0" bIns="0" rtlCol="0" anchor="ctr"/>
          <a:lstStyle/>
          <a:p>
            <a:pPr algn="l" indent="0" marL="0">
              <a:buNone/>
            </a:pPr>
            <a:r>
              <a:rPr lang="en-US" sz="2400" b="1" dirty="0">
                <a:solidFill>
                  <a:schemeClr val="tx1"/>
                </a:solidFill>
              </a:rPr>
              <a:t>Hitos colombianos (1991-2026)</a:t>
            </a:r>
            <a:endParaRPr lang="en-US" sz="2400" dirty="0"/>
          </a:p>
        </p:txBody>
      </p:sp>
      <p:sp>
        <p:nvSpPr>
          <p:cNvPr id="3" name="bloque"/>
          <p:cNvSpPr txBox="1"/>
          <p:nvPr/>
        </p:nvSpPr>
        <p:spPr>
          <a:xfrm>
            <a:off x="7498080" y="411480"/>
            <a:ext cx="1188720" cy="292608"/>
          </a:xfrm>
          <a:prstGeom prst="rect">
            <a:avLst/>
          </a:prstGeom>
          <a:solidFill>
            <a:schemeClr val="accent1"/>
          </a:solidFill>
          <a:ln/>
        </p:spPr>
        <p:txBody>
          <a:bodyPr wrap="square" lIns="0" tIns="0" rIns="0" bIns="0" rtlCol="0" anchor="ctr"/>
          <a:lstStyle/>
          <a:p>
            <a:pPr algn="ctr" indent="0" marL="0">
              <a:buNone/>
            </a:pPr>
            <a:r>
              <a:rPr lang="en-US" sz="900" b="1" dirty="0">
                <a:solidFill>
                  <a:schemeClr val="bg1"/>
                </a:solidFill>
              </a:rPr>
              <a:t>EVOLUCIÓN 25-45</a:t>
            </a:r>
            <a:endParaRPr lang="en-US" sz="900" dirty="0"/>
          </a:p>
        </p:txBody>
      </p:sp>
      <p:sp>
        <p:nvSpPr>
          <p:cNvPr id="5" name="tl2"/>
          <p:cNvSpPr/>
          <p:nvPr/>
        </p:nvSpPr>
        <p:spPr>
          <a:xfrm>
            <a:off x="640080" y="2514600"/>
            <a:ext cx="7863840" cy="0"/>
          </a:xfrm>
          <a:prstGeom prst="line">
            <a:avLst/>
          </a:prstGeom>
          <a:noFill/>
          <a:ln w="25400">
            <a:solidFill>
              <a:schemeClr val="accent6"/>
            </a:solidFill>
            <a:prstDash val="solid"/>
          </a:ln>
        </p:spPr>
      </p:sp>
      <p:sp>
        <p:nvSpPr>
          <p:cNvPr id="6" name="hd0"/>
          <p:cNvSpPr/>
          <p:nvPr/>
        </p:nvSpPr>
        <p:spPr>
          <a:xfrm>
            <a:off x="749808" y="2377440"/>
            <a:ext cx="274320" cy="274320"/>
          </a:xfrm>
          <a:prstGeom prst="ellipse">
            <a:avLst/>
          </a:prstGeom>
          <a:solidFill>
            <a:schemeClr val="accent1"/>
          </a:solidFill>
          <a:ln w="12700">
            <a:solidFill>
              <a:schemeClr val="accent1"/>
            </a:solidFill>
            <a:prstDash val="solid"/>
          </a:ln>
        </p:spPr>
      </p:sp>
      <p:sp>
        <p:nvSpPr>
          <p:cNvPr id="7" name="ha0"/>
          <p:cNvSpPr txBox="1"/>
          <p:nvPr/>
        </p:nvSpPr>
        <p:spPr>
          <a:xfrm>
            <a:off x="411480" y="1234440"/>
            <a:ext cx="960120" cy="320040"/>
          </a:xfrm>
          <a:prstGeom prst="rect">
            <a:avLst/>
          </a:prstGeom>
          <a:noFill/>
          <a:ln/>
        </p:spPr>
        <p:txBody>
          <a:bodyPr wrap="square" lIns="0" tIns="0" rIns="0" bIns="0" rtlCol="0" anchor="ctr"/>
          <a:lstStyle/>
          <a:p>
            <a:pPr algn="ctr" indent="0" marL="0">
              <a:buNone/>
            </a:pPr>
            <a:r>
              <a:rPr lang="en-US" sz="1200" b="1" dirty="0">
                <a:solidFill>
                  <a:schemeClr val="tx1"/>
                </a:solidFill>
              </a:rPr>
              <a:t>1991</a:t>
            </a:r>
            <a:endParaRPr lang="en-US" sz="1200" dirty="0"/>
          </a:p>
        </p:txBody>
      </p:sp>
      <p:sp>
        <p:nvSpPr>
          <p:cNvPr id="8" name="ht0"/>
          <p:cNvSpPr txBox="1"/>
          <p:nvPr/>
        </p:nvSpPr>
        <p:spPr>
          <a:xfrm>
            <a:off x="365760" y="1554480"/>
            <a:ext cx="1051560" cy="777240"/>
          </a:xfrm>
          <a:prstGeom prst="rect">
            <a:avLst/>
          </a:prstGeom>
          <a:noFill/>
          <a:ln/>
        </p:spPr>
        <p:txBody>
          <a:bodyPr wrap="square" lIns="0" tIns="0" rIns="0" bIns="0" rtlCol="0" anchor="t"/>
          <a:lstStyle/>
          <a:p>
            <a:pPr algn="ctr" indent="0" marL="0">
              <a:buNone/>
            </a:pPr>
            <a:r>
              <a:rPr lang="en-US" sz="950" dirty="0">
                <a:solidFill>
                  <a:schemeClr val="tx2"/>
                </a:solidFill>
              </a:rPr>
              <a:t>Art. 15 C.P.: habeas data</a:t>
            </a:r>
            <a:endParaRPr lang="en-US" sz="950" dirty="0"/>
          </a:p>
        </p:txBody>
      </p:sp>
      <p:sp>
        <p:nvSpPr>
          <p:cNvPr id="9" name="hd1"/>
          <p:cNvSpPr/>
          <p:nvPr/>
        </p:nvSpPr>
        <p:spPr>
          <a:xfrm>
            <a:off x="1792224" y="2377440"/>
            <a:ext cx="274320" cy="274320"/>
          </a:xfrm>
          <a:prstGeom prst="ellipse">
            <a:avLst/>
          </a:prstGeom>
          <a:solidFill>
            <a:schemeClr val="accent3"/>
          </a:solidFill>
          <a:ln w="12700">
            <a:solidFill>
              <a:schemeClr val="accent3"/>
            </a:solidFill>
            <a:prstDash val="solid"/>
          </a:ln>
        </p:spPr>
      </p:sp>
      <p:sp>
        <p:nvSpPr>
          <p:cNvPr id="10" name="ha1"/>
          <p:cNvSpPr txBox="1"/>
          <p:nvPr/>
        </p:nvSpPr>
        <p:spPr>
          <a:xfrm>
            <a:off x="1453896" y="2788920"/>
            <a:ext cx="960120" cy="320040"/>
          </a:xfrm>
          <a:prstGeom prst="rect">
            <a:avLst/>
          </a:prstGeom>
          <a:noFill/>
          <a:ln/>
        </p:spPr>
        <p:txBody>
          <a:bodyPr wrap="square" lIns="0" tIns="0" rIns="0" bIns="0" rtlCol="0" anchor="ctr"/>
          <a:lstStyle/>
          <a:p>
            <a:pPr algn="ctr" indent="0" marL="0">
              <a:buNone/>
            </a:pPr>
            <a:r>
              <a:rPr lang="en-US" sz="1200" b="1" dirty="0">
                <a:solidFill>
                  <a:schemeClr val="tx1"/>
                </a:solidFill>
              </a:rPr>
              <a:t>1992</a:t>
            </a:r>
            <a:endParaRPr lang="en-US" sz="1200" dirty="0"/>
          </a:p>
        </p:txBody>
      </p:sp>
      <p:sp>
        <p:nvSpPr>
          <p:cNvPr id="11" name="ht1"/>
          <p:cNvSpPr txBox="1"/>
          <p:nvPr/>
        </p:nvSpPr>
        <p:spPr>
          <a:xfrm>
            <a:off x="1408176" y="3108960"/>
            <a:ext cx="1051560" cy="777240"/>
          </a:xfrm>
          <a:prstGeom prst="rect">
            <a:avLst/>
          </a:prstGeom>
          <a:noFill/>
          <a:ln/>
        </p:spPr>
        <p:txBody>
          <a:bodyPr wrap="square" lIns="0" tIns="0" rIns="0" bIns="0" rtlCol="0" anchor="t"/>
          <a:lstStyle/>
          <a:p>
            <a:pPr algn="ctr" indent="0" marL="0">
              <a:buNone/>
            </a:pPr>
            <a:r>
              <a:rPr lang="en-US" sz="950" dirty="0">
                <a:solidFill>
                  <a:schemeClr val="tx2"/>
                </a:solidFill>
              </a:rPr>
              <a:t>T-414/92: libertad informática</a:t>
            </a:r>
            <a:endParaRPr lang="en-US" sz="950" dirty="0"/>
          </a:p>
        </p:txBody>
      </p:sp>
      <p:sp>
        <p:nvSpPr>
          <p:cNvPr id="12" name="hd2"/>
          <p:cNvSpPr/>
          <p:nvPr/>
        </p:nvSpPr>
        <p:spPr>
          <a:xfrm>
            <a:off x="2834640" y="2377440"/>
            <a:ext cx="274320" cy="274320"/>
          </a:xfrm>
          <a:prstGeom prst="ellipse">
            <a:avLst/>
          </a:prstGeom>
          <a:solidFill>
            <a:schemeClr val="accent1"/>
          </a:solidFill>
          <a:ln w="12700">
            <a:solidFill>
              <a:schemeClr val="accent1"/>
            </a:solidFill>
            <a:prstDash val="solid"/>
          </a:ln>
        </p:spPr>
      </p:sp>
      <p:sp>
        <p:nvSpPr>
          <p:cNvPr id="13" name="ha2"/>
          <p:cNvSpPr txBox="1"/>
          <p:nvPr/>
        </p:nvSpPr>
        <p:spPr>
          <a:xfrm>
            <a:off x="2496312" y="1234440"/>
            <a:ext cx="960120" cy="320040"/>
          </a:xfrm>
          <a:prstGeom prst="rect">
            <a:avLst/>
          </a:prstGeom>
          <a:noFill/>
          <a:ln/>
        </p:spPr>
        <p:txBody>
          <a:bodyPr wrap="square" lIns="0" tIns="0" rIns="0" bIns="0" rtlCol="0" anchor="ctr"/>
          <a:lstStyle/>
          <a:p>
            <a:pPr algn="ctr" indent="0" marL="0">
              <a:buNone/>
            </a:pPr>
            <a:r>
              <a:rPr lang="en-US" sz="1200" b="1" dirty="0">
                <a:solidFill>
                  <a:schemeClr val="tx1"/>
                </a:solidFill>
              </a:rPr>
              <a:t>1999</a:t>
            </a:r>
            <a:endParaRPr lang="en-US" sz="1200" dirty="0"/>
          </a:p>
        </p:txBody>
      </p:sp>
      <p:sp>
        <p:nvSpPr>
          <p:cNvPr id="14" name="ht2"/>
          <p:cNvSpPr txBox="1"/>
          <p:nvPr/>
        </p:nvSpPr>
        <p:spPr>
          <a:xfrm>
            <a:off x="2450592" y="1554480"/>
            <a:ext cx="1051560" cy="777240"/>
          </a:xfrm>
          <a:prstGeom prst="rect">
            <a:avLst/>
          </a:prstGeom>
          <a:noFill/>
          <a:ln/>
        </p:spPr>
        <p:txBody>
          <a:bodyPr wrap="square" lIns="0" tIns="0" rIns="0" bIns="0" rtlCol="0" anchor="t"/>
          <a:lstStyle/>
          <a:p>
            <a:pPr algn="ctr" indent="0" marL="0">
              <a:buNone/>
            </a:pPr>
            <a:r>
              <a:rPr lang="en-US" sz="950" dirty="0">
                <a:solidFill>
                  <a:schemeClr val="tx2"/>
                </a:solidFill>
              </a:rPr>
              <a:t>Ley 527: mensajes de datos</a:t>
            </a:r>
            <a:endParaRPr lang="en-US" sz="950" dirty="0"/>
          </a:p>
        </p:txBody>
      </p:sp>
      <p:sp>
        <p:nvSpPr>
          <p:cNvPr id="15" name="hd3"/>
          <p:cNvSpPr/>
          <p:nvPr/>
        </p:nvSpPr>
        <p:spPr>
          <a:xfrm>
            <a:off x="3877056" y="2377440"/>
            <a:ext cx="274320" cy="274320"/>
          </a:xfrm>
          <a:prstGeom prst="ellipse">
            <a:avLst/>
          </a:prstGeom>
          <a:solidFill>
            <a:schemeClr val="accent1"/>
          </a:solidFill>
          <a:ln w="12700">
            <a:solidFill>
              <a:schemeClr val="accent1"/>
            </a:solidFill>
            <a:prstDash val="solid"/>
          </a:ln>
        </p:spPr>
      </p:sp>
      <p:sp>
        <p:nvSpPr>
          <p:cNvPr id="16" name="ha3"/>
          <p:cNvSpPr txBox="1"/>
          <p:nvPr/>
        </p:nvSpPr>
        <p:spPr>
          <a:xfrm>
            <a:off x="3538728" y="2788920"/>
            <a:ext cx="960120" cy="320040"/>
          </a:xfrm>
          <a:prstGeom prst="rect">
            <a:avLst/>
          </a:prstGeom>
          <a:noFill/>
          <a:ln/>
        </p:spPr>
        <p:txBody>
          <a:bodyPr wrap="square" lIns="0" tIns="0" rIns="0" bIns="0" rtlCol="0" anchor="ctr"/>
          <a:lstStyle/>
          <a:p>
            <a:pPr algn="ctr" indent="0" marL="0">
              <a:buNone/>
            </a:pPr>
            <a:r>
              <a:rPr lang="en-US" sz="1200" b="1" dirty="0">
                <a:solidFill>
                  <a:schemeClr val="tx1"/>
                </a:solidFill>
              </a:rPr>
              <a:t>2008</a:t>
            </a:r>
            <a:endParaRPr lang="en-US" sz="1200" dirty="0"/>
          </a:p>
        </p:txBody>
      </p:sp>
      <p:sp>
        <p:nvSpPr>
          <p:cNvPr id="17" name="ht3"/>
          <p:cNvSpPr txBox="1"/>
          <p:nvPr/>
        </p:nvSpPr>
        <p:spPr>
          <a:xfrm>
            <a:off x="3493008" y="3108960"/>
            <a:ext cx="1051560" cy="777240"/>
          </a:xfrm>
          <a:prstGeom prst="rect">
            <a:avLst/>
          </a:prstGeom>
          <a:noFill/>
          <a:ln/>
        </p:spPr>
        <p:txBody>
          <a:bodyPr wrap="square" lIns="0" tIns="0" rIns="0" bIns="0" rtlCol="0" anchor="t"/>
          <a:lstStyle/>
          <a:p>
            <a:pPr algn="ctr" indent="0" marL="0">
              <a:buNone/>
            </a:pPr>
            <a:r>
              <a:rPr lang="en-US" sz="950" dirty="0">
                <a:solidFill>
                  <a:schemeClr val="tx2"/>
                </a:solidFill>
              </a:rPr>
              <a:t>Ley 1266: habeas data financiero</a:t>
            </a:r>
            <a:endParaRPr lang="en-US" sz="950" dirty="0"/>
          </a:p>
        </p:txBody>
      </p:sp>
      <p:sp>
        <p:nvSpPr>
          <p:cNvPr id="18" name="hd4"/>
          <p:cNvSpPr/>
          <p:nvPr/>
        </p:nvSpPr>
        <p:spPr>
          <a:xfrm>
            <a:off x="4919472" y="2377440"/>
            <a:ext cx="274320" cy="274320"/>
          </a:xfrm>
          <a:prstGeom prst="ellipse">
            <a:avLst/>
          </a:prstGeom>
          <a:solidFill>
            <a:schemeClr val="accent1"/>
          </a:solidFill>
          <a:ln w="12700">
            <a:solidFill>
              <a:schemeClr val="accent1"/>
            </a:solidFill>
            <a:prstDash val="solid"/>
          </a:ln>
        </p:spPr>
      </p:sp>
      <p:sp>
        <p:nvSpPr>
          <p:cNvPr id="19" name="ha4"/>
          <p:cNvSpPr txBox="1"/>
          <p:nvPr/>
        </p:nvSpPr>
        <p:spPr>
          <a:xfrm>
            <a:off x="4581144" y="1234440"/>
            <a:ext cx="960120" cy="320040"/>
          </a:xfrm>
          <a:prstGeom prst="rect">
            <a:avLst/>
          </a:prstGeom>
          <a:noFill/>
          <a:ln/>
        </p:spPr>
        <p:txBody>
          <a:bodyPr wrap="square" lIns="0" tIns="0" rIns="0" bIns="0" rtlCol="0" anchor="ctr"/>
          <a:lstStyle/>
          <a:p>
            <a:pPr algn="ctr" indent="0" marL="0">
              <a:buNone/>
            </a:pPr>
            <a:r>
              <a:rPr lang="en-US" sz="1200" b="1" dirty="0">
                <a:solidFill>
                  <a:schemeClr val="tx1"/>
                </a:solidFill>
              </a:rPr>
              <a:t>2009</a:t>
            </a:r>
            <a:endParaRPr lang="en-US" sz="1200" dirty="0"/>
          </a:p>
        </p:txBody>
      </p:sp>
      <p:sp>
        <p:nvSpPr>
          <p:cNvPr id="20" name="ht4"/>
          <p:cNvSpPr txBox="1"/>
          <p:nvPr/>
        </p:nvSpPr>
        <p:spPr>
          <a:xfrm>
            <a:off x="4535424" y="1554480"/>
            <a:ext cx="1051560" cy="777240"/>
          </a:xfrm>
          <a:prstGeom prst="rect">
            <a:avLst/>
          </a:prstGeom>
          <a:noFill/>
          <a:ln/>
        </p:spPr>
        <p:txBody>
          <a:bodyPr wrap="square" lIns="0" tIns="0" rIns="0" bIns="0" rtlCol="0" anchor="t"/>
          <a:lstStyle/>
          <a:p>
            <a:pPr algn="ctr" indent="0" marL="0">
              <a:buNone/>
            </a:pPr>
            <a:r>
              <a:rPr lang="en-US" sz="950" dirty="0">
                <a:solidFill>
                  <a:schemeClr val="tx2"/>
                </a:solidFill>
              </a:rPr>
              <a:t>Ley 1273: delitos informáticos</a:t>
            </a:r>
            <a:endParaRPr lang="en-US" sz="950" dirty="0"/>
          </a:p>
        </p:txBody>
      </p:sp>
      <p:sp>
        <p:nvSpPr>
          <p:cNvPr id="21" name="hd5"/>
          <p:cNvSpPr/>
          <p:nvPr/>
        </p:nvSpPr>
        <p:spPr>
          <a:xfrm>
            <a:off x="5961888" y="2377440"/>
            <a:ext cx="274320" cy="274320"/>
          </a:xfrm>
          <a:prstGeom prst="ellipse">
            <a:avLst/>
          </a:prstGeom>
          <a:solidFill>
            <a:schemeClr val="accent1"/>
          </a:solidFill>
          <a:ln w="12700">
            <a:solidFill>
              <a:schemeClr val="accent1"/>
            </a:solidFill>
            <a:prstDash val="solid"/>
          </a:ln>
        </p:spPr>
      </p:sp>
      <p:sp>
        <p:nvSpPr>
          <p:cNvPr id="22" name="ha5"/>
          <p:cNvSpPr txBox="1"/>
          <p:nvPr/>
        </p:nvSpPr>
        <p:spPr>
          <a:xfrm>
            <a:off x="5623560" y="2788920"/>
            <a:ext cx="960120" cy="320040"/>
          </a:xfrm>
          <a:prstGeom prst="rect">
            <a:avLst/>
          </a:prstGeom>
          <a:noFill/>
          <a:ln/>
        </p:spPr>
        <p:txBody>
          <a:bodyPr wrap="square" lIns="0" tIns="0" rIns="0" bIns="0" rtlCol="0" anchor="ctr"/>
          <a:lstStyle/>
          <a:p>
            <a:pPr algn="ctr" indent="0" marL="0">
              <a:buNone/>
            </a:pPr>
            <a:r>
              <a:rPr lang="en-US" sz="1200" b="1" dirty="0">
                <a:solidFill>
                  <a:schemeClr val="tx1"/>
                </a:solidFill>
              </a:rPr>
              <a:t>2012</a:t>
            </a:r>
            <a:endParaRPr lang="en-US" sz="1200" dirty="0"/>
          </a:p>
        </p:txBody>
      </p:sp>
      <p:sp>
        <p:nvSpPr>
          <p:cNvPr id="23" name="ht5"/>
          <p:cNvSpPr txBox="1"/>
          <p:nvPr/>
        </p:nvSpPr>
        <p:spPr>
          <a:xfrm>
            <a:off x="5577840" y="3108960"/>
            <a:ext cx="1051560" cy="777240"/>
          </a:xfrm>
          <a:prstGeom prst="rect">
            <a:avLst/>
          </a:prstGeom>
          <a:noFill/>
          <a:ln/>
        </p:spPr>
        <p:txBody>
          <a:bodyPr wrap="square" lIns="0" tIns="0" rIns="0" bIns="0" rtlCol="0" anchor="t"/>
          <a:lstStyle/>
          <a:p>
            <a:pPr algn="ctr" indent="0" marL="0">
              <a:buNone/>
            </a:pPr>
            <a:r>
              <a:rPr lang="en-US" sz="950" dirty="0">
                <a:solidFill>
                  <a:schemeClr val="tx2"/>
                </a:solidFill>
              </a:rPr>
              <a:t>Ley 1581 (C-748/11): datos</a:t>
            </a:r>
            <a:endParaRPr lang="en-US" sz="950" dirty="0"/>
          </a:p>
        </p:txBody>
      </p:sp>
      <p:sp>
        <p:nvSpPr>
          <p:cNvPr id="24" name="hd6"/>
          <p:cNvSpPr/>
          <p:nvPr/>
        </p:nvSpPr>
        <p:spPr>
          <a:xfrm>
            <a:off x="7004304" y="2377440"/>
            <a:ext cx="274320" cy="274320"/>
          </a:xfrm>
          <a:prstGeom prst="ellipse">
            <a:avLst/>
          </a:prstGeom>
          <a:solidFill>
            <a:schemeClr val="accent1"/>
          </a:solidFill>
          <a:ln w="12700">
            <a:solidFill>
              <a:schemeClr val="accent1"/>
            </a:solidFill>
            <a:prstDash val="solid"/>
          </a:ln>
        </p:spPr>
      </p:sp>
      <p:sp>
        <p:nvSpPr>
          <p:cNvPr id="25" name="ha6"/>
          <p:cNvSpPr txBox="1"/>
          <p:nvPr/>
        </p:nvSpPr>
        <p:spPr>
          <a:xfrm>
            <a:off x="6665976" y="1234440"/>
            <a:ext cx="960120" cy="320040"/>
          </a:xfrm>
          <a:prstGeom prst="rect">
            <a:avLst/>
          </a:prstGeom>
          <a:noFill/>
          <a:ln/>
        </p:spPr>
        <p:txBody>
          <a:bodyPr wrap="square" lIns="0" tIns="0" rIns="0" bIns="0" rtlCol="0" anchor="ctr"/>
          <a:lstStyle/>
          <a:p>
            <a:pPr algn="ctr" indent="0" marL="0">
              <a:buNone/>
            </a:pPr>
            <a:r>
              <a:rPr lang="en-US" sz="1200" b="1" dirty="0">
                <a:solidFill>
                  <a:schemeClr val="tx1"/>
                </a:solidFill>
              </a:rPr>
              <a:t>2022</a:t>
            </a:r>
            <a:endParaRPr lang="en-US" sz="1200" dirty="0"/>
          </a:p>
        </p:txBody>
      </p:sp>
      <p:sp>
        <p:nvSpPr>
          <p:cNvPr id="26" name="ht6"/>
          <p:cNvSpPr txBox="1"/>
          <p:nvPr/>
        </p:nvSpPr>
        <p:spPr>
          <a:xfrm>
            <a:off x="6620256" y="1554480"/>
            <a:ext cx="1051560" cy="777240"/>
          </a:xfrm>
          <a:prstGeom prst="rect">
            <a:avLst/>
          </a:prstGeom>
          <a:noFill/>
          <a:ln/>
        </p:spPr>
        <p:txBody>
          <a:bodyPr wrap="square" lIns="0" tIns="0" rIns="0" bIns="0" rtlCol="0" anchor="t"/>
          <a:lstStyle/>
          <a:p>
            <a:pPr algn="ctr" indent="0" marL="0">
              <a:buNone/>
            </a:pPr>
            <a:r>
              <a:rPr lang="en-US" sz="950" dirty="0">
                <a:solidFill>
                  <a:schemeClr val="tx2"/>
                </a:solidFill>
              </a:rPr>
              <a:t>Ley 2213: justicia digital</a:t>
            </a:r>
            <a:endParaRPr lang="en-US" sz="950" dirty="0"/>
          </a:p>
        </p:txBody>
      </p:sp>
      <p:sp>
        <p:nvSpPr>
          <p:cNvPr id="27" name="hd7"/>
          <p:cNvSpPr/>
          <p:nvPr/>
        </p:nvSpPr>
        <p:spPr>
          <a:xfrm>
            <a:off x="8046720" y="2377440"/>
            <a:ext cx="274320" cy="274320"/>
          </a:xfrm>
          <a:prstGeom prst="ellipse">
            <a:avLst/>
          </a:prstGeom>
          <a:solidFill>
            <a:schemeClr val="accent1"/>
          </a:solidFill>
          <a:ln w="12700">
            <a:solidFill>
              <a:schemeClr val="accent1"/>
            </a:solidFill>
            <a:prstDash val="solid"/>
          </a:ln>
        </p:spPr>
      </p:sp>
      <p:sp>
        <p:nvSpPr>
          <p:cNvPr id="28" name="ha7"/>
          <p:cNvSpPr txBox="1"/>
          <p:nvPr/>
        </p:nvSpPr>
        <p:spPr>
          <a:xfrm>
            <a:off x="7708392" y="2788920"/>
            <a:ext cx="960120" cy="320040"/>
          </a:xfrm>
          <a:prstGeom prst="rect">
            <a:avLst/>
          </a:prstGeom>
          <a:noFill/>
          <a:ln/>
        </p:spPr>
        <p:txBody>
          <a:bodyPr wrap="square" lIns="0" tIns="0" rIns="0" bIns="0" rtlCol="0" anchor="ctr"/>
          <a:lstStyle/>
          <a:p>
            <a:pPr algn="ctr" indent="0" marL="0">
              <a:buNone/>
            </a:pPr>
            <a:r>
              <a:rPr lang="en-US" sz="1200" b="1" dirty="0">
                <a:solidFill>
                  <a:schemeClr val="tx1"/>
                </a:solidFill>
              </a:rPr>
              <a:t>2024-26</a:t>
            </a:r>
            <a:endParaRPr lang="en-US" sz="1200" dirty="0"/>
          </a:p>
        </p:txBody>
      </p:sp>
      <p:sp>
        <p:nvSpPr>
          <p:cNvPr id="29" name="ht7"/>
          <p:cNvSpPr txBox="1"/>
          <p:nvPr/>
        </p:nvSpPr>
        <p:spPr>
          <a:xfrm>
            <a:off x="7662672" y="3108960"/>
            <a:ext cx="1051560" cy="777240"/>
          </a:xfrm>
          <a:prstGeom prst="rect">
            <a:avLst/>
          </a:prstGeom>
          <a:noFill/>
          <a:ln/>
        </p:spPr>
        <p:txBody>
          <a:bodyPr wrap="square" lIns="0" tIns="0" rIns="0" bIns="0" rtlCol="0" anchor="t"/>
          <a:lstStyle/>
          <a:p>
            <a:pPr algn="ctr" indent="0" marL="0">
              <a:buNone/>
            </a:pPr>
            <a:r>
              <a:rPr lang="en-US" sz="950" dirty="0">
                <a:solidFill>
                  <a:schemeClr val="tx2"/>
                </a:solidFill>
              </a:rPr>
              <a:t>T-323/24 · Circular SIC 002 · CONPES 4144</a:t>
            </a:r>
            <a:endParaRPr lang="en-US" sz="950" dirty="0"/>
          </a:p>
        </p:txBody>
      </p:sp>
      <p:sp>
        <p:nvSpPr>
          <p:cNvPr id="30" name="hito"/>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200" b="1" dirty="0">
                <a:solidFill>
                  <a:schemeClr val="accent3"/>
                </a:solidFill>
              </a:rPr>
              <a:t>Sentencia hito de la sesión: Sentencia T-323 de 2024 (M.P. Juan Carlos Cortés González)</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949440" cy="731520"/>
          </a:xfrm>
          <a:prstGeom prst="rect">
            <a:avLst/>
          </a:prstGeom>
          <a:noFill/>
          <a:ln/>
        </p:spPr>
        <p:txBody>
          <a:bodyPr wrap="square" lIns="0" tIns="0" rIns="0" bIns="0" rtlCol="0" anchor="ctr"/>
          <a:lstStyle/>
          <a:p>
            <a:pPr algn="l" indent="0" marL="0">
              <a:buNone/>
            </a:pPr>
            <a:r>
              <a:rPr lang="en-US" sz="2400" b="1" dirty="0">
                <a:solidFill>
                  <a:schemeClr val="tx1"/>
                </a:solidFill>
              </a:rPr>
              <a:t>Objeto: tres grupos de relaciones</a:t>
            </a:r>
            <a:endParaRPr lang="en-US" sz="2400" dirty="0"/>
          </a:p>
        </p:txBody>
      </p:sp>
      <p:sp>
        <p:nvSpPr>
          <p:cNvPr id="3" name="bloque"/>
          <p:cNvSpPr txBox="1"/>
          <p:nvPr/>
        </p:nvSpPr>
        <p:spPr>
          <a:xfrm>
            <a:off x="7498080" y="411480"/>
            <a:ext cx="1188720" cy="292608"/>
          </a:xfrm>
          <a:prstGeom prst="rect">
            <a:avLst/>
          </a:prstGeom>
          <a:solidFill>
            <a:schemeClr val="accent1"/>
          </a:solidFill>
          <a:ln/>
        </p:spPr>
        <p:txBody>
          <a:bodyPr wrap="square" lIns="0" tIns="0" rIns="0" bIns="0" rtlCol="0" anchor="ctr"/>
          <a:lstStyle/>
          <a:p>
            <a:pPr algn="ctr" indent="0" marL="0">
              <a:buNone/>
            </a:pPr>
            <a:r>
              <a:rPr lang="en-US" sz="900" b="1" dirty="0">
                <a:solidFill>
                  <a:schemeClr val="bg1"/>
                </a:solidFill>
              </a:rPr>
              <a:t>OBJETO 25-45</a:t>
            </a:r>
            <a:endParaRPr lang="en-US" sz="900" dirty="0"/>
          </a:p>
        </p:txBody>
      </p:sp>
      <p:sp>
        <p:nvSpPr>
          <p:cNvPr id="5" name="card La información sobre las personas"/>
          <p:cNvSpPr/>
          <p:nvPr/>
        </p:nvSpPr>
        <p:spPr>
          <a:xfrm>
            <a:off x="457200" y="1234440"/>
            <a:ext cx="2651760" cy="2011680"/>
          </a:xfrm>
          <a:prstGeom prst="roundRect">
            <a:avLst>
              <a:gd name="adj" fmla="val 3636"/>
            </a:avLst>
          </a:prstGeom>
          <a:solidFill>
            <a:schemeClr val="bg2"/>
          </a:solidFill>
          <a:ln w="12700">
            <a:solidFill>
              <a:schemeClr val="bg2"/>
            </a:solidFill>
            <a:prstDash val="solid"/>
          </a:ln>
        </p:spPr>
      </p:sp>
      <p:sp>
        <p:nvSpPr>
          <p:cNvPr id="6" name="num La información sobre las personas"/>
          <p:cNvSpPr/>
          <p:nvPr/>
        </p:nvSpPr>
        <p:spPr>
          <a:xfrm>
            <a:off x="594360" y="1371600"/>
            <a:ext cx="384048" cy="384048"/>
          </a:xfrm>
          <a:prstGeom prst="ellipse">
            <a:avLst/>
          </a:prstGeom>
          <a:solidFill>
            <a:schemeClr val="accent1"/>
          </a:solidFill>
          <a:ln w="12700">
            <a:solidFill>
              <a:schemeClr val="accent1"/>
            </a:solidFill>
            <a:prstDash val="solid"/>
          </a:ln>
        </p:spPr>
      </p:sp>
      <p:sp>
        <p:nvSpPr>
          <p:cNvPr id="7" name="numtxt La información sobre las personas"/>
          <p:cNvSpPr txBox="1"/>
          <p:nvPr/>
        </p:nvSpPr>
        <p:spPr>
          <a:xfrm>
            <a:off x="594360" y="137160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head La información sobre las personas"/>
          <p:cNvSpPr txBox="1"/>
          <p:nvPr/>
        </p:nvSpPr>
        <p:spPr>
          <a:xfrm>
            <a:off x="1078992" y="1325880"/>
            <a:ext cx="1892808" cy="411480"/>
          </a:xfrm>
          <a:prstGeom prst="rect">
            <a:avLst/>
          </a:prstGeom>
          <a:noFill/>
          <a:ln/>
        </p:spPr>
        <p:txBody>
          <a:bodyPr wrap="square" lIns="0" tIns="0" rIns="0" bIns="0" rtlCol="0" anchor="ctr"/>
          <a:lstStyle/>
          <a:p>
            <a:pPr indent="0" marL="0">
              <a:buNone/>
            </a:pPr>
            <a:r>
              <a:rPr lang="en-US" sz="1300" b="1" dirty="0">
                <a:solidFill>
                  <a:schemeClr val="tx1"/>
                </a:solidFill>
              </a:rPr>
              <a:t>La información sobre las personas</a:t>
            </a:r>
            <a:endParaRPr lang="en-US" sz="1300" dirty="0"/>
          </a:p>
        </p:txBody>
      </p:sp>
      <p:sp>
        <p:nvSpPr>
          <p:cNvPr id="9" name="body La información sobre las personas"/>
          <p:cNvSpPr txBox="1"/>
          <p:nvPr/>
        </p:nvSpPr>
        <p:spPr>
          <a:xfrm>
            <a:off x="621792" y="1764792"/>
            <a:ext cx="2322576" cy="1389888"/>
          </a:xfrm>
          <a:prstGeom prst="rect">
            <a:avLst/>
          </a:prstGeom>
          <a:noFill/>
          <a:ln/>
        </p:spPr>
        <p:txBody>
          <a:bodyPr wrap="square" lIns="0" tIns="0" rIns="0" bIns="0" rtlCol="0" anchor="t"/>
          <a:lstStyle/>
          <a:p>
            <a:pPr indent="0" marL="0">
              <a:buNone/>
            </a:pPr>
            <a:r>
              <a:rPr lang="en-US" sz="1150" dirty="0">
                <a:solidFill>
                  <a:schemeClr val="tx2"/>
                </a:solidFill>
              </a:rPr>
              <a:t>Datos personales, habeas data, identidad digital, derecho al olvido.</a:t>
            </a:r>
            <a:endParaRPr lang="en-US" sz="1150" dirty="0"/>
          </a:p>
        </p:txBody>
      </p:sp>
      <p:sp>
        <p:nvSpPr>
          <p:cNvPr id="10" name="card Los actos por medios electrónicos"/>
          <p:cNvSpPr/>
          <p:nvPr/>
        </p:nvSpPr>
        <p:spPr>
          <a:xfrm>
            <a:off x="3246120" y="1234440"/>
            <a:ext cx="2651760" cy="2011680"/>
          </a:xfrm>
          <a:prstGeom prst="roundRect">
            <a:avLst>
              <a:gd name="adj" fmla="val 3636"/>
            </a:avLst>
          </a:prstGeom>
          <a:solidFill>
            <a:schemeClr val="bg2"/>
          </a:solidFill>
          <a:ln w="12700">
            <a:solidFill>
              <a:schemeClr val="bg2"/>
            </a:solidFill>
            <a:prstDash val="solid"/>
          </a:ln>
        </p:spPr>
      </p:sp>
      <p:sp>
        <p:nvSpPr>
          <p:cNvPr id="11" name="num Los actos por medios electrónicos"/>
          <p:cNvSpPr/>
          <p:nvPr/>
        </p:nvSpPr>
        <p:spPr>
          <a:xfrm>
            <a:off x="3383280" y="1371600"/>
            <a:ext cx="384048" cy="384048"/>
          </a:xfrm>
          <a:prstGeom prst="ellipse">
            <a:avLst/>
          </a:prstGeom>
          <a:solidFill>
            <a:schemeClr val="accent4"/>
          </a:solidFill>
          <a:ln w="12700">
            <a:solidFill>
              <a:schemeClr val="accent4"/>
            </a:solidFill>
            <a:prstDash val="solid"/>
          </a:ln>
        </p:spPr>
      </p:sp>
      <p:sp>
        <p:nvSpPr>
          <p:cNvPr id="12" name="numtxt Los actos por medios electrónicos"/>
          <p:cNvSpPr txBox="1"/>
          <p:nvPr/>
        </p:nvSpPr>
        <p:spPr>
          <a:xfrm>
            <a:off x="3383280" y="137160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3" name="head Los actos por medios electrónicos"/>
          <p:cNvSpPr txBox="1"/>
          <p:nvPr/>
        </p:nvSpPr>
        <p:spPr>
          <a:xfrm>
            <a:off x="3867912" y="1325880"/>
            <a:ext cx="1892808" cy="411480"/>
          </a:xfrm>
          <a:prstGeom prst="rect">
            <a:avLst/>
          </a:prstGeom>
          <a:noFill/>
          <a:ln/>
        </p:spPr>
        <p:txBody>
          <a:bodyPr wrap="square" lIns="0" tIns="0" rIns="0" bIns="0" rtlCol="0" anchor="ctr"/>
          <a:lstStyle/>
          <a:p>
            <a:pPr indent="0" marL="0">
              <a:buNone/>
            </a:pPr>
            <a:r>
              <a:rPr lang="en-US" sz="1300" b="1" dirty="0">
                <a:solidFill>
                  <a:schemeClr val="tx1"/>
                </a:solidFill>
              </a:rPr>
              <a:t>Los actos por medios electrónicos</a:t>
            </a:r>
            <a:endParaRPr lang="en-US" sz="1300" dirty="0"/>
          </a:p>
        </p:txBody>
      </p:sp>
      <p:sp>
        <p:nvSpPr>
          <p:cNvPr id="14" name="body Los actos por medios electrónicos"/>
          <p:cNvSpPr txBox="1"/>
          <p:nvPr/>
        </p:nvSpPr>
        <p:spPr>
          <a:xfrm>
            <a:off x="3410712" y="1764792"/>
            <a:ext cx="2322576" cy="1389888"/>
          </a:xfrm>
          <a:prstGeom prst="rect">
            <a:avLst/>
          </a:prstGeom>
          <a:noFill/>
          <a:ln/>
        </p:spPr>
        <p:txBody>
          <a:bodyPr wrap="square" lIns="0" tIns="0" rIns="0" bIns="0" rtlCol="0" anchor="t"/>
          <a:lstStyle/>
          <a:p>
            <a:pPr indent="0" marL="0">
              <a:buNone/>
            </a:pPr>
            <a:r>
              <a:rPr lang="en-US" sz="1150" dirty="0">
                <a:solidFill>
                  <a:schemeClr val="tx2"/>
                </a:solidFill>
              </a:rPr>
              <a:t>Contratos, firmas, documentos y prueba electrónica, trámites ante el Estado.</a:t>
            </a:r>
            <a:endParaRPr lang="en-US" sz="1150" dirty="0"/>
          </a:p>
        </p:txBody>
      </p:sp>
      <p:sp>
        <p:nvSpPr>
          <p:cNvPr id="15" name="card Las conductas lesivas"/>
          <p:cNvSpPr/>
          <p:nvPr/>
        </p:nvSpPr>
        <p:spPr>
          <a:xfrm>
            <a:off x="6035040" y="1234440"/>
            <a:ext cx="2651760" cy="2011680"/>
          </a:xfrm>
          <a:prstGeom prst="roundRect">
            <a:avLst>
              <a:gd name="adj" fmla="val 3636"/>
            </a:avLst>
          </a:prstGeom>
          <a:solidFill>
            <a:schemeClr val="bg2"/>
          </a:solidFill>
          <a:ln w="12700">
            <a:solidFill>
              <a:schemeClr val="bg2"/>
            </a:solidFill>
            <a:prstDash val="solid"/>
          </a:ln>
        </p:spPr>
      </p:sp>
      <p:sp>
        <p:nvSpPr>
          <p:cNvPr id="16" name="num Las conductas lesivas"/>
          <p:cNvSpPr/>
          <p:nvPr/>
        </p:nvSpPr>
        <p:spPr>
          <a:xfrm>
            <a:off x="6172200" y="1371600"/>
            <a:ext cx="384048" cy="384048"/>
          </a:xfrm>
          <a:prstGeom prst="ellipse">
            <a:avLst/>
          </a:prstGeom>
          <a:solidFill>
            <a:schemeClr val="accent3"/>
          </a:solidFill>
          <a:ln w="12700">
            <a:solidFill>
              <a:schemeClr val="accent3"/>
            </a:solidFill>
            <a:prstDash val="solid"/>
          </a:ln>
        </p:spPr>
      </p:sp>
      <p:sp>
        <p:nvSpPr>
          <p:cNvPr id="17" name="numtxt Las conductas lesivas"/>
          <p:cNvSpPr txBox="1"/>
          <p:nvPr/>
        </p:nvSpPr>
        <p:spPr>
          <a:xfrm>
            <a:off x="6172200" y="137160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8" name="head Las conductas lesivas"/>
          <p:cNvSpPr txBox="1"/>
          <p:nvPr/>
        </p:nvSpPr>
        <p:spPr>
          <a:xfrm>
            <a:off x="6656832" y="1325880"/>
            <a:ext cx="1892808" cy="411480"/>
          </a:xfrm>
          <a:prstGeom prst="rect">
            <a:avLst/>
          </a:prstGeom>
          <a:noFill/>
          <a:ln/>
        </p:spPr>
        <p:txBody>
          <a:bodyPr wrap="square" lIns="0" tIns="0" rIns="0" bIns="0" rtlCol="0" anchor="ctr"/>
          <a:lstStyle/>
          <a:p>
            <a:pPr indent="0" marL="0">
              <a:buNone/>
            </a:pPr>
            <a:r>
              <a:rPr lang="en-US" sz="1300" b="1" dirty="0">
                <a:solidFill>
                  <a:schemeClr val="tx1"/>
                </a:solidFill>
              </a:rPr>
              <a:t>Las conductas lesivas</a:t>
            </a:r>
            <a:endParaRPr lang="en-US" sz="1300" dirty="0"/>
          </a:p>
        </p:txBody>
      </p:sp>
      <p:sp>
        <p:nvSpPr>
          <p:cNvPr id="19" name="body Las conductas lesivas"/>
          <p:cNvSpPr txBox="1"/>
          <p:nvPr/>
        </p:nvSpPr>
        <p:spPr>
          <a:xfrm>
            <a:off x="6199632" y="1764792"/>
            <a:ext cx="2322576" cy="1389888"/>
          </a:xfrm>
          <a:prstGeom prst="rect">
            <a:avLst/>
          </a:prstGeom>
          <a:noFill/>
          <a:ln/>
        </p:spPr>
        <p:txBody>
          <a:bodyPr wrap="square" lIns="0" tIns="0" rIns="0" bIns="0" rtlCol="0" anchor="t"/>
          <a:lstStyle/>
          <a:p>
            <a:pPr indent="0" marL="0">
              <a:buNone/>
            </a:pPr>
            <a:r>
              <a:rPr lang="en-US" sz="1150" dirty="0">
                <a:solidFill>
                  <a:schemeClr val="tx2"/>
                </a:solidFill>
              </a:rPr>
              <a:t>Delitos informáticos, ciberseguridad, fraude digital.</a:t>
            </a:r>
            <a:endParaRPr lang="en-US" sz="1150" dirty="0"/>
          </a:p>
        </p:txBody>
      </p:sp>
      <p:sp>
        <p:nvSpPr>
          <p:cNvPr id="20" name="ia"/>
          <p:cNvSpPr/>
          <p:nvPr/>
        </p:nvSpPr>
        <p:spPr>
          <a:xfrm>
            <a:off x="457200" y="3474720"/>
            <a:ext cx="8229600" cy="1005840"/>
          </a:xfrm>
          <a:prstGeom prst="roundRect">
            <a:avLst>
              <a:gd name="adj" fmla="val 7273"/>
            </a:avLst>
          </a:prstGeom>
          <a:solidFill>
            <a:schemeClr val="tx1"/>
          </a:solidFill>
          <a:ln w="12700">
            <a:solidFill>
              <a:schemeClr val="tx1"/>
            </a:solidFill>
            <a:prstDash val="solid"/>
          </a:ln>
        </p:spPr>
      </p:sp>
      <p:sp>
        <p:nvSpPr>
          <p:cNvPr id="21" name="iat"/>
          <p:cNvSpPr txBox="1"/>
          <p:nvPr/>
        </p:nvSpPr>
        <p:spPr>
          <a:xfrm>
            <a:off x="685800" y="3474720"/>
            <a:ext cx="7772400" cy="1005840"/>
          </a:xfrm>
          <a:prstGeom prst="rect">
            <a:avLst/>
          </a:prstGeom>
          <a:noFill/>
          <a:ln/>
        </p:spPr>
        <p:txBody>
          <a:bodyPr wrap="square" lIns="0" tIns="0" rIns="0" bIns="0" rtlCol="0" anchor="ctr"/>
          <a:lstStyle/>
          <a:p>
            <a:pPr indent="0" marL="0">
              <a:buNone/>
            </a:pPr>
            <a:r>
              <a:rPr lang="en-US" sz="1300" b="1" dirty="0">
                <a:solidFill>
                  <a:schemeClr val="accent2"/>
                </a:solidFill>
              </a:rPr>
              <a:t>La inteligencia artificial atraviesa los tres: </a:t>
            </a:r>
            <a:pPr indent="0" marL="0">
              <a:buNone/>
            </a:pPr>
            <a:r>
              <a:rPr lang="en-US" sz="1300" dirty="0">
                <a:solidFill>
                  <a:schemeClr val="bg1"/>
                </a:solidFill>
              </a:rPr>
              <a:t>se alimenta de datos, produce actos y decisiones por medios electrónicos y genera riesgos nuevos (sesgos, alucinaciones, suplantación).</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949440" cy="731520"/>
          </a:xfrm>
          <a:prstGeom prst="rect">
            <a:avLst/>
          </a:prstGeom>
          <a:noFill/>
          <a:ln/>
        </p:spPr>
        <p:txBody>
          <a:bodyPr wrap="square" lIns="0" tIns="0" rIns="0" bIns="0" rtlCol="0" anchor="ctr"/>
          <a:lstStyle/>
          <a:p>
            <a:pPr algn="l" indent="0" marL="0">
              <a:buNone/>
            </a:pPr>
            <a:r>
              <a:rPr lang="en-US" sz="2400" b="1" dirty="0">
                <a:solidFill>
                  <a:schemeClr val="tx1"/>
                </a:solidFill>
              </a:rPr>
              <a:t>Fuentes en Colombia</a:t>
            </a:r>
            <a:endParaRPr lang="en-US" sz="2400" dirty="0"/>
          </a:p>
        </p:txBody>
      </p:sp>
      <p:sp>
        <p:nvSpPr>
          <p:cNvPr id="3" name="bloque"/>
          <p:cNvSpPr txBox="1"/>
          <p:nvPr/>
        </p:nvSpPr>
        <p:spPr>
          <a:xfrm>
            <a:off x="7498080" y="411480"/>
            <a:ext cx="1188720" cy="292608"/>
          </a:xfrm>
          <a:prstGeom prst="rect">
            <a:avLst/>
          </a:prstGeom>
          <a:solidFill>
            <a:schemeClr val="accent1"/>
          </a:solidFill>
          <a:ln/>
        </p:spPr>
        <p:txBody>
          <a:bodyPr wrap="square" lIns="0" tIns="0" rIns="0" bIns="0" rtlCol="0" anchor="ctr"/>
          <a:lstStyle/>
          <a:p>
            <a:pPr algn="ctr" indent="0" marL="0">
              <a:buNone/>
            </a:pPr>
            <a:r>
              <a:rPr lang="en-US" sz="900" b="1" dirty="0">
                <a:solidFill>
                  <a:schemeClr val="bg1"/>
                </a:solidFill>
              </a:rPr>
              <a:t>FUENTES 25-45</a:t>
            </a:r>
            <a:endParaRPr lang="en-US" sz="900" dirty="0"/>
          </a:p>
        </p:txBody>
      </p:sp>
      <p:sp>
        <p:nvSpPr>
          <p:cNvPr id="5" name="lv0"/>
          <p:cNvSpPr/>
          <p:nvPr/>
        </p:nvSpPr>
        <p:spPr>
          <a:xfrm>
            <a:off x="3200400" y="914400"/>
            <a:ext cx="2926080" cy="566928"/>
          </a:xfrm>
          <a:prstGeom prst="rect">
            <a:avLst/>
          </a:prstGeom>
          <a:solidFill>
            <a:schemeClr val="tx1"/>
          </a:solidFill>
          <a:ln w="12700">
            <a:solidFill>
              <a:schemeClr val="bg1"/>
            </a:solidFill>
            <a:prstDash val="solid"/>
          </a:ln>
        </p:spPr>
      </p:sp>
      <p:sp>
        <p:nvSpPr>
          <p:cNvPr id="6" name="lvt0"/>
          <p:cNvSpPr txBox="1"/>
          <p:nvPr/>
        </p:nvSpPr>
        <p:spPr>
          <a:xfrm>
            <a:off x="3291840" y="914400"/>
            <a:ext cx="2743200" cy="566928"/>
          </a:xfrm>
          <a:prstGeom prst="rect">
            <a:avLst/>
          </a:prstGeom>
          <a:noFill/>
          <a:ln/>
        </p:spPr>
        <p:txBody>
          <a:bodyPr wrap="square" lIns="0" tIns="0" rIns="0" bIns="0" rtlCol="0" anchor="ctr"/>
          <a:lstStyle/>
          <a:p>
            <a:pPr algn="ctr" indent="0" marL="0">
              <a:buNone/>
            </a:pPr>
            <a:r>
              <a:rPr lang="en-US" sz="1100" b="1" dirty="0">
                <a:solidFill>
                  <a:schemeClr val="bg1"/>
                </a:solidFill>
              </a:rPr>
              <a:t>Constitución  </a:t>
            </a:r>
            <a:pPr algn="ctr" indent="0" marL="0">
              <a:buNone/>
            </a:pPr>
            <a:r>
              <a:rPr lang="en-US" sz="950" dirty="0">
                <a:solidFill>
                  <a:schemeClr val="bg1"/>
                </a:solidFill>
              </a:rPr>
              <a:t>Arts. 15, 20, 61, 74</a:t>
            </a:r>
            <a:endParaRPr lang="en-US" sz="1100" dirty="0"/>
          </a:p>
        </p:txBody>
      </p:sp>
      <p:sp>
        <p:nvSpPr>
          <p:cNvPr id="7" name="lv1"/>
          <p:cNvSpPr/>
          <p:nvPr/>
        </p:nvSpPr>
        <p:spPr>
          <a:xfrm>
            <a:off x="2697480" y="1554480"/>
            <a:ext cx="3931920" cy="566928"/>
          </a:xfrm>
          <a:prstGeom prst="rect">
            <a:avLst/>
          </a:prstGeom>
          <a:solidFill>
            <a:schemeClr val="tx2"/>
          </a:solidFill>
          <a:ln w="12700">
            <a:solidFill>
              <a:schemeClr val="bg1"/>
            </a:solidFill>
            <a:prstDash val="solid"/>
          </a:ln>
        </p:spPr>
      </p:sp>
      <p:sp>
        <p:nvSpPr>
          <p:cNvPr id="8" name="lvt1"/>
          <p:cNvSpPr txBox="1"/>
          <p:nvPr/>
        </p:nvSpPr>
        <p:spPr>
          <a:xfrm>
            <a:off x="2788920" y="1554480"/>
            <a:ext cx="3749040" cy="566928"/>
          </a:xfrm>
          <a:prstGeom prst="rect">
            <a:avLst/>
          </a:prstGeom>
          <a:noFill/>
          <a:ln/>
        </p:spPr>
        <p:txBody>
          <a:bodyPr wrap="square" lIns="0" tIns="0" rIns="0" bIns="0" rtlCol="0" anchor="ctr"/>
          <a:lstStyle/>
          <a:p>
            <a:pPr algn="ctr" indent="0" marL="0">
              <a:buNone/>
            </a:pPr>
            <a:r>
              <a:rPr lang="en-US" sz="1100" b="1" dirty="0">
                <a:solidFill>
                  <a:schemeClr val="bg1"/>
                </a:solidFill>
              </a:rPr>
              <a:t>Tratados y soft law  </a:t>
            </a:r>
            <a:pPr algn="ctr" indent="0" marL="0">
              <a:buNone/>
            </a:pPr>
            <a:r>
              <a:rPr lang="en-US" sz="950" dirty="0">
                <a:solidFill>
                  <a:schemeClr val="bg1"/>
                </a:solidFill>
              </a:rPr>
              <a:t>Convenio de Budapest (Ley 1928/2018); Convenio 108; UNESCO 2021; OCDE 2019</a:t>
            </a:r>
            <a:endParaRPr lang="en-US" sz="1100" dirty="0"/>
          </a:p>
        </p:txBody>
      </p:sp>
      <p:sp>
        <p:nvSpPr>
          <p:cNvPr id="9" name="lv2"/>
          <p:cNvSpPr/>
          <p:nvPr/>
        </p:nvSpPr>
        <p:spPr>
          <a:xfrm>
            <a:off x="2194560" y="2194560"/>
            <a:ext cx="4937760" cy="566928"/>
          </a:xfrm>
          <a:prstGeom prst="rect">
            <a:avLst/>
          </a:prstGeom>
          <a:solidFill>
            <a:schemeClr val="accent4"/>
          </a:solidFill>
          <a:ln w="12700">
            <a:solidFill>
              <a:schemeClr val="bg1"/>
            </a:solidFill>
            <a:prstDash val="solid"/>
          </a:ln>
        </p:spPr>
      </p:sp>
      <p:sp>
        <p:nvSpPr>
          <p:cNvPr id="10" name="lvt2"/>
          <p:cNvSpPr txBox="1"/>
          <p:nvPr/>
        </p:nvSpPr>
        <p:spPr>
          <a:xfrm>
            <a:off x="2286000" y="2194560"/>
            <a:ext cx="4754880" cy="566928"/>
          </a:xfrm>
          <a:prstGeom prst="rect">
            <a:avLst/>
          </a:prstGeom>
          <a:noFill/>
          <a:ln/>
        </p:spPr>
        <p:txBody>
          <a:bodyPr wrap="square" lIns="0" tIns="0" rIns="0" bIns="0" rtlCol="0" anchor="ctr"/>
          <a:lstStyle/>
          <a:p>
            <a:pPr algn="ctr" indent="0" marL="0">
              <a:buNone/>
            </a:pPr>
            <a:r>
              <a:rPr lang="en-US" sz="1100" b="1" dirty="0">
                <a:solidFill>
                  <a:schemeClr val="bg1"/>
                </a:solidFill>
              </a:rPr>
              <a:t>Leyes estatutarias  </a:t>
            </a:r>
            <a:pPr algn="ctr" indent="0" marL="0">
              <a:buNone/>
            </a:pPr>
            <a:r>
              <a:rPr lang="en-US" sz="950" dirty="0">
                <a:solidFill>
                  <a:schemeClr val="bg1"/>
                </a:solidFill>
              </a:rPr>
              <a:t>Ley 1266/2008 · Ley 1581/2012 · Ley 1712/2014</a:t>
            </a:r>
            <a:endParaRPr lang="en-US" sz="1100" dirty="0"/>
          </a:p>
        </p:txBody>
      </p:sp>
      <p:sp>
        <p:nvSpPr>
          <p:cNvPr id="11" name="lv3"/>
          <p:cNvSpPr/>
          <p:nvPr/>
        </p:nvSpPr>
        <p:spPr>
          <a:xfrm>
            <a:off x="1691640" y="2834640"/>
            <a:ext cx="5943600" cy="566928"/>
          </a:xfrm>
          <a:prstGeom prst="rect">
            <a:avLst/>
          </a:prstGeom>
          <a:solidFill>
            <a:schemeClr val="accent1"/>
          </a:solidFill>
          <a:ln w="12700">
            <a:solidFill>
              <a:schemeClr val="bg1"/>
            </a:solidFill>
            <a:prstDash val="solid"/>
          </a:ln>
        </p:spPr>
      </p:sp>
      <p:sp>
        <p:nvSpPr>
          <p:cNvPr id="12" name="lvt3"/>
          <p:cNvSpPr txBox="1"/>
          <p:nvPr/>
        </p:nvSpPr>
        <p:spPr>
          <a:xfrm>
            <a:off x="1783080" y="2834640"/>
            <a:ext cx="5760720" cy="566928"/>
          </a:xfrm>
          <a:prstGeom prst="rect">
            <a:avLst/>
          </a:prstGeom>
          <a:noFill/>
          <a:ln/>
        </p:spPr>
        <p:txBody>
          <a:bodyPr wrap="square" lIns="0" tIns="0" rIns="0" bIns="0" rtlCol="0" anchor="ctr"/>
          <a:lstStyle/>
          <a:p>
            <a:pPr algn="ctr" indent="0" marL="0">
              <a:buNone/>
            </a:pPr>
            <a:r>
              <a:rPr lang="en-US" sz="1100" b="1" dirty="0">
                <a:solidFill>
                  <a:schemeClr val="bg1"/>
                </a:solidFill>
              </a:rPr>
              <a:t>Leyes ordinarias  </a:t>
            </a:r>
            <a:pPr algn="ctr" indent="0" marL="0">
              <a:buNone/>
            </a:pPr>
            <a:r>
              <a:rPr lang="en-US" sz="950" dirty="0">
                <a:solidFill>
                  <a:schemeClr val="bg1"/>
                </a:solidFill>
              </a:rPr>
              <a:t>Ley 527/1999 · Ley 1273/2009 · Ley 1341/2009 · Ley 2213/2022</a:t>
            </a:r>
            <a:endParaRPr lang="en-US" sz="1100" dirty="0"/>
          </a:p>
        </p:txBody>
      </p:sp>
      <p:sp>
        <p:nvSpPr>
          <p:cNvPr id="13" name="lv4"/>
          <p:cNvSpPr/>
          <p:nvPr/>
        </p:nvSpPr>
        <p:spPr>
          <a:xfrm>
            <a:off x="1188720" y="3474720"/>
            <a:ext cx="6949440" cy="566928"/>
          </a:xfrm>
          <a:prstGeom prst="rect">
            <a:avLst/>
          </a:prstGeom>
          <a:solidFill>
            <a:schemeClr val="accent5"/>
          </a:solidFill>
          <a:ln w="12700">
            <a:solidFill>
              <a:schemeClr val="bg1"/>
            </a:solidFill>
            <a:prstDash val="solid"/>
          </a:ln>
        </p:spPr>
      </p:sp>
      <p:sp>
        <p:nvSpPr>
          <p:cNvPr id="14" name="lvt4"/>
          <p:cNvSpPr txBox="1"/>
          <p:nvPr/>
        </p:nvSpPr>
        <p:spPr>
          <a:xfrm>
            <a:off x="1280160" y="3474720"/>
            <a:ext cx="6766560" cy="566928"/>
          </a:xfrm>
          <a:prstGeom prst="rect">
            <a:avLst/>
          </a:prstGeom>
          <a:noFill/>
          <a:ln/>
        </p:spPr>
        <p:txBody>
          <a:bodyPr wrap="square" lIns="0" tIns="0" rIns="0" bIns="0" rtlCol="0" anchor="ctr"/>
          <a:lstStyle/>
          <a:p>
            <a:pPr algn="ctr" indent="0" marL="0">
              <a:buNone/>
            </a:pPr>
            <a:r>
              <a:rPr lang="en-US" sz="1100" b="1" dirty="0">
                <a:solidFill>
                  <a:schemeClr val="tx1"/>
                </a:solidFill>
              </a:rPr>
              <a:t>Reglamentos y regulación  </a:t>
            </a:r>
            <a:pPr algn="ctr" indent="0" marL="0">
              <a:buNone/>
            </a:pPr>
            <a:r>
              <a:rPr lang="en-US" sz="950" dirty="0">
                <a:solidFill>
                  <a:schemeClr val="tx1"/>
                </a:solidFill>
              </a:rPr>
              <a:t>Decretos 1377/2013 y 1074/2015 · Circular SIC 002/2024 · CRC</a:t>
            </a:r>
            <a:endParaRPr lang="en-US" sz="1100" dirty="0"/>
          </a:p>
        </p:txBody>
      </p:sp>
      <p:sp>
        <p:nvSpPr>
          <p:cNvPr id="15" name="lv5"/>
          <p:cNvSpPr/>
          <p:nvPr/>
        </p:nvSpPr>
        <p:spPr>
          <a:xfrm>
            <a:off x="685800" y="4114800"/>
            <a:ext cx="7955280" cy="566928"/>
          </a:xfrm>
          <a:prstGeom prst="rect">
            <a:avLst/>
          </a:prstGeom>
          <a:solidFill>
            <a:schemeClr val="accent6"/>
          </a:solidFill>
          <a:ln w="12700">
            <a:solidFill>
              <a:schemeClr val="bg1"/>
            </a:solidFill>
            <a:prstDash val="solid"/>
          </a:ln>
        </p:spPr>
      </p:sp>
      <p:sp>
        <p:nvSpPr>
          <p:cNvPr id="16" name="lvt5"/>
          <p:cNvSpPr txBox="1"/>
          <p:nvPr/>
        </p:nvSpPr>
        <p:spPr>
          <a:xfrm>
            <a:off x="777240" y="4114800"/>
            <a:ext cx="7772400" cy="566928"/>
          </a:xfrm>
          <a:prstGeom prst="rect">
            <a:avLst/>
          </a:prstGeom>
          <a:noFill/>
          <a:ln/>
        </p:spPr>
        <p:txBody>
          <a:bodyPr wrap="square" lIns="0" tIns="0" rIns="0" bIns="0" rtlCol="0" anchor="ctr"/>
          <a:lstStyle/>
          <a:p>
            <a:pPr algn="ctr" indent="0" marL="0">
              <a:buNone/>
            </a:pPr>
            <a:r>
              <a:rPr lang="en-US" sz="1100" b="1" dirty="0">
                <a:solidFill>
                  <a:schemeClr val="tx1"/>
                </a:solidFill>
              </a:rPr>
              <a:t>Jurisprudencia y autorregulación  </a:t>
            </a:r>
            <a:pPr algn="ctr" indent="0" marL="0">
              <a:buNone/>
            </a:pPr>
            <a:r>
              <a:rPr lang="en-US" sz="950" dirty="0">
                <a:solidFill>
                  <a:schemeClr val="tx1"/>
                </a:solidFill>
              </a:rPr>
              <a:t>T-414/92 · SU-082/95 · C-748/11 · T-323/24 · políticas de tratamiento · código</a:t>
            </a:r>
            <a:endParaRPr lang="en-US" sz="1100" dirty="0"/>
          </a:p>
        </p:txBody>
      </p:sp>
      <p:sp>
        <p:nvSpPr>
          <p:cNvPr id="17" name="lex"/>
          <p:cNvSpPr txBox="1"/>
          <p:nvPr/>
        </p:nvSpPr>
        <p:spPr>
          <a:xfrm>
            <a:off x="457200" y="4572000"/>
            <a:ext cx="5486400" cy="228600"/>
          </a:xfrm>
          <a:prstGeom prst="rect">
            <a:avLst/>
          </a:prstGeom>
          <a:noFill/>
          <a:ln/>
        </p:spPr>
        <p:txBody>
          <a:bodyPr wrap="square" lIns="0" tIns="0" rIns="0" bIns="0" rtlCol="0" anchor="ctr"/>
          <a:lstStyle/>
          <a:p>
            <a:pPr indent="0" marL="0">
              <a:buNone/>
            </a:pPr>
            <a:r>
              <a:rPr lang="en-US" sz="950" i="1" dirty="0">
                <a:solidFill>
                  <a:schemeClr val="tx2"/>
                </a:solidFill>
              </a:rPr>
              <a:t>«Lex informatica»: la arquitectura técnica también regula (Lessig, 1999).</a:t>
            </a:r>
            <a:endParaRPr lang="en-US" sz="9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1097280"/>
          </a:xfrm>
          <a:prstGeom prst="rect">
            <a:avLst/>
          </a:prstGeom>
          <a:noFill/>
          <a:ln/>
        </p:spPr>
        <p:txBody>
          <a:bodyPr wrap="square" lIns="0" tIns="0" rIns="0" bIns="0" rtlCol="0" anchor="b"/>
          <a:lstStyle/>
          <a:p>
            <a:pPr algn="l" indent="0" marL="0">
              <a:buNone/>
            </a:pPr>
            <a:r>
              <a:rPr lang="en-US" sz="3800" b="1" dirty="0">
                <a:solidFill>
                  <a:schemeClr val="bg1"/>
                </a:solidFill>
              </a:rPr>
              <a:t>3. Principios y campos</a:t>
            </a:r>
            <a:endParaRPr lang="en-US" sz="3800" dirty="0"/>
          </a:p>
        </p:txBody>
      </p:sp>
      <p:sp>
        <p:nvSpPr>
          <p:cNvPr id="3" name="Text 0"/>
          <p:cNvSpPr/>
          <p:nvPr>
            <p:ph idx="101" type="body" hasCustomPrompt="1"/>
          </p:nvPr>
        </p:nvSpPr>
        <p:spPr>
          <a:xfrm>
            <a:off x="548640" y="3017520"/>
            <a:ext cx="8046720" cy="822960"/>
          </a:xfrm>
          <a:prstGeom prst="rect">
            <a:avLst/>
          </a:prstGeom>
          <a:noFill/>
          <a:ln/>
        </p:spPr>
        <p:txBody>
          <a:bodyPr wrap="square" lIns="0" tIns="0" rIns="0" bIns="0" rtlCol="0" anchor="t"/>
          <a:lstStyle/>
          <a:p>
            <a:pPr algn="l" indent="0" marL="0">
              <a:buNone/>
            </a:pPr>
            <a:r>
              <a:rPr lang="en-US" sz="1800" dirty="0">
                <a:solidFill>
                  <a:schemeClr val="accent6"/>
                </a:solidFill>
              </a:rPr>
              <a:t>Siete principios estructurales y siete campos con su norma de cabecera</a:t>
            </a:r>
            <a:endParaRPr lang="en-US" sz="1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949440" cy="731520"/>
          </a:xfrm>
          <a:prstGeom prst="rect">
            <a:avLst/>
          </a:prstGeom>
          <a:noFill/>
          <a:ln/>
        </p:spPr>
        <p:txBody>
          <a:bodyPr wrap="square" lIns="0" tIns="0" rIns="0" bIns="0" rtlCol="0" anchor="ctr"/>
          <a:lstStyle/>
          <a:p>
            <a:pPr algn="l" indent="0" marL="0">
              <a:buNone/>
            </a:pPr>
            <a:r>
              <a:rPr lang="en-US" sz="2400" b="1" dirty="0">
                <a:solidFill>
                  <a:schemeClr val="tx1"/>
                </a:solidFill>
              </a:rPr>
              <a:t>Siete principios estructurales</a:t>
            </a:r>
            <a:endParaRPr lang="en-US" sz="2400" dirty="0"/>
          </a:p>
        </p:txBody>
      </p:sp>
      <p:sp>
        <p:nvSpPr>
          <p:cNvPr id="3" name="bloque"/>
          <p:cNvSpPr txBox="1"/>
          <p:nvPr/>
        </p:nvSpPr>
        <p:spPr>
          <a:xfrm>
            <a:off x="7498080" y="411480"/>
            <a:ext cx="1188720" cy="292608"/>
          </a:xfrm>
          <a:prstGeom prst="rect">
            <a:avLst/>
          </a:prstGeom>
          <a:solidFill>
            <a:schemeClr val="accent1"/>
          </a:solidFill>
          <a:ln/>
        </p:spPr>
        <p:txBody>
          <a:bodyPr wrap="square" lIns="0" tIns="0" rIns="0" bIns="0" rtlCol="0" anchor="ctr"/>
          <a:lstStyle/>
          <a:p>
            <a:pPr algn="ctr" indent="0" marL="0">
              <a:buNone/>
            </a:pPr>
            <a:r>
              <a:rPr lang="en-US" sz="900" b="1" dirty="0">
                <a:solidFill>
                  <a:schemeClr val="bg1"/>
                </a:solidFill>
              </a:rPr>
              <a:t>PRINCIPIOS 45-60</a:t>
            </a:r>
            <a:endParaRPr lang="en-US" sz="900" dirty="0"/>
          </a:p>
        </p:txBody>
      </p:sp>
      <p:sp>
        <p:nvSpPr>
          <p:cNvPr id="5" name="card Equivalencia funcional"/>
          <p:cNvSpPr/>
          <p:nvPr/>
        </p:nvSpPr>
        <p:spPr>
          <a:xfrm>
            <a:off x="457200" y="1234440"/>
            <a:ext cx="1965960" cy="1463040"/>
          </a:xfrm>
          <a:prstGeom prst="roundRect">
            <a:avLst>
              <a:gd name="adj" fmla="val 5000"/>
            </a:avLst>
          </a:prstGeom>
          <a:solidFill>
            <a:schemeClr val="bg2"/>
          </a:solidFill>
          <a:ln w="12700">
            <a:solidFill>
              <a:schemeClr val="bg2"/>
            </a:solidFill>
            <a:prstDash val="solid"/>
          </a:ln>
        </p:spPr>
      </p:sp>
      <p:sp>
        <p:nvSpPr>
          <p:cNvPr id="6" name="num Equivalencia funcional"/>
          <p:cNvSpPr/>
          <p:nvPr/>
        </p:nvSpPr>
        <p:spPr>
          <a:xfrm>
            <a:off x="594360" y="1371600"/>
            <a:ext cx="384048" cy="384048"/>
          </a:xfrm>
          <a:prstGeom prst="ellipse">
            <a:avLst/>
          </a:prstGeom>
          <a:solidFill>
            <a:schemeClr val="accent1"/>
          </a:solidFill>
          <a:ln w="12700">
            <a:solidFill>
              <a:schemeClr val="accent1"/>
            </a:solidFill>
            <a:prstDash val="solid"/>
          </a:ln>
        </p:spPr>
      </p:sp>
      <p:sp>
        <p:nvSpPr>
          <p:cNvPr id="7" name="numtxt Equivalencia funcional"/>
          <p:cNvSpPr txBox="1"/>
          <p:nvPr/>
        </p:nvSpPr>
        <p:spPr>
          <a:xfrm>
            <a:off x="594360" y="137160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head Equivalencia funcional"/>
          <p:cNvSpPr txBox="1"/>
          <p:nvPr/>
        </p:nvSpPr>
        <p:spPr>
          <a:xfrm>
            <a:off x="1078992" y="1325880"/>
            <a:ext cx="1207008" cy="411480"/>
          </a:xfrm>
          <a:prstGeom prst="rect">
            <a:avLst/>
          </a:prstGeom>
          <a:noFill/>
          <a:ln/>
        </p:spPr>
        <p:txBody>
          <a:bodyPr wrap="square" lIns="0" tIns="0" rIns="0" bIns="0" rtlCol="0" anchor="ctr"/>
          <a:lstStyle/>
          <a:p>
            <a:pPr indent="0" marL="0">
              <a:buNone/>
            </a:pPr>
            <a:r>
              <a:rPr lang="en-US" sz="1150" b="1" dirty="0">
                <a:solidFill>
                  <a:schemeClr val="tx1"/>
                </a:solidFill>
              </a:rPr>
              <a:t>Equivalencia funcional</a:t>
            </a:r>
            <a:endParaRPr lang="en-US" sz="1150" dirty="0"/>
          </a:p>
        </p:txBody>
      </p:sp>
      <p:sp>
        <p:nvSpPr>
          <p:cNvPr id="9" name="body Equivalencia funcional"/>
          <p:cNvSpPr txBox="1"/>
          <p:nvPr/>
        </p:nvSpPr>
        <p:spPr>
          <a:xfrm>
            <a:off x="621792" y="1764792"/>
            <a:ext cx="1636776" cy="841248"/>
          </a:xfrm>
          <a:prstGeom prst="rect">
            <a:avLst/>
          </a:prstGeom>
          <a:noFill/>
          <a:ln/>
        </p:spPr>
        <p:txBody>
          <a:bodyPr wrap="square" lIns="0" tIns="0" rIns="0" bIns="0" rtlCol="0" anchor="t"/>
          <a:lstStyle/>
          <a:p>
            <a:pPr indent="0" marL="0">
              <a:buNone/>
            </a:pPr>
            <a:r>
              <a:rPr lang="en-US" sz="1050" dirty="0">
                <a:solidFill>
                  <a:schemeClr val="tx2"/>
                </a:solidFill>
              </a:rPr>
              <a:t>Ley 527/1999, arts. 6-8</a:t>
            </a:r>
            <a:endParaRPr lang="en-US" sz="1050" dirty="0"/>
          </a:p>
        </p:txBody>
      </p:sp>
      <p:sp>
        <p:nvSpPr>
          <p:cNvPr id="10" name="card Neutralidad tecnológica"/>
          <p:cNvSpPr/>
          <p:nvPr/>
        </p:nvSpPr>
        <p:spPr>
          <a:xfrm>
            <a:off x="2560320" y="1234440"/>
            <a:ext cx="1965960" cy="1463040"/>
          </a:xfrm>
          <a:prstGeom prst="roundRect">
            <a:avLst>
              <a:gd name="adj" fmla="val 5000"/>
            </a:avLst>
          </a:prstGeom>
          <a:solidFill>
            <a:schemeClr val="bg2"/>
          </a:solidFill>
          <a:ln w="12700">
            <a:solidFill>
              <a:schemeClr val="bg2"/>
            </a:solidFill>
            <a:prstDash val="solid"/>
          </a:ln>
        </p:spPr>
      </p:sp>
      <p:sp>
        <p:nvSpPr>
          <p:cNvPr id="11" name="num Neutralidad tecnológica"/>
          <p:cNvSpPr/>
          <p:nvPr/>
        </p:nvSpPr>
        <p:spPr>
          <a:xfrm>
            <a:off x="2697480" y="1371600"/>
            <a:ext cx="384048" cy="384048"/>
          </a:xfrm>
          <a:prstGeom prst="ellipse">
            <a:avLst/>
          </a:prstGeom>
          <a:solidFill>
            <a:schemeClr val="accent4"/>
          </a:solidFill>
          <a:ln w="12700">
            <a:solidFill>
              <a:schemeClr val="accent4"/>
            </a:solidFill>
            <a:prstDash val="solid"/>
          </a:ln>
        </p:spPr>
      </p:sp>
      <p:sp>
        <p:nvSpPr>
          <p:cNvPr id="12" name="numtxt Neutralidad tecnológica"/>
          <p:cNvSpPr txBox="1"/>
          <p:nvPr/>
        </p:nvSpPr>
        <p:spPr>
          <a:xfrm>
            <a:off x="2697480" y="137160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3" name="head Neutralidad tecnológica"/>
          <p:cNvSpPr txBox="1"/>
          <p:nvPr/>
        </p:nvSpPr>
        <p:spPr>
          <a:xfrm>
            <a:off x="3182112" y="1325880"/>
            <a:ext cx="1207008" cy="411480"/>
          </a:xfrm>
          <a:prstGeom prst="rect">
            <a:avLst/>
          </a:prstGeom>
          <a:noFill/>
          <a:ln/>
        </p:spPr>
        <p:txBody>
          <a:bodyPr wrap="square" lIns="0" tIns="0" rIns="0" bIns="0" rtlCol="0" anchor="ctr"/>
          <a:lstStyle/>
          <a:p>
            <a:pPr indent="0" marL="0">
              <a:buNone/>
            </a:pPr>
            <a:r>
              <a:rPr lang="en-US" sz="1150" b="1" dirty="0">
                <a:solidFill>
                  <a:schemeClr val="tx1"/>
                </a:solidFill>
              </a:rPr>
              <a:t>Neutralidad tecnológica</a:t>
            </a:r>
            <a:endParaRPr lang="en-US" sz="1150" dirty="0"/>
          </a:p>
        </p:txBody>
      </p:sp>
      <p:sp>
        <p:nvSpPr>
          <p:cNvPr id="14" name="body Neutralidad tecnológica"/>
          <p:cNvSpPr txBox="1"/>
          <p:nvPr/>
        </p:nvSpPr>
        <p:spPr>
          <a:xfrm>
            <a:off x="2724912" y="1764792"/>
            <a:ext cx="1636776" cy="841248"/>
          </a:xfrm>
          <a:prstGeom prst="rect">
            <a:avLst/>
          </a:prstGeom>
          <a:noFill/>
          <a:ln/>
        </p:spPr>
        <p:txBody>
          <a:bodyPr wrap="square" lIns="0" tIns="0" rIns="0" bIns="0" rtlCol="0" anchor="t"/>
          <a:lstStyle/>
          <a:p>
            <a:pPr indent="0" marL="0">
              <a:buNone/>
            </a:pPr>
            <a:r>
              <a:rPr lang="en-US" sz="1050" dirty="0">
                <a:solidFill>
                  <a:schemeClr val="tx2"/>
                </a:solidFill>
              </a:rPr>
              <a:t>La norma no privilegia una tecnología</a:t>
            </a:r>
            <a:endParaRPr lang="en-US" sz="1050" dirty="0"/>
          </a:p>
        </p:txBody>
      </p:sp>
      <p:sp>
        <p:nvSpPr>
          <p:cNvPr id="15" name="card No discriminación del mensaje"/>
          <p:cNvSpPr/>
          <p:nvPr/>
        </p:nvSpPr>
        <p:spPr>
          <a:xfrm>
            <a:off x="4663440" y="1234440"/>
            <a:ext cx="1965960" cy="1463040"/>
          </a:xfrm>
          <a:prstGeom prst="roundRect">
            <a:avLst>
              <a:gd name="adj" fmla="val 5000"/>
            </a:avLst>
          </a:prstGeom>
          <a:solidFill>
            <a:schemeClr val="bg2"/>
          </a:solidFill>
          <a:ln w="12700">
            <a:solidFill>
              <a:schemeClr val="bg2"/>
            </a:solidFill>
            <a:prstDash val="solid"/>
          </a:ln>
        </p:spPr>
      </p:sp>
      <p:sp>
        <p:nvSpPr>
          <p:cNvPr id="16" name="num No discriminación del mensaje"/>
          <p:cNvSpPr/>
          <p:nvPr/>
        </p:nvSpPr>
        <p:spPr>
          <a:xfrm>
            <a:off x="4800600" y="1371600"/>
            <a:ext cx="384048" cy="384048"/>
          </a:xfrm>
          <a:prstGeom prst="ellipse">
            <a:avLst/>
          </a:prstGeom>
          <a:solidFill>
            <a:schemeClr val="accent2"/>
          </a:solidFill>
          <a:ln w="12700">
            <a:solidFill>
              <a:schemeClr val="accent2"/>
            </a:solidFill>
            <a:prstDash val="solid"/>
          </a:ln>
        </p:spPr>
      </p:sp>
      <p:sp>
        <p:nvSpPr>
          <p:cNvPr id="17" name="numtxt No discriminación del mensaje"/>
          <p:cNvSpPr txBox="1"/>
          <p:nvPr/>
        </p:nvSpPr>
        <p:spPr>
          <a:xfrm>
            <a:off x="4800600" y="137160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8" name="head No discriminación del mensaje"/>
          <p:cNvSpPr txBox="1"/>
          <p:nvPr/>
        </p:nvSpPr>
        <p:spPr>
          <a:xfrm>
            <a:off x="5285232" y="1325880"/>
            <a:ext cx="1207008" cy="411480"/>
          </a:xfrm>
          <a:prstGeom prst="rect">
            <a:avLst/>
          </a:prstGeom>
          <a:noFill/>
          <a:ln/>
        </p:spPr>
        <p:txBody>
          <a:bodyPr wrap="square" lIns="0" tIns="0" rIns="0" bIns="0" rtlCol="0" anchor="ctr"/>
          <a:lstStyle/>
          <a:p>
            <a:pPr indent="0" marL="0">
              <a:buNone/>
            </a:pPr>
            <a:r>
              <a:rPr lang="en-US" sz="1150" b="1" dirty="0">
                <a:solidFill>
                  <a:schemeClr val="tx1"/>
                </a:solidFill>
              </a:rPr>
              <a:t>No discriminación del mensaje</a:t>
            </a:r>
            <a:endParaRPr lang="en-US" sz="1150" dirty="0"/>
          </a:p>
        </p:txBody>
      </p:sp>
      <p:sp>
        <p:nvSpPr>
          <p:cNvPr id="19" name="body No discriminación del mensaje"/>
          <p:cNvSpPr txBox="1"/>
          <p:nvPr/>
        </p:nvSpPr>
        <p:spPr>
          <a:xfrm>
            <a:off x="4828032" y="1764792"/>
            <a:ext cx="1636776" cy="841248"/>
          </a:xfrm>
          <a:prstGeom prst="rect">
            <a:avLst/>
          </a:prstGeom>
          <a:noFill/>
          <a:ln/>
        </p:spPr>
        <p:txBody>
          <a:bodyPr wrap="square" lIns="0" tIns="0" rIns="0" bIns="0" rtlCol="0" anchor="t"/>
          <a:lstStyle/>
          <a:p>
            <a:pPr indent="0" marL="0">
              <a:buNone/>
            </a:pPr>
            <a:r>
              <a:rPr lang="en-US" sz="1050" dirty="0">
                <a:solidFill>
                  <a:schemeClr val="tx2"/>
                </a:solidFill>
              </a:rPr>
              <a:t>Ley 527/1999, arts. 5 y 10</a:t>
            </a:r>
            <a:endParaRPr lang="en-US" sz="1050" dirty="0"/>
          </a:p>
        </p:txBody>
      </p:sp>
      <p:sp>
        <p:nvSpPr>
          <p:cNvPr id="20" name="card Autodeterminación informativa"/>
          <p:cNvSpPr/>
          <p:nvPr/>
        </p:nvSpPr>
        <p:spPr>
          <a:xfrm>
            <a:off x="6766560" y="1234440"/>
            <a:ext cx="1965960" cy="1463040"/>
          </a:xfrm>
          <a:prstGeom prst="roundRect">
            <a:avLst>
              <a:gd name="adj" fmla="val 5000"/>
            </a:avLst>
          </a:prstGeom>
          <a:solidFill>
            <a:schemeClr val="bg2"/>
          </a:solidFill>
          <a:ln w="12700">
            <a:solidFill>
              <a:schemeClr val="bg2"/>
            </a:solidFill>
            <a:prstDash val="solid"/>
          </a:ln>
        </p:spPr>
      </p:sp>
      <p:sp>
        <p:nvSpPr>
          <p:cNvPr id="21" name="num Autodeterminación informativa"/>
          <p:cNvSpPr/>
          <p:nvPr/>
        </p:nvSpPr>
        <p:spPr>
          <a:xfrm>
            <a:off x="6903720" y="1371600"/>
            <a:ext cx="384048" cy="384048"/>
          </a:xfrm>
          <a:prstGeom prst="ellipse">
            <a:avLst/>
          </a:prstGeom>
          <a:solidFill>
            <a:schemeClr val="accent3"/>
          </a:solidFill>
          <a:ln w="12700">
            <a:solidFill>
              <a:schemeClr val="accent3"/>
            </a:solidFill>
            <a:prstDash val="solid"/>
          </a:ln>
        </p:spPr>
      </p:sp>
      <p:sp>
        <p:nvSpPr>
          <p:cNvPr id="22" name="numtxt Autodeterminación informativa"/>
          <p:cNvSpPr txBox="1"/>
          <p:nvPr/>
        </p:nvSpPr>
        <p:spPr>
          <a:xfrm>
            <a:off x="6903720" y="137160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3" name="head Autodeterminación informativa"/>
          <p:cNvSpPr txBox="1"/>
          <p:nvPr/>
        </p:nvSpPr>
        <p:spPr>
          <a:xfrm>
            <a:off x="7388352" y="1325880"/>
            <a:ext cx="1207008" cy="411480"/>
          </a:xfrm>
          <a:prstGeom prst="rect">
            <a:avLst/>
          </a:prstGeom>
          <a:noFill/>
          <a:ln/>
        </p:spPr>
        <p:txBody>
          <a:bodyPr wrap="square" lIns="0" tIns="0" rIns="0" bIns="0" rtlCol="0" anchor="ctr"/>
          <a:lstStyle/>
          <a:p>
            <a:pPr indent="0" marL="0">
              <a:buNone/>
            </a:pPr>
            <a:r>
              <a:rPr lang="en-US" sz="1150" b="1" dirty="0">
                <a:solidFill>
                  <a:schemeClr val="tx1"/>
                </a:solidFill>
              </a:rPr>
              <a:t>Autodeterminación informativa</a:t>
            </a:r>
            <a:endParaRPr lang="en-US" sz="1150" dirty="0"/>
          </a:p>
        </p:txBody>
      </p:sp>
      <p:sp>
        <p:nvSpPr>
          <p:cNvPr id="24" name="body Autodeterminación informativa"/>
          <p:cNvSpPr txBox="1"/>
          <p:nvPr/>
        </p:nvSpPr>
        <p:spPr>
          <a:xfrm>
            <a:off x="6931152" y="1764792"/>
            <a:ext cx="1636776" cy="841248"/>
          </a:xfrm>
          <a:prstGeom prst="rect">
            <a:avLst/>
          </a:prstGeom>
          <a:noFill/>
          <a:ln/>
        </p:spPr>
        <p:txBody>
          <a:bodyPr wrap="square" lIns="0" tIns="0" rIns="0" bIns="0" rtlCol="0" anchor="t"/>
          <a:lstStyle/>
          <a:p>
            <a:pPr indent="0" marL="0">
              <a:buNone/>
            </a:pPr>
            <a:r>
              <a:rPr lang="en-US" sz="1050" dirty="0">
                <a:solidFill>
                  <a:schemeClr val="tx2"/>
                </a:solidFill>
              </a:rPr>
              <a:t>Art. 15 C.P.; Ley 1581/2012, art. 4</a:t>
            </a:r>
            <a:endParaRPr lang="en-US" sz="1050" dirty="0"/>
          </a:p>
        </p:txBody>
      </p:sp>
      <p:sp>
        <p:nvSpPr>
          <p:cNvPr id="25" name="card Responsabilidad demostrada"/>
          <p:cNvSpPr/>
          <p:nvPr/>
        </p:nvSpPr>
        <p:spPr>
          <a:xfrm>
            <a:off x="457200" y="2834640"/>
            <a:ext cx="1965960" cy="1463040"/>
          </a:xfrm>
          <a:prstGeom prst="roundRect">
            <a:avLst>
              <a:gd name="adj" fmla="val 5000"/>
            </a:avLst>
          </a:prstGeom>
          <a:solidFill>
            <a:schemeClr val="bg2"/>
          </a:solidFill>
          <a:ln w="12700">
            <a:solidFill>
              <a:schemeClr val="bg2"/>
            </a:solidFill>
            <a:prstDash val="solid"/>
          </a:ln>
        </p:spPr>
      </p:sp>
      <p:sp>
        <p:nvSpPr>
          <p:cNvPr id="26" name="num Responsabilidad demostrada"/>
          <p:cNvSpPr/>
          <p:nvPr/>
        </p:nvSpPr>
        <p:spPr>
          <a:xfrm>
            <a:off x="594360" y="2971800"/>
            <a:ext cx="384048" cy="384048"/>
          </a:xfrm>
          <a:prstGeom prst="ellipse">
            <a:avLst/>
          </a:prstGeom>
          <a:solidFill>
            <a:schemeClr val="accent1"/>
          </a:solidFill>
          <a:ln w="12700">
            <a:solidFill>
              <a:schemeClr val="accent1"/>
            </a:solidFill>
            <a:prstDash val="solid"/>
          </a:ln>
        </p:spPr>
      </p:sp>
      <p:sp>
        <p:nvSpPr>
          <p:cNvPr id="27" name="numtxt Responsabilidad demostrada"/>
          <p:cNvSpPr txBox="1"/>
          <p:nvPr/>
        </p:nvSpPr>
        <p:spPr>
          <a:xfrm>
            <a:off x="594360" y="297180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head Responsabilidad demostrada"/>
          <p:cNvSpPr txBox="1"/>
          <p:nvPr/>
        </p:nvSpPr>
        <p:spPr>
          <a:xfrm>
            <a:off x="1078992" y="2926080"/>
            <a:ext cx="1207008" cy="411480"/>
          </a:xfrm>
          <a:prstGeom prst="rect">
            <a:avLst/>
          </a:prstGeom>
          <a:noFill/>
          <a:ln/>
        </p:spPr>
        <p:txBody>
          <a:bodyPr wrap="square" lIns="0" tIns="0" rIns="0" bIns="0" rtlCol="0" anchor="ctr"/>
          <a:lstStyle/>
          <a:p>
            <a:pPr indent="0" marL="0">
              <a:buNone/>
            </a:pPr>
            <a:r>
              <a:rPr lang="en-US" sz="1150" b="1" dirty="0">
                <a:solidFill>
                  <a:schemeClr val="tx1"/>
                </a:solidFill>
              </a:rPr>
              <a:t>Responsabilidad demostrada</a:t>
            </a:r>
            <a:endParaRPr lang="en-US" sz="1150" dirty="0"/>
          </a:p>
        </p:txBody>
      </p:sp>
      <p:sp>
        <p:nvSpPr>
          <p:cNvPr id="29" name="body Responsabilidad demostrada"/>
          <p:cNvSpPr txBox="1"/>
          <p:nvPr/>
        </p:nvSpPr>
        <p:spPr>
          <a:xfrm>
            <a:off x="621792" y="3364992"/>
            <a:ext cx="1636776" cy="841248"/>
          </a:xfrm>
          <a:prstGeom prst="rect">
            <a:avLst/>
          </a:prstGeom>
          <a:noFill/>
          <a:ln/>
        </p:spPr>
        <p:txBody>
          <a:bodyPr wrap="square" lIns="0" tIns="0" rIns="0" bIns="0" rtlCol="0" anchor="t"/>
          <a:lstStyle/>
          <a:p>
            <a:pPr indent="0" marL="0">
              <a:buNone/>
            </a:pPr>
            <a:r>
              <a:rPr lang="en-US" sz="1050" dirty="0">
                <a:solidFill>
                  <a:schemeClr val="tx2"/>
                </a:solidFill>
              </a:rPr>
              <a:t>Decreto 1377/2013, arts. 26-27</a:t>
            </a:r>
            <a:endParaRPr lang="en-US" sz="1050" dirty="0"/>
          </a:p>
        </p:txBody>
      </p:sp>
      <p:sp>
        <p:nvSpPr>
          <p:cNvPr id="30" name="card Supervisión humana"/>
          <p:cNvSpPr/>
          <p:nvPr/>
        </p:nvSpPr>
        <p:spPr>
          <a:xfrm>
            <a:off x="2560320" y="2834640"/>
            <a:ext cx="1965960" cy="1463040"/>
          </a:xfrm>
          <a:prstGeom prst="roundRect">
            <a:avLst>
              <a:gd name="adj" fmla="val 5000"/>
            </a:avLst>
          </a:prstGeom>
          <a:solidFill>
            <a:schemeClr val="bg2"/>
          </a:solidFill>
          <a:ln w="12700">
            <a:solidFill>
              <a:schemeClr val="bg2"/>
            </a:solidFill>
            <a:prstDash val="solid"/>
          </a:ln>
        </p:spPr>
      </p:sp>
      <p:sp>
        <p:nvSpPr>
          <p:cNvPr id="31" name="num Supervisión humana"/>
          <p:cNvSpPr/>
          <p:nvPr/>
        </p:nvSpPr>
        <p:spPr>
          <a:xfrm>
            <a:off x="2697480" y="2971800"/>
            <a:ext cx="384048" cy="384048"/>
          </a:xfrm>
          <a:prstGeom prst="ellipse">
            <a:avLst/>
          </a:prstGeom>
          <a:solidFill>
            <a:schemeClr val="accent4"/>
          </a:solidFill>
          <a:ln w="12700">
            <a:solidFill>
              <a:schemeClr val="accent4"/>
            </a:solidFill>
            <a:prstDash val="solid"/>
          </a:ln>
        </p:spPr>
      </p:sp>
      <p:sp>
        <p:nvSpPr>
          <p:cNvPr id="32" name="numtxt Supervisión humana"/>
          <p:cNvSpPr txBox="1"/>
          <p:nvPr/>
        </p:nvSpPr>
        <p:spPr>
          <a:xfrm>
            <a:off x="2697480" y="297180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3" name="head Supervisión humana"/>
          <p:cNvSpPr txBox="1"/>
          <p:nvPr/>
        </p:nvSpPr>
        <p:spPr>
          <a:xfrm>
            <a:off x="3182112" y="2926080"/>
            <a:ext cx="1207008" cy="411480"/>
          </a:xfrm>
          <a:prstGeom prst="rect">
            <a:avLst/>
          </a:prstGeom>
          <a:noFill/>
          <a:ln/>
        </p:spPr>
        <p:txBody>
          <a:bodyPr wrap="square" lIns="0" tIns="0" rIns="0" bIns="0" rtlCol="0" anchor="ctr"/>
          <a:lstStyle/>
          <a:p>
            <a:pPr indent="0" marL="0">
              <a:buNone/>
            </a:pPr>
            <a:r>
              <a:rPr lang="en-US" sz="1150" b="1" dirty="0">
                <a:solidFill>
                  <a:schemeClr val="tx1"/>
                </a:solidFill>
              </a:rPr>
              <a:t>Supervisión humana</a:t>
            </a:r>
            <a:endParaRPr lang="en-US" sz="1150" dirty="0"/>
          </a:p>
        </p:txBody>
      </p:sp>
      <p:sp>
        <p:nvSpPr>
          <p:cNvPr id="34" name="body Supervisión humana"/>
          <p:cNvSpPr txBox="1"/>
          <p:nvPr/>
        </p:nvSpPr>
        <p:spPr>
          <a:xfrm>
            <a:off x="2724912" y="3364992"/>
            <a:ext cx="1636776" cy="841248"/>
          </a:xfrm>
          <a:prstGeom prst="rect">
            <a:avLst/>
          </a:prstGeom>
          <a:noFill/>
          <a:ln/>
        </p:spPr>
        <p:txBody>
          <a:bodyPr wrap="square" lIns="0" tIns="0" rIns="0" bIns="0" rtlCol="0" anchor="t"/>
          <a:lstStyle/>
          <a:p>
            <a:pPr indent="0" marL="0">
              <a:buNone/>
            </a:pPr>
            <a:r>
              <a:rPr lang="en-US" sz="1050" dirty="0">
                <a:solidFill>
                  <a:schemeClr val="tx2"/>
                </a:solidFill>
              </a:rPr>
              <a:t>T-323/2024: la IA apoya, no decide</a:t>
            </a:r>
            <a:endParaRPr lang="en-US" sz="1050" dirty="0"/>
          </a:p>
        </p:txBody>
      </p:sp>
      <p:sp>
        <p:nvSpPr>
          <p:cNvPr id="35" name="card Transparencia y explicabilidad"/>
          <p:cNvSpPr/>
          <p:nvPr/>
        </p:nvSpPr>
        <p:spPr>
          <a:xfrm>
            <a:off x="4663440" y="2834640"/>
            <a:ext cx="1965960" cy="1463040"/>
          </a:xfrm>
          <a:prstGeom prst="roundRect">
            <a:avLst>
              <a:gd name="adj" fmla="val 5000"/>
            </a:avLst>
          </a:prstGeom>
          <a:solidFill>
            <a:schemeClr val="bg2"/>
          </a:solidFill>
          <a:ln w="12700">
            <a:solidFill>
              <a:schemeClr val="bg2"/>
            </a:solidFill>
            <a:prstDash val="solid"/>
          </a:ln>
        </p:spPr>
      </p:sp>
      <p:sp>
        <p:nvSpPr>
          <p:cNvPr id="36" name="num Transparencia y explicabilidad"/>
          <p:cNvSpPr/>
          <p:nvPr/>
        </p:nvSpPr>
        <p:spPr>
          <a:xfrm>
            <a:off x="4800600" y="2971800"/>
            <a:ext cx="384048" cy="384048"/>
          </a:xfrm>
          <a:prstGeom prst="ellipse">
            <a:avLst/>
          </a:prstGeom>
          <a:solidFill>
            <a:schemeClr val="accent2"/>
          </a:solidFill>
          <a:ln w="12700">
            <a:solidFill>
              <a:schemeClr val="accent2"/>
            </a:solidFill>
            <a:prstDash val="solid"/>
          </a:ln>
        </p:spPr>
      </p:sp>
      <p:sp>
        <p:nvSpPr>
          <p:cNvPr id="37" name="numtxt Transparencia y explicabilidad"/>
          <p:cNvSpPr txBox="1"/>
          <p:nvPr/>
        </p:nvSpPr>
        <p:spPr>
          <a:xfrm>
            <a:off x="4800600" y="297180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38" name="head Transparencia y explicabilidad"/>
          <p:cNvSpPr txBox="1"/>
          <p:nvPr/>
        </p:nvSpPr>
        <p:spPr>
          <a:xfrm>
            <a:off x="5285232" y="2926080"/>
            <a:ext cx="1207008" cy="411480"/>
          </a:xfrm>
          <a:prstGeom prst="rect">
            <a:avLst/>
          </a:prstGeom>
          <a:noFill/>
          <a:ln/>
        </p:spPr>
        <p:txBody>
          <a:bodyPr wrap="square" lIns="0" tIns="0" rIns="0" bIns="0" rtlCol="0" anchor="ctr"/>
          <a:lstStyle/>
          <a:p>
            <a:pPr indent="0" marL="0">
              <a:buNone/>
            </a:pPr>
            <a:r>
              <a:rPr lang="en-US" sz="1150" b="1" dirty="0">
                <a:solidFill>
                  <a:schemeClr val="tx1"/>
                </a:solidFill>
              </a:rPr>
              <a:t>Transparencia y explicabilidad</a:t>
            </a:r>
            <a:endParaRPr lang="en-US" sz="1150" dirty="0"/>
          </a:p>
        </p:txBody>
      </p:sp>
      <p:sp>
        <p:nvSpPr>
          <p:cNvPr id="39" name="body Transparencia y explicabilidad"/>
          <p:cNvSpPr txBox="1"/>
          <p:nvPr/>
        </p:nvSpPr>
        <p:spPr>
          <a:xfrm>
            <a:off x="4828032" y="3364992"/>
            <a:ext cx="1636776" cy="841248"/>
          </a:xfrm>
          <a:prstGeom prst="rect">
            <a:avLst/>
          </a:prstGeom>
          <a:noFill/>
          <a:ln/>
        </p:spPr>
        <p:txBody>
          <a:bodyPr wrap="square" lIns="0" tIns="0" rIns="0" bIns="0" rtlCol="0" anchor="t"/>
          <a:lstStyle/>
          <a:p>
            <a:pPr indent="0" marL="0">
              <a:buNone/>
            </a:pPr>
            <a:r>
              <a:rPr lang="en-US" sz="1050" dirty="0">
                <a:solidFill>
                  <a:schemeClr val="tx2"/>
                </a:solidFill>
              </a:rPr>
              <a:t>T-323/2024; Circular SIC 002/2024</a:t>
            </a:r>
            <a:endParaRPr lang="en-US" sz="1050" dirty="0"/>
          </a:p>
        </p:txBody>
      </p:sp>
      <p:sp>
        <p:nvSpPr>
          <p:cNvPr id="40" name="preg"/>
          <p:cNvSpPr/>
          <p:nvPr/>
        </p:nvSpPr>
        <p:spPr>
          <a:xfrm>
            <a:off x="6766560" y="2834640"/>
            <a:ext cx="1920240" cy="1463040"/>
          </a:xfrm>
          <a:prstGeom prst="roundRect">
            <a:avLst>
              <a:gd name="adj" fmla="val 5000"/>
            </a:avLst>
          </a:prstGeom>
          <a:solidFill>
            <a:schemeClr val="tx1"/>
          </a:solidFill>
          <a:ln w="12700">
            <a:solidFill>
              <a:schemeClr val="tx1"/>
            </a:solidFill>
            <a:prstDash val="solid"/>
          </a:ln>
        </p:spPr>
      </p:sp>
      <p:sp>
        <p:nvSpPr>
          <p:cNvPr id="41" name="pregt"/>
          <p:cNvSpPr txBox="1"/>
          <p:nvPr/>
        </p:nvSpPr>
        <p:spPr>
          <a:xfrm>
            <a:off x="6903720" y="2834640"/>
            <a:ext cx="1645920" cy="1463040"/>
          </a:xfrm>
          <a:prstGeom prst="rect">
            <a:avLst/>
          </a:prstGeom>
          <a:noFill/>
          <a:ln/>
        </p:spPr>
        <p:txBody>
          <a:bodyPr wrap="square" lIns="0" tIns="0" rIns="0" bIns="0" rtlCol="0" anchor="ctr"/>
          <a:lstStyle/>
          <a:p>
            <a:pPr indent="0" marL="0">
              <a:buNone/>
            </a:pPr>
            <a:r>
              <a:rPr lang="en-US" sz="1100" b="1" dirty="0">
                <a:solidFill>
                  <a:schemeClr val="bg1"/>
                </a:solidFill>
              </a:rPr>
              <a:t>¿Cuál de estos principios protege al estudiante que firma un contrato por WhatsApp?</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949440" cy="731520"/>
          </a:xfrm>
          <a:prstGeom prst="rect">
            <a:avLst/>
          </a:prstGeom>
          <a:noFill/>
          <a:ln/>
        </p:spPr>
        <p:txBody>
          <a:bodyPr wrap="square" lIns="0" tIns="0" rIns="0" bIns="0" rtlCol="0" anchor="ctr"/>
          <a:lstStyle/>
          <a:p>
            <a:pPr algn="l" indent="0" marL="0">
              <a:buNone/>
            </a:pPr>
            <a:r>
              <a:rPr lang="en-US" sz="2400" b="1" dirty="0">
                <a:solidFill>
                  <a:schemeClr val="tx1"/>
                </a:solidFill>
              </a:rPr>
              <a:t>Mapa de campos y norma de cabecera</a:t>
            </a:r>
            <a:endParaRPr lang="en-US" sz="2400" dirty="0"/>
          </a:p>
        </p:txBody>
      </p:sp>
      <p:sp>
        <p:nvSpPr>
          <p:cNvPr id="3" name="bloque"/>
          <p:cNvSpPr txBox="1"/>
          <p:nvPr/>
        </p:nvSpPr>
        <p:spPr>
          <a:xfrm>
            <a:off x="7498080" y="411480"/>
            <a:ext cx="1188720" cy="292608"/>
          </a:xfrm>
          <a:prstGeom prst="rect">
            <a:avLst/>
          </a:prstGeom>
          <a:solidFill>
            <a:schemeClr val="accent1"/>
          </a:solidFill>
          <a:ln/>
        </p:spPr>
        <p:txBody>
          <a:bodyPr wrap="square" lIns="0" tIns="0" rIns="0" bIns="0" rtlCol="0" anchor="ctr"/>
          <a:lstStyle/>
          <a:p>
            <a:pPr algn="ctr" indent="0" marL="0">
              <a:buNone/>
            </a:pPr>
            <a:r>
              <a:rPr lang="en-US" sz="900" b="1" dirty="0">
                <a:solidFill>
                  <a:schemeClr val="bg1"/>
                </a:solidFill>
              </a:rPr>
              <a:t>CAMPOS 45-60</a:t>
            </a:r>
            <a:endParaRPr lang="en-US" sz="900" dirty="0"/>
          </a:p>
        </p:txBody>
      </p:sp>
      <p:graphicFrame>
        <p:nvGraphicFramePr>
          <p:cNvPr id="16" name="tabla campos"/>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377440"/>
                <a:gridCol w="3017520"/>
                <a:gridCol w="2834640"/>
              </a:tblGrid>
              <a:tr h="40233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Campo</a:t>
                      </a:r>
                      <a:endParaRPr lang="en-US" sz="105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24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Pregunta que responde</a:t>
                      </a:r>
                      <a:endParaRPr lang="en-US" sz="105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24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Norma de cabecera</a:t>
                      </a:r>
                      <a:endParaRPr lang="en-US" sz="105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240"/>
                    </a:solidFill>
                  </a:tcPr>
                </a:tc>
              </a:tr>
              <a:tr h="402336">
                <a:tc>
                  <a:txBody>
                    <a:bodyPr/>
                    <a:lstStyle/>
                    <a:p>
                      <a:pPr indent="0" marL="0">
                        <a:buNone/>
                      </a:pPr>
                      <a:r>
                        <a:rPr lang="en-US" sz="1050" b="1" dirty="0">
                          <a:solidFill>
                            <a:srgbClr val="1F2240"/>
                          </a:solidFill>
                          <a:latin typeface="Calibri" pitchFamily="34" charset="0"/>
                          <a:ea typeface="Calibri" pitchFamily="34" charset="-122"/>
                          <a:cs typeface="Calibri" pitchFamily="34" charset="-120"/>
                        </a:rPr>
                        <a:t>Datos personales y habeas data</a:t>
                      </a:r>
                      <a:endParaRPr lang="en-US" sz="105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8"/>
                    </a:solidFill>
                  </a:tcPr>
                </a:tc>
                <a:tc>
                  <a:txBody>
                    <a:bodyPr/>
                    <a:lstStyle/>
                    <a:p>
                      <a:pPr indent="0" marL="0">
                        <a:buNone/>
                      </a:pPr>
                      <a:r>
                        <a:rPr lang="en-US" sz="1050" dirty="0">
                          <a:solidFill>
                            <a:srgbClr val="1F2240"/>
                          </a:solidFill>
                          <a:latin typeface="Calibri" pitchFamily="34" charset="0"/>
                          <a:ea typeface="Calibri" pitchFamily="34" charset="-122"/>
                          <a:cs typeface="Calibri" pitchFamily="34" charset="-120"/>
                        </a:rPr>
                        <a:t>¿Quién controla la información sobre mí?</a:t>
                      </a:r>
                      <a:endParaRPr lang="en-US" sz="105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8"/>
                    </a:solidFill>
                  </a:tcPr>
                </a:tc>
                <a:tc>
                  <a:txBody>
                    <a:bodyPr/>
                    <a:lstStyle/>
                    <a:p>
                      <a:pPr indent="0" marL="0">
                        <a:buNone/>
                      </a:pPr>
                      <a:r>
                        <a:rPr lang="en-US" sz="1050" dirty="0">
                          <a:solidFill>
                            <a:srgbClr val="1F2240"/>
                          </a:solidFill>
                          <a:latin typeface="Calibri" pitchFamily="34" charset="0"/>
                          <a:ea typeface="Calibri" pitchFamily="34" charset="-122"/>
                          <a:cs typeface="Calibri" pitchFamily="34" charset="-120"/>
                        </a:rPr>
                        <a:t>Art. 15 C.P.; Leyes 1266/2008 y 1581/2012</a:t>
                      </a:r>
                      <a:endParaRPr lang="en-US" sz="105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8"/>
                    </a:solidFill>
                  </a:tcPr>
                </a:tc>
              </a:tr>
              <a:tr h="402336">
                <a:tc>
                  <a:txBody>
                    <a:bodyPr/>
                    <a:lstStyle/>
                    <a:p>
                      <a:pPr indent="0" marL="0">
                        <a:buNone/>
                      </a:pPr>
                      <a:r>
                        <a:rPr lang="en-US" sz="1050" b="1" dirty="0">
                          <a:solidFill>
                            <a:srgbClr val="1F2240"/>
                          </a:solidFill>
                          <a:latin typeface="Calibri" pitchFamily="34" charset="0"/>
                          <a:ea typeface="Calibri" pitchFamily="34" charset="-122"/>
                          <a:cs typeface="Calibri" pitchFamily="34" charset="-120"/>
                        </a:rPr>
                        <a:t>Comercio electrónico y contratación</a:t>
                      </a:r>
                      <a:endParaRPr lang="en-US" sz="105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50" dirty="0">
                          <a:solidFill>
                            <a:srgbClr val="1F2240"/>
                          </a:solidFill>
                          <a:latin typeface="Calibri" pitchFamily="34" charset="0"/>
                          <a:ea typeface="Calibri" pitchFamily="34" charset="-122"/>
                          <a:cs typeface="Calibri" pitchFamily="34" charset="-120"/>
                        </a:rPr>
                        <a:t>¿Vale lo que pacto por medios electrónicos?</a:t>
                      </a:r>
                      <a:endParaRPr lang="en-US" sz="105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50" dirty="0">
                          <a:solidFill>
                            <a:srgbClr val="1F2240"/>
                          </a:solidFill>
                          <a:latin typeface="Calibri" pitchFamily="34" charset="0"/>
                          <a:ea typeface="Calibri" pitchFamily="34" charset="-122"/>
                          <a:cs typeface="Calibri" pitchFamily="34" charset="-120"/>
                        </a:rPr>
                        <a:t>Ley 527/1999</a:t>
                      </a:r>
                      <a:endParaRPr lang="en-US" sz="105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02336">
                <a:tc>
                  <a:txBody>
                    <a:bodyPr/>
                    <a:lstStyle/>
                    <a:p>
                      <a:pPr indent="0" marL="0">
                        <a:buNone/>
                      </a:pPr>
                      <a:r>
                        <a:rPr lang="en-US" sz="1050" b="1" dirty="0">
                          <a:solidFill>
                            <a:srgbClr val="1F2240"/>
                          </a:solidFill>
                          <a:latin typeface="Calibri" pitchFamily="34" charset="0"/>
                          <a:ea typeface="Calibri" pitchFamily="34" charset="-122"/>
                          <a:cs typeface="Calibri" pitchFamily="34" charset="-120"/>
                        </a:rPr>
                        <a:t>Prueba electrónica</a:t>
                      </a:r>
                      <a:endParaRPr lang="en-US" sz="105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8"/>
                    </a:solidFill>
                  </a:tcPr>
                </a:tc>
                <a:tc>
                  <a:txBody>
                    <a:bodyPr/>
                    <a:lstStyle/>
                    <a:p>
                      <a:pPr indent="0" marL="0">
                        <a:buNone/>
                      </a:pPr>
                      <a:r>
                        <a:rPr lang="en-US" sz="1050" dirty="0">
                          <a:solidFill>
                            <a:srgbClr val="1F2240"/>
                          </a:solidFill>
                          <a:latin typeface="Calibri" pitchFamily="34" charset="0"/>
                          <a:ea typeface="Calibri" pitchFamily="34" charset="-122"/>
                          <a:cs typeface="Calibri" pitchFamily="34" charset="-120"/>
                        </a:rPr>
                        <a:t>¿Cómo se aporta y valora un mensaje de datos?</a:t>
                      </a:r>
                      <a:endParaRPr lang="en-US" sz="105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8"/>
                    </a:solidFill>
                  </a:tcPr>
                </a:tc>
                <a:tc>
                  <a:txBody>
                    <a:bodyPr/>
                    <a:lstStyle/>
                    <a:p>
                      <a:pPr indent="0" marL="0">
                        <a:buNone/>
                      </a:pPr>
                      <a:r>
                        <a:rPr lang="en-US" sz="1050" dirty="0">
                          <a:solidFill>
                            <a:srgbClr val="1F2240"/>
                          </a:solidFill>
                          <a:latin typeface="Calibri" pitchFamily="34" charset="0"/>
                          <a:ea typeface="Calibri" pitchFamily="34" charset="-122"/>
                          <a:cs typeface="Calibri" pitchFamily="34" charset="-120"/>
                        </a:rPr>
                        <a:t>Ley 527, arts. 10-11; CGP, art. 247</a:t>
                      </a:r>
                      <a:endParaRPr lang="en-US" sz="105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8"/>
                    </a:solidFill>
                  </a:tcPr>
                </a:tc>
              </a:tr>
              <a:tr h="402336">
                <a:tc>
                  <a:txBody>
                    <a:bodyPr/>
                    <a:lstStyle/>
                    <a:p>
                      <a:pPr indent="0" marL="0">
                        <a:buNone/>
                      </a:pPr>
                      <a:r>
                        <a:rPr lang="en-US" sz="1050" b="1" dirty="0">
                          <a:solidFill>
                            <a:srgbClr val="1F2240"/>
                          </a:solidFill>
                          <a:latin typeface="Calibri" pitchFamily="34" charset="0"/>
                          <a:ea typeface="Calibri" pitchFamily="34" charset="-122"/>
                          <a:cs typeface="Calibri" pitchFamily="34" charset="-120"/>
                        </a:rPr>
                        <a:t>Delitos informáticos</a:t>
                      </a:r>
                      <a:endParaRPr lang="en-US" sz="105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50" dirty="0">
                          <a:solidFill>
                            <a:srgbClr val="1F2240"/>
                          </a:solidFill>
                          <a:latin typeface="Calibri" pitchFamily="34" charset="0"/>
                          <a:ea typeface="Calibri" pitchFamily="34" charset="-122"/>
                          <a:cs typeface="Calibri" pitchFamily="34" charset="-120"/>
                        </a:rPr>
                        <a:t>¿Qué conductas digitales son delito?</a:t>
                      </a:r>
                      <a:endParaRPr lang="en-US" sz="105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50" dirty="0">
                          <a:solidFill>
                            <a:srgbClr val="1F2240"/>
                          </a:solidFill>
                          <a:latin typeface="Calibri" pitchFamily="34" charset="0"/>
                          <a:ea typeface="Calibri" pitchFamily="34" charset="-122"/>
                          <a:cs typeface="Calibri" pitchFamily="34" charset="-120"/>
                        </a:rPr>
                        <a:t>Ley 1273/2009; Convenio de Budapest</a:t>
                      </a:r>
                      <a:endParaRPr lang="en-US" sz="105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02336">
                <a:tc>
                  <a:txBody>
                    <a:bodyPr/>
                    <a:lstStyle/>
                    <a:p>
                      <a:pPr indent="0" marL="0">
                        <a:buNone/>
                      </a:pPr>
                      <a:r>
                        <a:rPr lang="en-US" sz="1050" b="1" dirty="0">
                          <a:solidFill>
                            <a:srgbClr val="1F2240"/>
                          </a:solidFill>
                          <a:latin typeface="Calibri" pitchFamily="34" charset="0"/>
                          <a:ea typeface="Calibri" pitchFamily="34" charset="-122"/>
                          <a:cs typeface="Calibri" pitchFamily="34" charset="-120"/>
                        </a:rPr>
                        <a:t>Propiedad intelectual digital</a:t>
                      </a:r>
                      <a:endParaRPr lang="en-US" sz="105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8"/>
                    </a:solidFill>
                  </a:tcPr>
                </a:tc>
                <a:tc>
                  <a:txBody>
                    <a:bodyPr/>
                    <a:lstStyle/>
                    <a:p>
                      <a:pPr indent="0" marL="0">
                        <a:buNone/>
                      </a:pPr>
                      <a:r>
                        <a:rPr lang="en-US" sz="1050" dirty="0">
                          <a:solidFill>
                            <a:srgbClr val="1F2240"/>
                          </a:solidFill>
                          <a:latin typeface="Calibri" pitchFamily="34" charset="0"/>
                          <a:ea typeface="Calibri" pitchFamily="34" charset="-122"/>
                          <a:cs typeface="Calibri" pitchFamily="34" charset="-120"/>
                        </a:rPr>
                        <a:t>¿A quién pertenece el software, la obra y el dato?</a:t>
                      </a:r>
                      <a:endParaRPr lang="en-US" sz="105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8"/>
                    </a:solidFill>
                  </a:tcPr>
                </a:tc>
                <a:tc>
                  <a:txBody>
                    <a:bodyPr/>
                    <a:lstStyle/>
                    <a:p>
                      <a:pPr indent="0" marL="0">
                        <a:buNone/>
                      </a:pPr>
                      <a:r>
                        <a:rPr lang="en-US" sz="1050" dirty="0">
                          <a:solidFill>
                            <a:srgbClr val="1F2240"/>
                          </a:solidFill>
                          <a:latin typeface="Calibri" pitchFamily="34" charset="0"/>
                          <a:ea typeface="Calibri" pitchFamily="34" charset="-122"/>
                          <a:cs typeface="Calibri" pitchFamily="34" charset="-120"/>
                        </a:rPr>
                        <a:t>Ley 23/1982; Decisión Andina 351; Ley 1915/2018</a:t>
                      </a:r>
                      <a:endParaRPr lang="en-US" sz="105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8"/>
                    </a:solidFill>
                  </a:tcPr>
                </a:tc>
              </a:tr>
              <a:tr h="402336">
                <a:tc>
                  <a:txBody>
                    <a:bodyPr/>
                    <a:lstStyle/>
                    <a:p>
                      <a:pPr indent="0" marL="0">
                        <a:buNone/>
                      </a:pPr>
                      <a:r>
                        <a:rPr lang="en-US" sz="1050" b="1" dirty="0">
                          <a:solidFill>
                            <a:srgbClr val="1F2240"/>
                          </a:solidFill>
                          <a:latin typeface="Calibri" pitchFamily="34" charset="0"/>
                          <a:ea typeface="Calibri" pitchFamily="34" charset="-122"/>
                          <a:cs typeface="Calibri" pitchFamily="34" charset="-120"/>
                        </a:rPr>
                        <a:t>Gobierno y justicia digital</a:t>
                      </a:r>
                      <a:endParaRPr lang="en-US" sz="105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50" dirty="0">
                          <a:solidFill>
                            <a:srgbClr val="1F2240"/>
                          </a:solidFill>
                          <a:latin typeface="Calibri" pitchFamily="34" charset="0"/>
                          <a:ea typeface="Calibri" pitchFamily="34" charset="-122"/>
                          <a:cs typeface="Calibri" pitchFamily="34" charset="-120"/>
                        </a:rPr>
                        <a:t>¿Cómo me relaciono con el Estado en línea?</a:t>
                      </a:r>
                      <a:endParaRPr lang="en-US" sz="105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50" dirty="0">
                          <a:solidFill>
                            <a:srgbClr val="1F2240"/>
                          </a:solidFill>
                          <a:latin typeface="Calibri" pitchFamily="34" charset="0"/>
                          <a:ea typeface="Calibri" pitchFamily="34" charset="-122"/>
                          <a:cs typeface="Calibri" pitchFamily="34" charset="-120"/>
                        </a:rPr>
                        <a:t>CPACA; Ley 2213/2022; Ley 1712/2014</a:t>
                      </a:r>
                      <a:endParaRPr lang="en-US" sz="105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02336">
                <a:tc>
                  <a:txBody>
                    <a:bodyPr/>
                    <a:lstStyle/>
                    <a:p>
                      <a:pPr indent="0" marL="0">
                        <a:buNone/>
                      </a:pPr>
                      <a:r>
                        <a:rPr lang="en-US" sz="1050" b="1" dirty="0">
                          <a:solidFill>
                            <a:srgbClr val="1F2240"/>
                          </a:solidFill>
                          <a:latin typeface="Calibri" pitchFamily="34" charset="0"/>
                          <a:ea typeface="Calibri" pitchFamily="34" charset="-122"/>
                          <a:cs typeface="Calibri" pitchFamily="34" charset="-120"/>
                        </a:rPr>
                        <a:t>Inteligencia artificial</a:t>
                      </a:r>
                      <a:endParaRPr lang="en-US" sz="105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8"/>
                    </a:solidFill>
                  </a:tcPr>
                </a:tc>
                <a:tc>
                  <a:txBody>
                    <a:bodyPr/>
                    <a:lstStyle/>
                    <a:p>
                      <a:pPr indent="0" marL="0">
                        <a:buNone/>
                      </a:pPr>
                      <a:r>
                        <a:rPr lang="en-US" sz="1050" dirty="0">
                          <a:solidFill>
                            <a:srgbClr val="1F2240"/>
                          </a:solidFill>
                          <a:latin typeface="Calibri" pitchFamily="34" charset="0"/>
                          <a:ea typeface="Calibri" pitchFamily="34" charset="-122"/>
                          <a:cs typeface="Calibri" pitchFamily="34" charset="-120"/>
                        </a:rPr>
                        <a:t>¿Quién responde por la decisión asistida por una máquina?</a:t>
                      </a:r>
                      <a:endParaRPr lang="en-US" sz="105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8"/>
                    </a:solidFill>
                  </a:tcPr>
                </a:tc>
                <a:tc>
                  <a:txBody>
                    <a:bodyPr/>
                    <a:lstStyle/>
                    <a:p>
                      <a:pPr indent="0" marL="0">
                        <a:buNone/>
                      </a:pPr>
                      <a:r>
                        <a:rPr lang="en-US" sz="1050" dirty="0">
                          <a:solidFill>
                            <a:srgbClr val="1F2240"/>
                          </a:solidFill>
                          <a:latin typeface="Calibri" pitchFamily="34" charset="0"/>
                          <a:ea typeface="Calibri" pitchFamily="34" charset="-122"/>
                          <a:cs typeface="Calibri" pitchFamily="34" charset="-120"/>
                        </a:rPr>
                        <a:t>CONPES 4144/2025; Circular SIC 002/2024; T-323/2024</a:t>
                      </a:r>
                      <a:endParaRPr lang="en-US" sz="1050" dirty="0">
                        <a:latin typeface="Calibri" charset="0"/>
                        <a:ea typeface="Calibri" charset="0"/>
                        <a:cs typeface="Calibri" charset="0"/>
                      </a:endParaRPr>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8"/>
                    </a:solidFill>
                  </a:tcPr>
                </a:tc>
              </a:tr>
            </a:tbl>
          </a:graphicData>
        </a:graphic>
      </p:graphicFrame>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949440" cy="731520"/>
          </a:xfrm>
          <a:prstGeom prst="rect">
            <a:avLst/>
          </a:prstGeom>
          <a:noFill/>
          <a:ln/>
        </p:spPr>
        <p:txBody>
          <a:bodyPr wrap="square" lIns="0" tIns="0" rIns="0" bIns="0" rtlCol="0" anchor="ctr"/>
          <a:lstStyle/>
          <a:p>
            <a:pPr algn="l" indent="0" marL="0">
              <a:buNone/>
            </a:pPr>
            <a:r>
              <a:rPr lang="en-US" sz="2400" b="1" dirty="0">
                <a:solidFill>
                  <a:schemeClr val="tx1"/>
                </a:solidFill>
              </a:rPr>
              <a:t>Problemas contemporáneos (2024-2026)</a:t>
            </a:r>
            <a:endParaRPr lang="en-US" sz="2400" dirty="0"/>
          </a:p>
        </p:txBody>
      </p:sp>
      <p:sp>
        <p:nvSpPr>
          <p:cNvPr id="3" name="bloque"/>
          <p:cNvSpPr txBox="1"/>
          <p:nvPr/>
        </p:nvSpPr>
        <p:spPr>
          <a:xfrm>
            <a:off x="7498080" y="411480"/>
            <a:ext cx="1188720" cy="292608"/>
          </a:xfrm>
          <a:prstGeom prst="rect">
            <a:avLst/>
          </a:prstGeom>
          <a:solidFill>
            <a:schemeClr val="accent1"/>
          </a:solidFill>
          <a:ln/>
        </p:spPr>
        <p:txBody>
          <a:bodyPr wrap="square" lIns="0" tIns="0" rIns="0" bIns="0" rtlCol="0" anchor="ctr"/>
          <a:lstStyle/>
          <a:p>
            <a:pPr algn="ctr" indent="0" marL="0">
              <a:buNone/>
            </a:pPr>
            <a:r>
              <a:rPr lang="en-US" sz="900" b="1" dirty="0">
                <a:solidFill>
                  <a:schemeClr val="bg1"/>
                </a:solidFill>
              </a:rPr>
              <a:t>ACTUALIDAD 45-60</a:t>
            </a:r>
            <a:endParaRPr lang="en-US" sz="900" dirty="0"/>
          </a:p>
        </p:txBody>
      </p:sp>
      <p:sp>
        <p:nvSpPr>
          <p:cNvPr id="5" name="card IA generativa en la justicia"/>
          <p:cNvSpPr/>
          <p:nvPr/>
        </p:nvSpPr>
        <p:spPr>
          <a:xfrm>
            <a:off x="457200" y="1188720"/>
            <a:ext cx="2651760" cy="1554480"/>
          </a:xfrm>
          <a:prstGeom prst="roundRect">
            <a:avLst>
              <a:gd name="adj" fmla="val 4706"/>
            </a:avLst>
          </a:prstGeom>
          <a:solidFill>
            <a:schemeClr val="bg2"/>
          </a:solidFill>
          <a:ln w="12700">
            <a:solidFill>
              <a:schemeClr val="bg2"/>
            </a:solidFill>
            <a:prstDash val="solid"/>
          </a:ln>
        </p:spPr>
      </p:sp>
      <p:sp>
        <p:nvSpPr>
          <p:cNvPr id="6" name="head IA generativa en la justicia"/>
          <p:cNvSpPr txBox="1"/>
          <p:nvPr/>
        </p:nvSpPr>
        <p:spPr>
          <a:xfrm>
            <a:off x="621792" y="1280160"/>
            <a:ext cx="2350008" cy="411480"/>
          </a:xfrm>
          <a:prstGeom prst="rect">
            <a:avLst/>
          </a:prstGeom>
          <a:noFill/>
          <a:ln/>
        </p:spPr>
        <p:txBody>
          <a:bodyPr wrap="square" lIns="0" tIns="0" rIns="0" bIns="0" rtlCol="0" anchor="ctr"/>
          <a:lstStyle/>
          <a:p>
            <a:pPr indent="0" marL="0">
              <a:buNone/>
            </a:pPr>
            <a:r>
              <a:rPr lang="en-US" sz="1200" b="1" dirty="0">
                <a:solidFill>
                  <a:schemeClr val="tx1"/>
                </a:solidFill>
              </a:rPr>
              <a:t>IA generativa en la justicia</a:t>
            </a:r>
            <a:endParaRPr lang="en-US" sz="1200" dirty="0"/>
          </a:p>
        </p:txBody>
      </p:sp>
      <p:sp>
        <p:nvSpPr>
          <p:cNvPr id="7" name="body IA generativa en la justicia"/>
          <p:cNvSpPr txBox="1"/>
          <p:nvPr/>
        </p:nvSpPr>
        <p:spPr>
          <a:xfrm>
            <a:off x="621792" y="1719072"/>
            <a:ext cx="2322576" cy="932688"/>
          </a:xfrm>
          <a:prstGeom prst="rect">
            <a:avLst/>
          </a:prstGeom>
          <a:noFill/>
          <a:ln/>
        </p:spPr>
        <p:txBody>
          <a:bodyPr wrap="square" lIns="0" tIns="0" rIns="0" bIns="0" rtlCol="0" anchor="t"/>
          <a:lstStyle/>
          <a:p>
            <a:pPr indent="0" marL="0">
              <a:buNone/>
            </a:pPr>
            <a:r>
              <a:rPr lang="en-US" sz="1050" dirty="0">
                <a:solidFill>
                  <a:schemeClr val="tx2"/>
                </a:solidFill>
              </a:rPr>
              <a:t>Alucinaciones, confidencialidad del expediente, trazabilidad de la decisión (T-323/2024; STC17832-2025).</a:t>
            </a:r>
            <a:endParaRPr lang="en-US" sz="1050" dirty="0"/>
          </a:p>
        </p:txBody>
      </p:sp>
      <p:sp>
        <p:nvSpPr>
          <p:cNvPr id="8" name="card Biometría y datos sensibles"/>
          <p:cNvSpPr/>
          <p:nvPr/>
        </p:nvSpPr>
        <p:spPr>
          <a:xfrm>
            <a:off x="3246120" y="1188720"/>
            <a:ext cx="2651760" cy="1554480"/>
          </a:xfrm>
          <a:prstGeom prst="roundRect">
            <a:avLst>
              <a:gd name="adj" fmla="val 4706"/>
            </a:avLst>
          </a:prstGeom>
          <a:solidFill>
            <a:schemeClr val="bg2"/>
          </a:solidFill>
          <a:ln w="12700">
            <a:solidFill>
              <a:schemeClr val="bg2"/>
            </a:solidFill>
            <a:prstDash val="solid"/>
          </a:ln>
        </p:spPr>
      </p:sp>
      <p:sp>
        <p:nvSpPr>
          <p:cNvPr id="9" name="head Biometría y datos sensibles"/>
          <p:cNvSpPr txBox="1"/>
          <p:nvPr/>
        </p:nvSpPr>
        <p:spPr>
          <a:xfrm>
            <a:off x="3410712" y="1280160"/>
            <a:ext cx="2350008" cy="411480"/>
          </a:xfrm>
          <a:prstGeom prst="rect">
            <a:avLst/>
          </a:prstGeom>
          <a:noFill/>
          <a:ln/>
        </p:spPr>
        <p:txBody>
          <a:bodyPr wrap="square" lIns="0" tIns="0" rIns="0" bIns="0" rtlCol="0" anchor="ctr"/>
          <a:lstStyle/>
          <a:p>
            <a:pPr indent="0" marL="0">
              <a:buNone/>
            </a:pPr>
            <a:r>
              <a:rPr lang="en-US" sz="1200" b="1" dirty="0">
                <a:solidFill>
                  <a:schemeClr val="tx1"/>
                </a:solidFill>
              </a:rPr>
              <a:t>Biometría y datos sensibles</a:t>
            </a:r>
            <a:endParaRPr lang="en-US" sz="1200" dirty="0"/>
          </a:p>
        </p:txBody>
      </p:sp>
      <p:sp>
        <p:nvSpPr>
          <p:cNvPr id="10" name="body Biometría y datos sensibles"/>
          <p:cNvSpPr txBox="1"/>
          <p:nvPr/>
        </p:nvSpPr>
        <p:spPr>
          <a:xfrm>
            <a:off x="3410712" y="1719072"/>
            <a:ext cx="2322576" cy="932688"/>
          </a:xfrm>
          <a:prstGeom prst="rect">
            <a:avLst/>
          </a:prstGeom>
          <a:noFill/>
          <a:ln/>
        </p:spPr>
        <p:txBody>
          <a:bodyPr wrap="square" lIns="0" tIns="0" rIns="0" bIns="0" rtlCol="0" anchor="t"/>
          <a:lstStyle/>
          <a:p>
            <a:pPr indent="0" marL="0">
              <a:buNone/>
            </a:pPr>
            <a:r>
              <a:rPr lang="en-US" sz="1050" dirty="0">
                <a:solidFill>
                  <a:schemeClr val="tx2"/>
                </a:solidFill>
              </a:rPr>
              <a:t>Reconocimiento facial, huella, prueba de necesidad y proporcionalidad.</a:t>
            </a:r>
            <a:endParaRPr lang="en-US" sz="1050" dirty="0"/>
          </a:p>
        </p:txBody>
      </p:sp>
      <p:sp>
        <p:nvSpPr>
          <p:cNvPr id="11" name="card Deepfakes y clonación de voz"/>
          <p:cNvSpPr/>
          <p:nvPr/>
        </p:nvSpPr>
        <p:spPr>
          <a:xfrm>
            <a:off x="6035040" y="1188720"/>
            <a:ext cx="2651760" cy="1554480"/>
          </a:xfrm>
          <a:prstGeom prst="roundRect">
            <a:avLst>
              <a:gd name="adj" fmla="val 4706"/>
            </a:avLst>
          </a:prstGeom>
          <a:solidFill>
            <a:schemeClr val="bg2"/>
          </a:solidFill>
          <a:ln w="12700">
            <a:solidFill>
              <a:schemeClr val="bg2"/>
            </a:solidFill>
            <a:prstDash val="solid"/>
          </a:ln>
        </p:spPr>
      </p:sp>
      <p:sp>
        <p:nvSpPr>
          <p:cNvPr id="12" name="head Deepfakes y clonación de voz"/>
          <p:cNvSpPr txBox="1"/>
          <p:nvPr/>
        </p:nvSpPr>
        <p:spPr>
          <a:xfrm>
            <a:off x="6199632" y="1280160"/>
            <a:ext cx="2350008" cy="411480"/>
          </a:xfrm>
          <a:prstGeom prst="rect">
            <a:avLst/>
          </a:prstGeom>
          <a:noFill/>
          <a:ln/>
        </p:spPr>
        <p:txBody>
          <a:bodyPr wrap="square" lIns="0" tIns="0" rIns="0" bIns="0" rtlCol="0" anchor="ctr"/>
          <a:lstStyle/>
          <a:p>
            <a:pPr indent="0" marL="0">
              <a:buNone/>
            </a:pPr>
            <a:r>
              <a:rPr lang="en-US" sz="1200" b="1" dirty="0">
                <a:solidFill>
                  <a:schemeClr val="tx1"/>
                </a:solidFill>
              </a:rPr>
              <a:t>Deepfakes y clonación de voz</a:t>
            </a:r>
            <a:endParaRPr lang="en-US" sz="1200" dirty="0"/>
          </a:p>
        </p:txBody>
      </p:sp>
      <p:sp>
        <p:nvSpPr>
          <p:cNvPr id="13" name="body Deepfakes y clonación de voz"/>
          <p:cNvSpPr txBox="1"/>
          <p:nvPr/>
        </p:nvSpPr>
        <p:spPr>
          <a:xfrm>
            <a:off x="6199632" y="1719072"/>
            <a:ext cx="2322576" cy="932688"/>
          </a:xfrm>
          <a:prstGeom prst="rect">
            <a:avLst/>
          </a:prstGeom>
          <a:noFill/>
          <a:ln/>
        </p:spPr>
        <p:txBody>
          <a:bodyPr wrap="square" lIns="0" tIns="0" rIns="0" bIns="0" rtlCol="0" anchor="t"/>
          <a:lstStyle/>
          <a:p>
            <a:pPr indent="0" marL="0">
              <a:buNone/>
            </a:pPr>
            <a:r>
              <a:rPr lang="en-US" sz="1050" dirty="0">
                <a:solidFill>
                  <a:schemeClr val="tx2"/>
                </a:solidFill>
              </a:rPr>
              <a:t>Identidad, honra, prueba y fraude.</a:t>
            </a:r>
            <a:endParaRPr lang="en-US" sz="1050" dirty="0"/>
          </a:p>
        </p:txBody>
      </p:sp>
      <p:sp>
        <p:nvSpPr>
          <p:cNvPr id="14" name="card Fraude digital y ciberdelincuencia"/>
          <p:cNvSpPr/>
          <p:nvPr/>
        </p:nvSpPr>
        <p:spPr>
          <a:xfrm>
            <a:off x="457200" y="2880360"/>
            <a:ext cx="2651760" cy="1554480"/>
          </a:xfrm>
          <a:prstGeom prst="roundRect">
            <a:avLst>
              <a:gd name="adj" fmla="val 4706"/>
            </a:avLst>
          </a:prstGeom>
          <a:solidFill>
            <a:schemeClr val="bg2"/>
          </a:solidFill>
          <a:ln w="12700">
            <a:solidFill>
              <a:schemeClr val="bg2"/>
            </a:solidFill>
            <a:prstDash val="solid"/>
          </a:ln>
        </p:spPr>
      </p:sp>
      <p:sp>
        <p:nvSpPr>
          <p:cNvPr id="15" name="head Fraude digital y ciberdelincuencia"/>
          <p:cNvSpPr txBox="1"/>
          <p:nvPr/>
        </p:nvSpPr>
        <p:spPr>
          <a:xfrm>
            <a:off x="621792" y="2971800"/>
            <a:ext cx="2350008" cy="411480"/>
          </a:xfrm>
          <a:prstGeom prst="rect">
            <a:avLst/>
          </a:prstGeom>
          <a:noFill/>
          <a:ln/>
        </p:spPr>
        <p:txBody>
          <a:bodyPr wrap="square" lIns="0" tIns="0" rIns="0" bIns="0" rtlCol="0" anchor="ctr"/>
          <a:lstStyle/>
          <a:p>
            <a:pPr indent="0" marL="0">
              <a:buNone/>
            </a:pPr>
            <a:r>
              <a:rPr lang="en-US" sz="1200" b="1" dirty="0">
                <a:solidFill>
                  <a:schemeClr val="tx1"/>
                </a:solidFill>
              </a:rPr>
              <a:t>Fraude digital y ciberdelincuencia</a:t>
            </a:r>
            <a:endParaRPr lang="en-US" sz="1200" dirty="0"/>
          </a:p>
        </p:txBody>
      </p:sp>
      <p:sp>
        <p:nvSpPr>
          <p:cNvPr id="16" name="body Fraude digital y ciberdelincuencia"/>
          <p:cNvSpPr txBox="1"/>
          <p:nvPr/>
        </p:nvSpPr>
        <p:spPr>
          <a:xfrm>
            <a:off x="621792" y="3410712"/>
            <a:ext cx="2322576" cy="932688"/>
          </a:xfrm>
          <a:prstGeom prst="rect">
            <a:avLst/>
          </a:prstGeom>
          <a:noFill/>
          <a:ln/>
        </p:spPr>
        <p:txBody>
          <a:bodyPr wrap="square" lIns="0" tIns="0" rIns="0" bIns="0" rtlCol="0" anchor="t"/>
          <a:lstStyle/>
          <a:p>
            <a:pPr indent="0" marL="0">
              <a:buNone/>
            </a:pPr>
            <a:r>
              <a:rPr lang="en-US" sz="1050" dirty="0">
                <a:solidFill>
                  <a:schemeClr val="tx2"/>
                </a:solidFill>
              </a:rPr>
              <a:t>Phishing, suplantación, acceso abusivo: la Ley 1273/2009 ante conductas de 2026.</a:t>
            </a:r>
            <a:endParaRPr lang="en-US" sz="1050" dirty="0"/>
          </a:p>
        </p:txBody>
      </p:sp>
      <p:sp>
        <p:nvSpPr>
          <p:cNvPr id="17" name="card Decisiones automatizadas"/>
          <p:cNvSpPr/>
          <p:nvPr/>
        </p:nvSpPr>
        <p:spPr>
          <a:xfrm>
            <a:off x="3246120" y="2880360"/>
            <a:ext cx="2651760" cy="1554480"/>
          </a:xfrm>
          <a:prstGeom prst="roundRect">
            <a:avLst>
              <a:gd name="adj" fmla="val 4706"/>
            </a:avLst>
          </a:prstGeom>
          <a:solidFill>
            <a:schemeClr val="bg2"/>
          </a:solidFill>
          <a:ln w="12700">
            <a:solidFill>
              <a:schemeClr val="bg2"/>
            </a:solidFill>
            <a:prstDash val="solid"/>
          </a:ln>
        </p:spPr>
      </p:sp>
      <p:sp>
        <p:nvSpPr>
          <p:cNvPr id="18" name="head Decisiones automatizadas"/>
          <p:cNvSpPr txBox="1"/>
          <p:nvPr/>
        </p:nvSpPr>
        <p:spPr>
          <a:xfrm>
            <a:off x="3410712" y="2971800"/>
            <a:ext cx="2350008" cy="411480"/>
          </a:xfrm>
          <a:prstGeom prst="rect">
            <a:avLst/>
          </a:prstGeom>
          <a:noFill/>
          <a:ln/>
        </p:spPr>
        <p:txBody>
          <a:bodyPr wrap="square" lIns="0" tIns="0" rIns="0" bIns="0" rtlCol="0" anchor="ctr"/>
          <a:lstStyle/>
          <a:p>
            <a:pPr indent="0" marL="0">
              <a:buNone/>
            </a:pPr>
            <a:r>
              <a:rPr lang="en-US" sz="1200" b="1" dirty="0">
                <a:solidFill>
                  <a:schemeClr val="tx1"/>
                </a:solidFill>
              </a:rPr>
              <a:t>Decisiones automatizadas</a:t>
            </a:r>
            <a:endParaRPr lang="en-US" sz="1200" dirty="0"/>
          </a:p>
        </p:txBody>
      </p:sp>
      <p:sp>
        <p:nvSpPr>
          <p:cNvPr id="19" name="body Decisiones automatizadas"/>
          <p:cNvSpPr txBox="1"/>
          <p:nvPr/>
        </p:nvSpPr>
        <p:spPr>
          <a:xfrm>
            <a:off x="3410712" y="3410712"/>
            <a:ext cx="2322576" cy="932688"/>
          </a:xfrm>
          <a:prstGeom prst="rect">
            <a:avLst/>
          </a:prstGeom>
          <a:noFill/>
          <a:ln/>
        </p:spPr>
        <p:txBody>
          <a:bodyPr wrap="square" lIns="0" tIns="0" rIns="0" bIns="0" rtlCol="0" anchor="t"/>
          <a:lstStyle/>
          <a:p>
            <a:pPr indent="0" marL="0">
              <a:buNone/>
            </a:pPr>
            <a:r>
              <a:rPr lang="en-US" sz="1050" dirty="0">
                <a:solidFill>
                  <a:schemeClr val="tx2"/>
                </a:solidFill>
              </a:rPr>
              <a:t>Crédito, salud, empleo y Estado: perfilamiento, sesgos, derecho a una explicación.</a:t>
            </a:r>
            <a:endParaRPr lang="en-US" sz="1050" dirty="0"/>
          </a:p>
        </p:txBody>
      </p:sp>
      <p:sp>
        <p:nvSpPr>
          <p:cNvPr id="20" name="card Jurisdicción y territorialidad"/>
          <p:cNvSpPr/>
          <p:nvPr/>
        </p:nvSpPr>
        <p:spPr>
          <a:xfrm>
            <a:off x="6035040" y="2880360"/>
            <a:ext cx="2651760" cy="1554480"/>
          </a:xfrm>
          <a:prstGeom prst="roundRect">
            <a:avLst>
              <a:gd name="adj" fmla="val 4706"/>
            </a:avLst>
          </a:prstGeom>
          <a:solidFill>
            <a:schemeClr val="bg2"/>
          </a:solidFill>
          <a:ln w="12700">
            <a:solidFill>
              <a:schemeClr val="bg2"/>
            </a:solidFill>
            <a:prstDash val="solid"/>
          </a:ln>
        </p:spPr>
      </p:sp>
      <p:sp>
        <p:nvSpPr>
          <p:cNvPr id="21" name="head Jurisdicción y territorialidad"/>
          <p:cNvSpPr txBox="1"/>
          <p:nvPr/>
        </p:nvSpPr>
        <p:spPr>
          <a:xfrm>
            <a:off x="6199632" y="2971800"/>
            <a:ext cx="2350008" cy="411480"/>
          </a:xfrm>
          <a:prstGeom prst="rect">
            <a:avLst/>
          </a:prstGeom>
          <a:noFill/>
          <a:ln/>
        </p:spPr>
        <p:txBody>
          <a:bodyPr wrap="square" lIns="0" tIns="0" rIns="0" bIns="0" rtlCol="0" anchor="ctr"/>
          <a:lstStyle/>
          <a:p>
            <a:pPr indent="0" marL="0">
              <a:buNone/>
            </a:pPr>
            <a:r>
              <a:rPr lang="en-US" sz="1200" b="1" dirty="0">
                <a:solidFill>
                  <a:schemeClr val="tx1"/>
                </a:solidFill>
              </a:rPr>
              <a:t>Jurisdicción y territorialidad</a:t>
            </a:r>
            <a:endParaRPr lang="en-US" sz="1200" dirty="0"/>
          </a:p>
        </p:txBody>
      </p:sp>
      <p:sp>
        <p:nvSpPr>
          <p:cNvPr id="22" name="body Jurisdicción y territorialidad"/>
          <p:cNvSpPr txBox="1"/>
          <p:nvPr/>
        </p:nvSpPr>
        <p:spPr>
          <a:xfrm>
            <a:off x="6199632" y="3410712"/>
            <a:ext cx="2322576" cy="932688"/>
          </a:xfrm>
          <a:prstGeom prst="rect">
            <a:avLst/>
          </a:prstGeom>
          <a:noFill/>
          <a:ln/>
        </p:spPr>
        <p:txBody>
          <a:bodyPr wrap="square" lIns="0" tIns="0" rIns="0" bIns="0" rtlCol="0" anchor="t"/>
          <a:lstStyle/>
          <a:p>
            <a:pPr indent="0" marL="0">
              <a:buNone/>
            </a:pPr>
            <a:r>
              <a:rPr lang="en-US" sz="1050" dirty="0">
                <a:solidFill>
                  <a:schemeClr val="tx2"/>
                </a:solidFill>
              </a:rPr>
              <a:t>Proveedores en el exterior; transferencia y transmisión internacional de datos.</a:t>
            </a:r>
            <a:endParaRPr lang="en-US" sz="10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949440" cy="731520"/>
          </a:xfrm>
          <a:prstGeom prst="rect">
            <a:avLst/>
          </a:prstGeom>
          <a:noFill/>
          <a:ln/>
        </p:spPr>
        <p:txBody>
          <a:bodyPr wrap="square" lIns="0" tIns="0" rIns="0" bIns="0" rtlCol="0" anchor="ctr"/>
          <a:lstStyle/>
          <a:p>
            <a:pPr algn="l" indent="0" marL="0">
              <a:buNone/>
            </a:pPr>
            <a:r>
              <a:rPr lang="en-US" sz="2400" b="1" dirty="0">
                <a:solidFill>
                  <a:schemeClr val="tx1"/>
                </a:solidFill>
              </a:rPr>
              <a:t>Lectura asignada</a:t>
            </a:r>
            <a:endParaRPr lang="en-US" sz="2400" dirty="0"/>
          </a:p>
        </p:txBody>
      </p:sp>
      <p:sp>
        <p:nvSpPr>
          <p:cNvPr id="3" name="bloque"/>
          <p:cNvSpPr txBox="1"/>
          <p:nvPr/>
        </p:nvSpPr>
        <p:spPr>
          <a:xfrm>
            <a:off x="7498080" y="411480"/>
            <a:ext cx="1188720" cy="292608"/>
          </a:xfrm>
          <a:prstGeom prst="rect">
            <a:avLst/>
          </a:prstGeom>
          <a:solidFill>
            <a:schemeClr val="accent1"/>
          </a:solidFill>
          <a:ln/>
        </p:spPr>
        <p:txBody>
          <a:bodyPr wrap="square" lIns="0" tIns="0" rIns="0" bIns="0" rtlCol="0" anchor="ctr"/>
          <a:lstStyle/>
          <a:p>
            <a:pPr algn="ctr" indent="0" marL="0">
              <a:buNone/>
            </a:pPr>
            <a:r>
              <a:rPr lang="en-US" sz="900" b="1" dirty="0">
                <a:solidFill>
                  <a:schemeClr val="bg1"/>
                </a:solidFill>
              </a:rPr>
              <a:t>LECTURA</a:t>
            </a:r>
            <a:endParaRPr lang="en-US" sz="900" dirty="0"/>
          </a:p>
        </p:txBody>
      </p:sp>
      <p:sp>
        <p:nvSpPr>
          <p:cNvPr id="5" name="ficha"/>
          <p:cNvSpPr/>
          <p:nvPr/>
        </p:nvSpPr>
        <p:spPr>
          <a:xfrm>
            <a:off x="457200" y="1188720"/>
            <a:ext cx="3931920" cy="3383280"/>
          </a:xfrm>
          <a:prstGeom prst="roundRect">
            <a:avLst>
              <a:gd name="adj" fmla="val 2162"/>
            </a:avLst>
          </a:prstGeom>
          <a:solidFill>
            <a:schemeClr val="bg2"/>
          </a:solidFill>
          <a:ln w="12700">
            <a:solidFill>
              <a:schemeClr val="bg2"/>
            </a:solidFill>
            <a:prstDash val="solid"/>
          </a:ln>
        </p:spPr>
      </p:sp>
      <p:sp>
        <p:nvSpPr>
          <p:cNvPr id="6" name="fichat"/>
          <p:cNvSpPr txBox="1"/>
          <p:nvPr/>
        </p:nvSpPr>
        <p:spPr>
          <a:xfrm>
            <a:off x="640080" y="1280160"/>
            <a:ext cx="3566160" cy="3200400"/>
          </a:xfrm>
          <a:prstGeom prst="rect">
            <a:avLst/>
          </a:prstGeom>
          <a:noFill/>
          <a:ln/>
        </p:spPr>
        <p:txBody>
          <a:bodyPr wrap="square" lIns="0" tIns="0" rIns="0" bIns="0" rtlCol="0" anchor="t"/>
          <a:lstStyle/>
          <a:p>
            <a:pPr indent="0" marL="0">
              <a:buNone/>
            </a:pPr>
            <a:r>
              <a:rPr lang="en-US" sz="1000" b="1" dirty="0">
                <a:solidFill>
                  <a:schemeClr val="accent1"/>
                </a:solidFill>
              </a:rPr>
              <a:t>FICHA</a:t>
            </a:r>
            <a:endParaRPr lang="en-US" sz="1000" dirty="0"/>
          </a:p>
          <a:p>
            <a:pPr indent="0" marL="0">
              <a:spcAft>
                <a:spcPts val="600"/>
              </a:spcAft>
              <a:buNone/>
            </a:pPr>
            <a:r>
              <a:rPr lang="en-US" sz="1300" b="1" dirty="0">
                <a:solidFill>
                  <a:srgbClr val="000000"/>
                </a:solidFill>
              </a:rPr>
              <a:t>Derecho Informático (Serie Materiales Docentes n.º 31)</a:t>
            </a:r>
            <a:endParaRPr lang="en-US" sz="1000" dirty="0"/>
          </a:p>
          <a:p>
            <a:pPr indent="0" marL="0">
              <a:buNone/>
            </a:pPr>
            <a:r>
              <a:rPr lang="en-US" sz="1150" dirty="0">
                <a:solidFill>
                  <a:srgbClr val="000000"/>
                </a:solidFill>
              </a:rPr>
              <a:t>Lorena Donoso Abarca y Carlos Reusser Monsálvez (Universidad de Chile; doctores en Derecho, Universidad de Salamanca)</a:t>
            </a:r>
            <a:endParaRPr lang="en-US" sz="1000" dirty="0"/>
          </a:p>
          <a:p>
            <a:pPr indent="0" marL="0">
              <a:spcAft>
                <a:spcPts val="600"/>
              </a:spcAft>
              <a:buNone/>
            </a:pPr>
            <a:r>
              <a:rPr lang="en-US" sz="1100" dirty="0">
                <a:solidFill>
                  <a:schemeClr val="tx2"/>
                </a:solidFill>
              </a:rPr>
              <a:t>Texto doctrinal especializado. Academia Judicial de Chile, Santiago (PDF en línea desde marzo de 2022), 2021.</a:t>
            </a:r>
            <a:endParaRPr lang="en-US" sz="1000" dirty="0"/>
          </a:p>
          <a:p>
            <a:pPr indent="0" marL="0">
              <a:spcAft>
                <a:spcPts val="600"/>
              </a:spcAft>
              <a:buNone/>
            </a:pPr>
            <a:r>
              <a:rPr lang="en-US" sz="1050" dirty="0">
                <a:solidFill>
                  <a:schemeClr val="tx2"/>
                </a:solidFill>
              </a:rPr>
              <a:t>Acceso abierto institucional. Se asigna la lección introductoria: de la informática jurídica a la IA aplicada al derecho; ¿derecho informático o derecho digital?; características y principios regulatorios.</a:t>
            </a:r>
            <a:endParaRPr lang="en-US" sz="1000" dirty="0"/>
          </a:p>
          <a:p>
            <a:pPr indent="0" marL="0">
              <a:buNone/>
            </a:pPr>
            <a:r>
              <a:rPr lang="en-US" sz="1100" b="1"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Abrir el texto</a:t>
            </a:r>
            <a:endParaRPr lang="en-US" sz="1000" dirty="0"/>
          </a:p>
        </p:txBody>
      </p:sp>
      <p:sp>
        <p:nvSpPr>
          <p:cNvPr id="7" name="qa"/>
          <p:cNvSpPr txBox="1"/>
          <p:nvPr/>
        </p:nvSpPr>
        <p:spPr>
          <a:xfrm>
            <a:off x="4663440" y="1188720"/>
            <a:ext cx="4023360" cy="320040"/>
          </a:xfrm>
          <a:prstGeom prst="rect">
            <a:avLst/>
          </a:prstGeom>
          <a:noFill/>
          <a:ln/>
        </p:spPr>
        <p:txBody>
          <a:bodyPr wrap="square" lIns="0" tIns="0" rIns="0" bIns="0" rtlCol="0" anchor="ctr"/>
          <a:lstStyle/>
          <a:p>
            <a:pPr indent="0" marL="0">
              <a:buNone/>
            </a:pPr>
            <a:r>
              <a:rPr lang="en-US" sz="1300" b="1" dirty="0">
                <a:solidFill>
                  <a:schemeClr val="tx1"/>
                </a:solidFill>
              </a:rPr>
              <a:t>Qué aporta a la sesión</a:t>
            </a:r>
            <a:endParaRPr lang="en-US" sz="1300" dirty="0"/>
          </a:p>
        </p:txBody>
      </p:sp>
      <p:sp>
        <p:nvSpPr>
          <p:cNvPr id="8" name="lista"/>
          <p:cNvSpPr txBox="1"/>
          <p:nvPr/>
        </p:nvSpPr>
        <p:spPr>
          <a:xfrm>
            <a:off x="4663440" y="1554480"/>
            <a:ext cx="4023360" cy="182880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chemeClr val="tx2"/>
                </a:solidFill>
              </a:rPr>
              <a:t>Distingue informática jurídica (herramienta) y derecho informático (objeto de regulación), la primera distinción de la sesión.</a:t>
            </a:r>
            <a:endParaRPr lang="en-US" sz="1050" dirty="0"/>
          </a:p>
          <a:p>
            <a:pPr marL="342900" indent="-342900">
              <a:spcAft>
                <a:spcPts val="600"/>
              </a:spcAft>
              <a:buSzPct val="100000"/>
              <a:buChar char="•"/>
            </a:pPr>
            <a:r>
              <a:rPr lang="en-US" sz="1050" dirty="0">
                <a:solidFill>
                  <a:schemeClr val="tx2"/>
                </a:solidFill>
              </a:rPr>
              <a:t>Discute la denominación de la disciplina y sus características; permite debatir la autonomía.</a:t>
            </a:r>
            <a:endParaRPr lang="en-US" sz="1050" dirty="0"/>
          </a:p>
          <a:p>
            <a:pPr marL="342900" indent="-342900">
              <a:spcAft>
                <a:spcPts val="600"/>
              </a:spcAft>
              <a:buSzPct val="100000"/>
              <a:buChar char="•"/>
            </a:pPr>
            <a:r>
              <a:rPr lang="en-US" sz="1050" dirty="0">
                <a:solidFill>
                  <a:schemeClr val="tx2"/>
                </a:solidFill>
              </a:rPr>
              <a:t>Formula principios regulatorios (neutralidad tecnológica, mínima intervención) que se reconocen en la Ley 527 de 1999.</a:t>
            </a:r>
            <a:endParaRPr lang="en-US" sz="1050" dirty="0"/>
          </a:p>
          <a:p>
            <a:pPr marL="342900" indent="-342900">
              <a:spcAft>
                <a:spcPts val="600"/>
              </a:spcAft>
              <a:buSzPct val="100000"/>
              <a:buChar char="•"/>
            </a:pPr>
            <a:r>
              <a:rPr lang="en-US" sz="1050" dirty="0">
                <a:solidFill>
                  <a:schemeClr val="tx2"/>
                </a:solidFill>
              </a:rPr>
              <a:t>Despliega campos (documento y firma electrónica, datos personales) transferibles al caso colombiano para el contraste en clase.</a:t>
            </a:r>
            <a:endParaRPr lang="en-US" sz="1050" dirty="0"/>
          </a:p>
        </p:txBody>
      </p:sp>
      <p:sp>
        <p:nvSpPr>
          <p:cNvPr id="9" name="pf"/>
          <p:cNvSpPr/>
          <p:nvPr/>
        </p:nvSpPr>
        <p:spPr>
          <a:xfrm>
            <a:off x="4663440" y="3429000"/>
            <a:ext cx="4023360" cy="1143000"/>
          </a:xfrm>
          <a:prstGeom prst="roundRect">
            <a:avLst>
              <a:gd name="adj" fmla="val 6400"/>
            </a:avLst>
          </a:prstGeom>
          <a:solidFill>
            <a:schemeClr val="tx1"/>
          </a:solidFill>
          <a:ln w="12700">
            <a:solidFill>
              <a:schemeClr val="tx1"/>
            </a:solidFill>
            <a:prstDash val="solid"/>
          </a:ln>
        </p:spPr>
      </p:sp>
      <p:sp>
        <p:nvSpPr>
          <p:cNvPr id="10" name="pft"/>
          <p:cNvSpPr txBox="1"/>
          <p:nvPr/>
        </p:nvSpPr>
        <p:spPr>
          <a:xfrm>
            <a:off x="4846320" y="3429000"/>
            <a:ext cx="3703320" cy="1143000"/>
          </a:xfrm>
          <a:prstGeom prst="rect">
            <a:avLst/>
          </a:prstGeom>
          <a:noFill/>
          <a:ln/>
        </p:spPr>
        <p:txBody>
          <a:bodyPr wrap="square" lIns="0" tIns="0" rIns="0" bIns="0" rtlCol="0" anchor="ctr"/>
          <a:lstStyle/>
          <a:p>
            <a:pPr indent="0" marL="0">
              <a:buNone/>
            </a:pPr>
            <a:r>
              <a:rPr lang="en-US" sz="1150" b="1" dirty="0">
                <a:solidFill>
                  <a:schemeClr val="accent2"/>
                </a:solidFill>
              </a:rPr>
              <a:t>Pregunta de la ficha de lectura: </a:t>
            </a:r>
            <a:pPr indent="0" marL="0">
              <a:buNone/>
            </a:pPr>
            <a:r>
              <a:rPr lang="en-US" sz="1150" dirty="0">
                <a:solidFill>
                  <a:schemeClr val="bg1"/>
                </a:solidFill>
              </a:rPr>
              <a:t>¿Es el Derecho Informático una rama autónoma o un método transversal? Responda con los criterios del texto y con un ejemplo colombiano.</a:t>
            </a:r>
            <a:endParaRPr lang="en-US" sz="11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949440" cy="731520"/>
          </a:xfrm>
          <a:prstGeom prst="rect">
            <a:avLst/>
          </a:prstGeom>
          <a:noFill/>
          <a:ln/>
        </p:spPr>
        <p:txBody>
          <a:bodyPr wrap="square" lIns="0" tIns="0" rIns="0" bIns="0" rtlCol="0" anchor="ctr"/>
          <a:lstStyle/>
          <a:p>
            <a:pPr algn="l" indent="0" marL="0">
              <a:buNone/>
            </a:pPr>
            <a:r>
              <a:rPr lang="en-US" sz="2400" b="1" dirty="0">
                <a:solidFill>
                  <a:schemeClr val="tx1"/>
                </a:solidFill>
              </a:rPr>
              <a:t>Lectura: ideas centrales</a:t>
            </a:r>
            <a:endParaRPr lang="en-US" sz="2400" dirty="0"/>
          </a:p>
        </p:txBody>
      </p:sp>
      <p:sp>
        <p:nvSpPr>
          <p:cNvPr id="3" name="bloque"/>
          <p:cNvSpPr txBox="1"/>
          <p:nvPr/>
        </p:nvSpPr>
        <p:spPr>
          <a:xfrm>
            <a:off x="7498080" y="411480"/>
            <a:ext cx="1188720" cy="292608"/>
          </a:xfrm>
          <a:prstGeom prst="rect">
            <a:avLst/>
          </a:prstGeom>
          <a:solidFill>
            <a:schemeClr val="accent1"/>
          </a:solidFill>
          <a:ln/>
        </p:spPr>
        <p:txBody>
          <a:bodyPr wrap="square" lIns="0" tIns="0" rIns="0" bIns="0" rtlCol="0" anchor="ctr"/>
          <a:lstStyle/>
          <a:p>
            <a:pPr algn="ctr" indent="0" marL="0">
              <a:buNone/>
            </a:pPr>
            <a:r>
              <a:rPr lang="en-US" sz="900" b="1" dirty="0">
                <a:solidFill>
                  <a:schemeClr val="bg1"/>
                </a:solidFill>
              </a:rPr>
              <a:t>LECTURA</a:t>
            </a:r>
            <a:endParaRPr lang="en-US" sz="900" dirty="0"/>
          </a:p>
        </p:txBody>
      </p:sp>
      <p:sp>
        <p:nvSpPr>
          <p:cNvPr id="5" name="cita0"/>
          <p:cNvSpPr/>
          <p:nvPr/>
        </p:nvSpPr>
        <p:spPr>
          <a:xfrm>
            <a:off x="457200" y="1188720"/>
            <a:ext cx="8229600" cy="1005840"/>
          </a:xfrm>
          <a:prstGeom prst="roundRect">
            <a:avLst>
              <a:gd name="adj" fmla="val 7273"/>
            </a:avLst>
          </a:prstGeom>
          <a:solidFill>
            <a:schemeClr val="bg2"/>
          </a:solidFill>
          <a:ln w="12700">
            <a:solidFill>
              <a:schemeClr val="bg2"/>
            </a:solidFill>
            <a:prstDash val="solid"/>
          </a:ln>
        </p:spPr>
      </p:sp>
      <p:sp>
        <p:nvSpPr>
          <p:cNvPr id="6" name="q0"/>
          <p:cNvSpPr txBox="1"/>
          <p:nvPr/>
        </p:nvSpPr>
        <p:spPr>
          <a:xfrm>
            <a:off x="548640" y="1143000"/>
            <a:ext cx="457200" cy="640080"/>
          </a:xfrm>
          <a:prstGeom prst="rect">
            <a:avLst/>
          </a:prstGeom>
          <a:noFill/>
          <a:ln/>
        </p:spPr>
        <p:txBody>
          <a:bodyPr wrap="square" lIns="0" tIns="0" rIns="0" bIns="0" rtlCol="0" anchor="ctr"/>
          <a:lstStyle/>
          <a:p>
            <a:pPr indent="0" marL="0">
              <a:buNone/>
            </a:pPr>
            <a:r>
              <a:rPr lang="en-US" sz="4000" b="1" dirty="0">
                <a:solidFill>
                  <a:schemeClr val="accent2"/>
                </a:solidFill>
              </a:rPr>
              <a:t>“</a:t>
            </a:r>
            <a:endParaRPr lang="en-US" sz="4000" dirty="0"/>
          </a:p>
        </p:txBody>
      </p:sp>
      <p:sp>
        <p:nvSpPr>
          <p:cNvPr id="7" name="cq0"/>
          <p:cNvSpPr txBox="1"/>
          <p:nvPr/>
        </p:nvSpPr>
        <p:spPr>
          <a:xfrm>
            <a:off x="1005840" y="1188720"/>
            <a:ext cx="7498080" cy="1005840"/>
          </a:xfrm>
          <a:prstGeom prst="rect">
            <a:avLst/>
          </a:prstGeom>
          <a:noFill/>
          <a:ln/>
        </p:spPr>
        <p:txBody>
          <a:bodyPr wrap="square" lIns="0" tIns="0" rIns="0" bIns="0" rtlCol="0" anchor="ctr"/>
          <a:lstStyle/>
          <a:p>
            <a:pPr indent="0" marL="0">
              <a:buNone/>
            </a:pPr>
            <a:r>
              <a:rPr lang="en-US" sz="1100" i="1" dirty="0">
                <a:solidFill>
                  <a:schemeClr val="tx1"/>
                </a:solidFill>
              </a:rPr>
              <a:t>La informática entró al derecho primero como herramienta del jurista (informática jurídica) y después como objeto que exige regulación (derecho informático).</a:t>
            </a:r>
            <a:pPr indent="0" marL="0">
              <a:buNone/>
            </a:pPr>
            <a:endParaRPr lang="en-US" sz="1100" dirty="0"/>
          </a:p>
        </p:txBody>
      </p:sp>
      <p:sp>
        <p:nvSpPr>
          <p:cNvPr id="8" name="cita1"/>
          <p:cNvSpPr/>
          <p:nvPr/>
        </p:nvSpPr>
        <p:spPr>
          <a:xfrm>
            <a:off x="457200" y="2331720"/>
            <a:ext cx="8229600" cy="1005840"/>
          </a:xfrm>
          <a:prstGeom prst="roundRect">
            <a:avLst>
              <a:gd name="adj" fmla="val 7273"/>
            </a:avLst>
          </a:prstGeom>
          <a:solidFill>
            <a:schemeClr val="bg2"/>
          </a:solidFill>
          <a:ln w="12700">
            <a:solidFill>
              <a:schemeClr val="bg2"/>
            </a:solidFill>
            <a:prstDash val="solid"/>
          </a:ln>
        </p:spPr>
      </p:sp>
      <p:sp>
        <p:nvSpPr>
          <p:cNvPr id="9" name="q1"/>
          <p:cNvSpPr txBox="1"/>
          <p:nvPr/>
        </p:nvSpPr>
        <p:spPr>
          <a:xfrm>
            <a:off x="548640" y="2286000"/>
            <a:ext cx="457200" cy="640080"/>
          </a:xfrm>
          <a:prstGeom prst="rect">
            <a:avLst/>
          </a:prstGeom>
          <a:noFill/>
          <a:ln/>
        </p:spPr>
        <p:txBody>
          <a:bodyPr wrap="square" lIns="0" tIns="0" rIns="0" bIns="0" rtlCol="0" anchor="ctr"/>
          <a:lstStyle/>
          <a:p>
            <a:pPr indent="0" marL="0">
              <a:buNone/>
            </a:pPr>
            <a:r>
              <a:rPr lang="en-US" sz="4000" b="1" dirty="0">
                <a:solidFill>
                  <a:schemeClr val="accent2"/>
                </a:solidFill>
              </a:rPr>
              <a:t>“</a:t>
            </a:r>
            <a:endParaRPr lang="en-US" sz="4000" dirty="0"/>
          </a:p>
        </p:txBody>
      </p:sp>
      <p:sp>
        <p:nvSpPr>
          <p:cNvPr id="10" name="cq1"/>
          <p:cNvSpPr txBox="1"/>
          <p:nvPr/>
        </p:nvSpPr>
        <p:spPr>
          <a:xfrm>
            <a:off x="1005840" y="2331720"/>
            <a:ext cx="7498080" cy="1005840"/>
          </a:xfrm>
          <a:prstGeom prst="rect">
            <a:avLst/>
          </a:prstGeom>
          <a:noFill/>
          <a:ln/>
        </p:spPr>
        <p:txBody>
          <a:bodyPr wrap="square" lIns="0" tIns="0" rIns="0" bIns="0" rtlCol="0" anchor="ctr"/>
          <a:lstStyle/>
          <a:p>
            <a:pPr indent="0" marL="0">
              <a:buNone/>
            </a:pPr>
            <a:r>
              <a:rPr lang="en-US" sz="1100" i="1" dirty="0">
                <a:solidFill>
                  <a:schemeClr val="tx1"/>
                </a:solidFill>
              </a:rPr>
              <a:t>La denominación cambia (derecho informático, digital, de las TIC); lo que permanece es el objeto: la información digital y los sistemas que la procesan.</a:t>
            </a:r>
            <a:pPr indent="0" marL="0">
              <a:buNone/>
            </a:pPr>
            <a:endParaRPr lang="en-US" sz="1100" dirty="0"/>
          </a:p>
        </p:txBody>
      </p:sp>
      <p:sp>
        <p:nvSpPr>
          <p:cNvPr id="11" name="cita2"/>
          <p:cNvSpPr/>
          <p:nvPr/>
        </p:nvSpPr>
        <p:spPr>
          <a:xfrm>
            <a:off x="457200" y="3474720"/>
            <a:ext cx="8229600" cy="1005840"/>
          </a:xfrm>
          <a:prstGeom prst="roundRect">
            <a:avLst>
              <a:gd name="adj" fmla="val 7273"/>
            </a:avLst>
          </a:prstGeom>
          <a:solidFill>
            <a:schemeClr val="bg2"/>
          </a:solidFill>
          <a:ln w="12700">
            <a:solidFill>
              <a:schemeClr val="bg2"/>
            </a:solidFill>
            <a:prstDash val="solid"/>
          </a:ln>
        </p:spPr>
      </p:sp>
      <p:sp>
        <p:nvSpPr>
          <p:cNvPr id="12" name="q2"/>
          <p:cNvSpPr txBox="1"/>
          <p:nvPr/>
        </p:nvSpPr>
        <p:spPr>
          <a:xfrm>
            <a:off x="548640" y="3429000"/>
            <a:ext cx="457200" cy="640080"/>
          </a:xfrm>
          <a:prstGeom prst="rect">
            <a:avLst/>
          </a:prstGeom>
          <a:noFill/>
          <a:ln/>
        </p:spPr>
        <p:txBody>
          <a:bodyPr wrap="square" lIns="0" tIns="0" rIns="0" bIns="0" rtlCol="0" anchor="ctr"/>
          <a:lstStyle/>
          <a:p>
            <a:pPr indent="0" marL="0">
              <a:buNone/>
            </a:pPr>
            <a:r>
              <a:rPr lang="en-US" sz="4000" b="1" dirty="0">
                <a:solidFill>
                  <a:schemeClr val="accent2"/>
                </a:solidFill>
              </a:rPr>
              <a:t>“</a:t>
            </a:r>
            <a:endParaRPr lang="en-US" sz="4000" dirty="0"/>
          </a:p>
        </p:txBody>
      </p:sp>
      <p:sp>
        <p:nvSpPr>
          <p:cNvPr id="13" name="cq2"/>
          <p:cNvSpPr txBox="1"/>
          <p:nvPr/>
        </p:nvSpPr>
        <p:spPr>
          <a:xfrm>
            <a:off x="1005840" y="3474720"/>
            <a:ext cx="7498080" cy="1005840"/>
          </a:xfrm>
          <a:prstGeom prst="rect">
            <a:avLst/>
          </a:prstGeom>
          <a:noFill/>
          <a:ln/>
        </p:spPr>
        <p:txBody>
          <a:bodyPr wrap="square" lIns="0" tIns="0" rIns="0" bIns="0" rtlCol="0" anchor="ctr"/>
          <a:lstStyle/>
          <a:p>
            <a:pPr indent="0" marL="0">
              <a:buNone/>
            </a:pPr>
            <a:r>
              <a:rPr lang="en-US" sz="1100" i="1" dirty="0">
                <a:solidFill>
                  <a:schemeClr val="tx1"/>
                </a:solidFill>
              </a:rPr>
              <a:t>La regulación debe ser tecnológicamente neutral y de mínima intervención para no quedar obsoleta ni frenar la innovación.</a:t>
            </a:r>
            <a:pPr indent="0" marL="0">
              <a:buNone/>
            </a:pP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949440" cy="731520"/>
          </a:xfrm>
          <a:prstGeom prst="rect">
            <a:avLst/>
          </a:prstGeom>
          <a:noFill/>
          <a:ln/>
        </p:spPr>
        <p:txBody>
          <a:bodyPr wrap="square" lIns="0" tIns="0" rIns="0" bIns="0" rtlCol="0" anchor="ctr"/>
          <a:lstStyle/>
          <a:p>
            <a:pPr algn="l" indent="0" marL="0">
              <a:buNone/>
            </a:pPr>
            <a:r>
              <a:rPr lang="en-US" sz="2400" b="1" dirty="0">
                <a:solidFill>
                  <a:schemeClr val="tx1"/>
                </a:solidFill>
              </a:rPr>
              <a:t>Video: Carissa Véliz (TEDxPorto, 2025)</a:t>
            </a:r>
            <a:endParaRPr lang="en-US" sz="2400" dirty="0"/>
          </a:p>
        </p:txBody>
      </p:sp>
      <p:sp>
        <p:nvSpPr>
          <p:cNvPr id="3" name="bloque"/>
          <p:cNvSpPr txBox="1"/>
          <p:nvPr/>
        </p:nvSpPr>
        <p:spPr>
          <a:xfrm>
            <a:off x="7498080" y="411480"/>
            <a:ext cx="1188720" cy="292608"/>
          </a:xfrm>
          <a:prstGeom prst="rect">
            <a:avLst/>
          </a:prstGeom>
          <a:solidFill>
            <a:schemeClr val="accent3"/>
          </a:solidFill>
          <a:ln/>
        </p:spPr>
        <p:txBody>
          <a:bodyPr wrap="square" lIns="0" tIns="0" rIns="0" bIns="0" rtlCol="0" anchor="ctr"/>
          <a:lstStyle/>
          <a:p>
            <a:pPr algn="ctr" indent="0" marL="0">
              <a:buNone/>
            </a:pPr>
            <a:r>
              <a:rPr lang="en-US" sz="900" b="1" dirty="0">
                <a:solidFill>
                  <a:schemeClr val="bg1"/>
                </a:solidFill>
              </a:rPr>
              <a:t>VIDEO 70-82</a:t>
            </a:r>
            <a:endParaRPr lang="en-US" sz="900" dirty="0"/>
          </a:p>
        </p:txBody>
      </p:sp>
      <p:sp>
        <p:nvSpPr>
          <p:cNvPr id="5" name="vcard"/>
          <p:cNvSpPr/>
          <p:nvPr/>
        </p:nvSpPr>
        <p:spPr>
          <a:xfrm>
            <a:off x="457200" y="1188720"/>
            <a:ext cx="3931920" cy="3383280"/>
          </a:xfrm>
          <a:prstGeom prst="roundRect">
            <a:avLst>
              <a:gd name="adj" fmla="val 2162"/>
            </a:avLst>
          </a:prstGeom>
          <a:solidFill>
            <a:schemeClr val="tx1"/>
          </a:solidFill>
          <a:ln w="12700">
            <a:solidFill>
              <a:schemeClr val="tx1"/>
            </a:solidFill>
            <a:prstDash val="solid"/>
          </a:ln>
        </p:spPr>
      </p:sp>
      <p:sp>
        <p:nvSpPr>
          <p:cNvPr id="6" name="play"/>
          <p:cNvSpPr/>
          <p:nvPr/>
        </p:nvSpPr>
        <p:spPr>
          <a:xfrm>
            <a:off x="1965960" y="1417320"/>
            <a:ext cx="914400" cy="914400"/>
          </a:xfrm>
          <a:prstGeom prst="ellipse">
            <a:avLst/>
          </a:prstGeom>
          <a:solidFill>
            <a:schemeClr val="accent3"/>
          </a:solidFill>
          <a:ln w="12700">
            <a:solidFill>
              <a:schemeClr val="accent3"/>
            </a:solidFill>
            <a:prstDash val="solid"/>
          </a:ln>
        </p:spPr>
      </p:sp>
      <p:sp>
        <p:nvSpPr>
          <p:cNvPr id="7" name="playt"/>
          <p:cNvSpPr txBox="1"/>
          <p:nvPr/>
        </p:nvSpPr>
        <p:spPr>
          <a:xfrm>
            <a:off x="1965960" y="1417320"/>
            <a:ext cx="914400" cy="914400"/>
          </a:xfrm>
          <a:prstGeom prst="rect">
            <a:avLst/>
          </a:prstGeom>
          <a:noFill/>
          <a:ln/>
        </p:spPr>
        <p:txBody>
          <a:bodyPr wrap="square" lIns="0" tIns="0" rIns="0" bIns="0" rtlCol="0" anchor="ctr"/>
          <a:lstStyle/>
          <a:p>
            <a:pPr algn="ctr" indent="0" marL="0">
              <a:buNone/>
            </a:pPr>
            <a:r>
              <a:rPr lang="en-US" sz="3000" dirty="0">
                <a:solidFill>
                  <a:schemeClr val="bg1"/>
                </a:solidFill>
              </a:rPr>
              <a:t>▶</a:t>
            </a:r>
            <a:endParaRPr lang="en-US" sz="3000" dirty="0"/>
          </a:p>
        </p:txBody>
      </p:sp>
      <p:sp>
        <p:nvSpPr>
          <p:cNvPr id="8" name="vtxt"/>
          <p:cNvSpPr txBox="1"/>
          <p:nvPr/>
        </p:nvSpPr>
        <p:spPr>
          <a:xfrm>
            <a:off x="640080" y="2468880"/>
            <a:ext cx="3566160" cy="2011680"/>
          </a:xfrm>
          <a:prstGeom prst="rect">
            <a:avLst/>
          </a:prstGeom>
          <a:noFill/>
          <a:ln/>
        </p:spPr>
        <p:txBody>
          <a:bodyPr wrap="square" lIns="0" tIns="0" rIns="0" bIns="0" rtlCol="0" anchor="t"/>
          <a:lstStyle/>
          <a:p>
            <a:pPr indent="0" marL="0">
              <a:buNone/>
            </a:pPr>
            <a:r>
              <a:rPr lang="en-US" sz="1300" b="1" dirty="0">
                <a:solidFill>
                  <a:schemeClr val="bg1"/>
                </a:solidFill>
              </a:rPr>
              <a:t>Carissa Véliz</a:t>
            </a:r>
            <a:endParaRPr lang="en-US" sz="1300" dirty="0"/>
          </a:p>
          <a:p>
            <a:pPr indent="0" marL="0">
              <a:spcAft>
                <a:spcPts val="600"/>
              </a:spcAft>
              <a:buNone/>
            </a:pPr>
            <a:r>
              <a:rPr lang="en-US" sz="1050" dirty="0">
                <a:solidFill>
                  <a:schemeClr val="accent6"/>
                </a:solidFill>
              </a:rPr>
              <a:t>Profesora del Institute for Ethics in AI y de la Facultad de Filosofía de la Universidad de Oxford; autora de Privacy Is Power (2020) y editora del…</a:t>
            </a:r>
            <a:endParaRPr lang="en-US" sz="1300" dirty="0"/>
          </a:p>
          <a:p>
            <a:pPr indent="0" marL="0">
              <a:spcAft>
                <a:spcPts val="800"/>
              </a:spcAft>
              <a:buNone/>
            </a:pPr>
            <a:r>
              <a:rPr lang="en-US" sz="1050" dirty="0">
                <a:solidFill>
                  <a:schemeClr val="accent2"/>
                </a:solidFill>
              </a:rPr>
              <a:t>TEDx Talks (YouTube) · 2025 (charla de marzo de 2025, publicada en octubre de 2025) · 13:50 (por confirmar en YouTube)</a:t>
            </a:r>
            <a:endParaRPr lang="en-US" sz="1300" dirty="0"/>
          </a:p>
          <a:p>
            <a:pPr indent="0" marL="0">
              <a:buNone/>
            </a:pPr>
            <a:r>
              <a:rPr lang="en-US" sz="1200" b="1" u="sng" dirty="0">
                <a:solidFill>
                  <a:schemeClr val="bg1"/>
                </a:solidFill>
                <a:hlinkClick r:id="rId1" invalidUrl="" action="" tgtFrame="" tooltip="" history="1" highlightClick="0" endSnd="0">
                  <a:extLst>
                    <a:ext uri="{A12FA001-AC4F-418D-AE19-62706E023703}">
                      <ahyp:hlinkClr xmlns:ahyp="http://schemas.microsoft.com/office/drawing/2018/hyperlinkcolor" val="tx"/>
                    </a:ext>
                  </a:extLst>
                </a:hlinkClick>
              </a:rPr>
              <a:t>Abrir el video</a:t>
            </a:r>
            <a:endParaRPr lang="en-US" sz="1300" dirty="0"/>
          </a:p>
        </p:txBody>
      </p:sp>
      <p:sp>
        <p:nvSpPr>
          <p:cNvPr id="9" name="cons"/>
          <p:cNvSpPr txBox="1"/>
          <p:nvPr/>
        </p:nvSpPr>
        <p:spPr>
          <a:xfrm>
            <a:off x="4663440" y="1188720"/>
            <a:ext cx="4023360" cy="320040"/>
          </a:xfrm>
          <a:prstGeom prst="rect">
            <a:avLst/>
          </a:prstGeom>
          <a:noFill/>
          <a:ln/>
        </p:spPr>
        <p:txBody>
          <a:bodyPr wrap="square" lIns="0" tIns="0" rIns="0" bIns="0" rtlCol="0" anchor="ctr"/>
          <a:lstStyle/>
          <a:p>
            <a:pPr indent="0" marL="0">
              <a:buNone/>
            </a:pPr>
            <a:r>
              <a:rPr lang="en-US" sz="1300" b="1" dirty="0">
                <a:solidFill>
                  <a:schemeClr val="tx1"/>
                </a:solidFill>
              </a:rPr>
              <a:t>Consigna de visionado activo</a:t>
            </a:r>
            <a:endParaRPr lang="en-US" sz="1300" dirty="0"/>
          </a:p>
        </p:txBody>
      </p:sp>
      <p:sp>
        <p:nvSpPr>
          <p:cNvPr id="10" name="const"/>
          <p:cNvSpPr txBox="1"/>
          <p:nvPr/>
        </p:nvSpPr>
        <p:spPr>
          <a:xfrm>
            <a:off x="4663440" y="1508760"/>
            <a:ext cx="4023360" cy="822960"/>
          </a:xfrm>
          <a:prstGeom prst="rect">
            <a:avLst/>
          </a:prstGeom>
          <a:noFill/>
          <a:ln/>
        </p:spPr>
        <p:txBody>
          <a:bodyPr wrap="square" lIns="0" tIns="0" rIns="0" bIns="0" rtlCol="0" anchor="t"/>
          <a:lstStyle/>
          <a:p>
            <a:pPr indent="0" marL="0">
              <a:buNone/>
            </a:pPr>
            <a:r>
              <a:rPr lang="en-US" sz="1150" dirty="0">
                <a:solidFill>
                  <a:schemeClr val="tx2"/>
                </a:solidFill>
              </a:rPr>
              <a:t>Anote: un dato personal que usted entrega a diario sin pensarlo; el principio de la Ley 1581 de 2012 que protegería ese dato; y una afirmación de la charla con la que no esté de acuerdo.</a:t>
            </a:r>
            <a:endParaRPr lang="en-US" sz="1150" dirty="0"/>
          </a:p>
        </p:txBody>
      </p:sp>
      <p:sp>
        <p:nvSpPr>
          <p:cNvPr id="11" name="pd"/>
          <p:cNvSpPr txBox="1"/>
          <p:nvPr/>
        </p:nvSpPr>
        <p:spPr>
          <a:xfrm>
            <a:off x="4663440" y="2377440"/>
            <a:ext cx="4023360" cy="320040"/>
          </a:xfrm>
          <a:prstGeom prst="rect">
            <a:avLst/>
          </a:prstGeom>
          <a:noFill/>
          <a:ln/>
        </p:spPr>
        <p:txBody>
          <a:bodyPr wrap="square" lIns="0" tIns="0" rIns="0" bIns="0" rtlCol="0" anchor="ctr"/>
          <a:lstStyle/>
          <a:p>
            <a:pPr indent="0" marL="0">
              <a:buNone/>
            </a:pPr>
            <a:r>
              <a:rPr lang="en-US" sz="1300" b="1" dirty="0">
                <a:solidFill>
                  <a:schemeClr val="tx1"/>
                </a:solidFill>
              </a:rPr>
              <a:t>Preguntas para la discusión</a:t>
            </a:r>
            <a:endParaRPr lang="en-US" sz="1300" dirty="0"/>
          </a:p>
        </p:txBody>
      </p:sp>
      <p:sp>
        <p:nvSpPr>
          <p:cNvPr id="12" name="lista"/>
          <p:cNvSpPr txBox="1"/>
          <p:nvPr/>
        </p:nvSpPr>
        <p:spPr>
          <a:xfrm>
            <a:off x="4663440" y="2697480"/>
            <a:ext cx="4023360" cy="19202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chemeClr val="tx2"/>
                </a:solidFill>
              </a:rPr>
              <a:t>¿Por qué dice Véliz que la privacidad es poder y que es un bien colectivo? Relacione la idea con el habeas data (art. 15 C.P.) y con los principios de finalidad, necesidad y libertad de la Ley 1581 de 2012.</a:t>
            </a:r>
            <a:endParaRPr lang="en-US" sz="1100" dirty="0"/>
          </a:p>
          <a:p>
            <a:pPr marL="342900" indent="-342900">
              <a:spcAft>
                <a:spcPts val="600"/>
              </a:spcAft>
              <a:buSzPct val="100000"/>
              <a:buChar char="•"/>
            </a:pPr>
            <a:r>
              <a:rPr lang="en-US" sz="1100" dirty="0">
                <a:solidFill>
                  <a:schemeClr val="tx2"/>
                </a:solidFill>
              </a:rPr>
              <a:t>El ejemplo del registro civil muestra el riesgo de las bases de datos estatales. ¿Qué garantías exige hoy el Derecho Informático colombiano a la identidad digital, la biometría y la carpeta ciudadana?</a:t>
            </a:r>
            <a:endParaRPr lang="en-US" sz="1100" dirty="0"/>
          </a:p>
          <a:p>
            <a:pPr marL="342900" indent="-342900">
              <a:spcAft>
                <a:spcPts val="600"/>
              </a:spcAft>
              <a:buSzPct val="100000"/>
              <a:buChar char="•"/>
            </a:pPr>
            <a:r>
              <a:rPr lang="en-US" sz="1100" dirty="0">
                <a:solidFill>
                  <a:schemeClr val="tx2"/>
                </a:solidFill>
              </a:rPr>
              <a:t>¿Cómo multiplica la inteligencia artificial la vigilancia que describe la charla? Conecte con la Circular Externa 002 de 2024 de la SIC y con la T-323 de 2024.</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1097280"/>
          </a:xfrm>
          <a:prstGeom prst="rect">
            <a:avLst/>
          </a:prstGeom>
          <a:noFill/>
          <a:ln/>
        </p:spPr>
        <p:txBody>
          <a:bodyPr wrap="square" lIns="0" tIns="0" rIns="0" bIns="0" rtlCol="0" anchor="b"/>
          <a:lstStyle/>
          <a:p>
            <a:pPr algn="l" indent="0" marL="0">
              <a:buNone/>
            </a:pPr>
            <a:r>
              <a:rPr lang="en-US" sz="3800" b="1" dirty="0">
                <a:solidFill>
                  <a:schemeClr val="bg1"/>
                </a:solidFill>
              </a:rPr>
              <a:t>4. Sentencia hito: Sentencia T-323 de 2024</a:t>
            </a:r>
            <a:endParaRPr lang="en-US" sz="3800" dirty="0"/>
          </a:p>
        </p:txBody>
      </p:sp>
      <p:sp>
        <p:nvSpPr>
          <p:cNvPr id="3" name="Text 0"/>
          <p:cNvSpPr/>
          <p:nvPr>
            <p:ph idx="101" type="body" hasCustomPrompt="1"/>
          </p:nvPr>
        </p:nvSpPr>
        <p:spPr>
          <a:xfrm>
            <a:off x="548640" y="3017520"/>
            <a:ext cx="8046720" cy="822960"/>
          </a:xfrm>
          <a:prstGeom prst="rect">
            <a:avLst/>
          </a:prstGeom>
          <a:noFill/>
          <a:ln/>
        </p:spPr>
        <p:txBody>
          <a:bodyPr wrap="square" lIns="0" tIns="0" rIns="0" bIns="0" rtlCol="0" anchor="t"/>
          <a:lstStyle/>
          <a:p>
            <a:pPr algn="l" indent="0" marL="0">
              <a:buNone/>
            </a:pPr>
            <a:r>
              <a:rPr lang="en-US" sz="1800" dirty="0">
                <a:solidFill>
                  <a:schemeClr val="accent6"/>
                </a:solidFill>
              </a:rPr>
              <a:t>Corte Constitucional · M.P. Juan Carlos Cortés González · 2 de agosto de 2024</a:t>
            </a:r>
            <a:endParaRPr lang="en-US" sz="1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949440" cy="731520"/>
          </a:xfrm>
          <a:prstGeom prst="rect">
            <a:avLst/>
          </a:prstGeom>
          <a:noFill/>
          <a:ln/>
        </p:spPr>
        <p:txBody>
          <a:bodyPr wrap="square" lIns="0" tIns="0" rIns="0" bIns="0" rtlCol="0" anchor="ctr"/>
          <a:lstStyle/>
          <a:p>
            <a:pPr algn="l" indent="0" marL="0">
              <a:buNone/>
            </a:pPr>
            <a:r>
              <a:rPr lang="en-US" sz="2400" b="1" dirty="0">
                <a:solidFill>
                  <a:schemeClr val="tx1"/>
                </a:solidFill>
              </a:rPr>
              <a:t>Hechos y problema jurídico</a:t>
            </a:r>
            <a:endParaRPr lang="en-US" sz="2400" dirty="0"/>
          </a:p>
        </p:txBody>
      </p:sp>
      <p:sp>
        <p:nvSpPr>
          <p:cNvPr id="3" name="bloque"/>
          <p:cNvSpPr txBox="1"/>
          <p:nvPr/>
        </p:nvSpPr>
        <p:spPr>
          <a:xfrm>
            <a:off x="7498080" y="411480"/>
            <a:ext cx="1188720" cy="292608"/>
          </a:xfrm>
          <a:prstGeom prst="rect">
            <a:avLst/>
          </a:prstGeom>
          <a:solidFill>
            <a:schemeClr val="accent3"/>
          </a:solidFill>
          <a:ln/>
        </p:spPr>
        <p:txBody>
          <a:bodyPr wrap="square" lIns="0" tIns="0" rIns="0" bIns="0" rtlCol="0" anchor="ctr"/>
          <a:lstStyle/>
          <a:p>
            <a:pPr algn="ctr" indent="0" marL="0">
              <a:buNone/>
            </a:pPr>
            <a:r>
              <a:rPr lang="en-US" sz="900" b="1" dirty="0">
                <a:solidFill>
                  <a:schemeClr val="bg1"/>
                </a:solidFill>
              </a:rPr>
              <a:t>SENTENCIA 82-105</a:t>
            </a:r>
            <a:endParaRPr lang="en-US" sz="900" dirty="0"/>
          </a:p>
        </p:txBody>
      </p:sp>
      <p:sp>
        <p:nvSpPr>
          <p:cNvPr id="5" name="hh"/>
          <p:cNvSpPr txBox="1"/>
          <p:nvPr/>
        </p:nvSpPr>
        <p:spPr>
          <a:xfrm>
            <a:off x="457200" y="1188720"/>
            <a:ext cx="3931920" cy="320040"/>
          </a:xfrm>
          <a:prstGeom prst="rect">
            <a:avLst/>
          </a:prstGeom>
          <a:noFill/>
          <a:ln/>
        </p:spPr>
        <p:txBody>
          <a:bodyPr wrap="square" lIns="0" tIns="0" rIns="0" bIns="0" rtlCol="0" anchor="ctr"/>
          <a:lstStyle/>
          <a:p>
            <a:pPr indent="0" marL="0">
              <a:buNone/>
            </a:pPr>
            <a:r>
              <a:rPr lang="en-US" sz="1300" b="1" dirty="0">
                <a:solidFill>
                  <a:schemeClr val="accent3"/>
                </a:solidFill>
              </a:rPr>
              <a:t>Hechos</a:t>
            </a:r>
            <a:endParaRPr lang="en-US" sz="1300" dirty="0"/>
          </a:p>
        </p:txBody>
      </p:sp>
      <p:sp>
        <p:nvSpPr>
          <p:cNvPr id="6" name="ht"/>
          <p:cNvSpPr txBox="1"/>
          <p:nvPr/>
        </p:nvSpPr>
        <p:spPr>
          <a:xfrm>
            <a:off x="457200" y="1508760"/>
            <a:ext cx="3931920" cy="3108960"/>
          </a:xfrm>
          <a:prstGeom prst="rect">
            <a:avLst/>
          </a:prstGeom>
          <a:noFill/>
          <a:ln/>
        </p:spPr>
        <p:txBody>
          <a:bodyPr wrap="square" lIns="0" tIns="0" rIns="0" bIns="0" rtlCol="0" anchor="t"/>
          <a:lstStyle/>
          <a:p>
            <a:pPr indent="0" marL="0">
              <a:buNone/>
            </a:pPr>
            <a:r>
              <a:rPr lang="en-US" sz="1150" dirty="0">
                <a:solidFill>
                  <a:schemeClr val="tx1"/>
                </a:solidFill>
              </a:rPr>
              <a:t>Una madre, en nombre de su hijo con trastorno del espectro autista, pide por tutela a su EPS exoneración de copagos y cuotas moderadoras, transporte y tratamiento integral.</a:t>
            </a:r>
            <a:endParaRPr lang="en-US" sz="1150" dirty="0"/>
          </a:p>
          <a:p>
            <a:pPr indent="0" marL="0">
              <a:buNone/>
            </a:pPr>
            <a:endParaRPr lang="en-US" sz="1150" dirty="0"/>
          </a:p>
          <a:p>
            <a:pPr indent="0" marL="0">
              <a:buNone/>
            </a:pPr>
            <a:r>
              <a:rPr lang="en-US" sz="1150" dirty="0">
                <a:solidFill>
                  <a:schemeClr val="tx1"/>
                </a:solidFill>
              </a:rPr>
              <a:t>Primera instancia (7 dic. 2022): un juzgado municipal de Cartagena concede el amparo. La EPS impugna.</a:t>
            </a:r>
            <a:endParaRPr lang="en-US" sz="1150" dirty="0"/>
          </a:p>
          <a:p>
            <a:pPr indent="0" marL="0">
              <a:buNone/>
            </a:pPr>
            <a:endParaRPr lang="en-US" sz="1150" dirty="0"/>
          </a:p>
          <a:p>
            <a:pPr indent="0" marL="0">
              <a:buNone/>
            </a:pPr>
            <a:r>
              <a:rPr lang="en-US" sz="1150" dirty="0">
                <a:solidFill>
                  <a:schemeClr val="tx1"/>
                </a:solidFill>
              </a:rPr>
              <a:t>Segunda instancia (30 ene. 2023): el Juzgado Primero Laboral del Circuito de Cartagena confirma y, para ampliar los argumentos de la decisión ya adoptada, transcribe las preguntas hechas a ChatGPT 3.5 y sus respuestas.</a:t>
            </a:r>
            <a:endParaRPr lang="en-US" sz="1150" dirty="0"/>
          </a:p>
          <a:p>
            <a:pPr indent="0" marL="0">
              <a:buNone/>
            </a:pPr>
            <a:endParaRPr lang="en-US" sz="1150" dirty="0"/>
          </a:p>
          <a:p>
            <a:pPr indent="0" marL="0">
              <a:buNone/>
            </a:pPr>
            <a:r>
              <a:rPr lang="en-US" sz="1150" dirty="0">
                <a:solidFill>
                  <a:schemeClr val="tx1"/>
                </a:solidFill>
              </a:rPr>
              <a:t>La Corte selecciona el caso y practica pruebas (universidades, autoridades, expertos).</a:t>
            </a:r>
            <a:endParaRPr lang="en-US" sz="1150" dirty="0"/>
          </a:p>
        </p:txBody>
      </p:sp>
      <p:sp>
        <p:nvSpPr>
          <p:cNvPr id="7" name="pj"/>
          <p:cNvSpPr/>
          <p:nvPr/>
        </p:nvSpPr>
        <p:spPr>
          <a:xfrm>
            <a:off x="4663440" y="1188720"/>
            <a:ext cx="4023360" cy="3383280"/>
          </a:xfrm>
          <a:prstGeom prst="roundRect">
            <a:avLst>
              <a:gd name="adj" fmla="val 2162"/>
            </a:avLst>
          </a:prstGeom>
          <a:solidFill>
            <a:schemeClr val="tx1"/>
          </a:solidFill>
          <a:ln w="12700">
            <a:solidFill>
              <a:schemeClr val="tx1"/>
            </a:solidFill>
            <a:prstDash val="solid"/>
          </a:ln>
        </p:spPr>
      </p:sp>
      <p:sp>
        <p:nvSpPr>
          <p:cNvPr id="8" name="pjt"/>
          <p:cNvSpPr txBox="1"/>
          <p:nvPr/>
        </p:nvSpPr>
        <p:spPr>
          <a:xfrm>
            <a:off x="4846320" y="1325880"/>
            <a:ext cx="3657600" cy="3108960"/>
          </a:xfrm>
          <a:prstGeom prst="rect">
            <a:avLst/>
          </a:prstGeom>
          <a:noFill/>
          <a:ln/>
        </p:spPr>
        <p:txBody>
          <a:bodyPr wrap="square" lIns="0" tIns="0" rIns="0" bIns="0" rtlCol="0" anchor="t"/>
          <a:lstStyle/>
          <a:p>
            <a:pPr indent="0" marL="0">
              <a:spcAft>
                <a:spcPts val="800"/>
              </a:spcAft>
              <a:buNone/>
            </a:pPr>
            <a:r>
              <a:rPr lang="en-US" sz="1300" b="1" dirty="0">
                <a:solidFill>
                  <a:schemeClr val="accent2"/>
                </a:solidFill>
              </a:rPr>
              <a:t>Problema jurídico</a:t>
            </a:r>
            <a:endParaRPr lang="en-US" sz="1300" dirty="0"/>
          </a:p>
          <a:p>
            <a:pPr indent="0" marL="0">
              <a:buNone/>
            </a:pPr>
            <a:r>
              <a:rPr lang="en-US" sz="1200" dirty="0">
                <a:solidFill>
                  <a:schemeClr val="bg1"/>
                </a:solidFill>
              </a:rPr>
              <a:t>1. ¿Se vulneró el debido proceso en la sentencia de segunda instancia porque el juez usó ChatGPT 3.5? Quedan dos dudas: si quien decidió fue un juez de la República o una IA, y si la decisión fue debidamente motivada o fue producto de respuestas o alucinaciones de la IA.</a:t>
            </a:r>
            <a:endParaRPr lang="en-US" sz="1300" dirty="0"/>
          </a:p>
          <a:p>
            <a:pPr indent="0" marL="0">
              <a:buNone/>
            </a:pPr>
            <a:endParaRPr lang="en-US" sz="1300" dirty="0"/>
          </a:p>
          <a:p>
            <a:pPr indent="0" marL="0">
              <a:buNone/>
            </a:pPr>
            <a:r>
              <a:rPr lang="en-US" sz="1200" dirty="0">
                <a:solidFill>
                  <a:schemeClr val="bg1"/>
                </a:solidFill>
              </a:rPr>
              <a:t>2. ¿Vulneró la EPS los derechos a la salud, a la vida digna y a la seguridad social del niño al no exonerarlo de copagos, negar el transporte y no autorizar el tratamiento integral?</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949440" cy="731520"/>
          </a:xfrm>
          <a:prstGeom prst="rect">
            <a:avLst/>
          </a:prstGeom>
          <a:noFill/>
          <a:ln/>
        </p:spPr>
        <p:txBody>
          <a:bodyPr wrap="square" lIns="0" tIns="0" rIns="0" bIns="0" rtlCol="0" anchor="ctr"/>
          <a:lstStyle/>
          <a:p>
            <a:pPr algn="l" indent="0" marL="0">
              <a:buNone/>
            </a:pPr>
            <a:r>
              <a:rPr lang="en-US" sz="2400" b="1" dirty="0">
                <a:solidFill>
                  <a:schemeClr val="tx1"/>
                </a:solidFill>
              </a:rPr>
              <a:t>Decisión, ratio decidendi y regla</a:t>
            </a:r>
            <a:endParaRPr lang="en-US" sz="2400" dirty="0"/>
          </a:p>
        </p:txBody>
      </p:sp>
      <p:sp>
        <p:nvSpPr>
          <p:cNvPr id="3" name="bloque"/>
          <p:cNvSpPr txBox="1"/>
          <p:nvPr/>
        </p:nvSpPr>
        <p:spPr>
          <a:xfrm>
            <a:off x="7498080" y="411480"/>
            <a:ext cx="1188720" cy="292608"/>
          </a:xfrm>
          <a:prstGeom prst="rect">
            <a:avLst/>
          </a:prstGeom>
          <a:solidFill>
            <a:schemeClr val="accent3"/>
          </a:solidFill>
          <a:ln/>
        </p:spPr>
        <p:txBody>
          <a:bodyPr wrap="square" lIns="0" tIns="0" rIns="0" bIns="0" rtlCol="0" anchor="ctr"/>
          <a:lstStyle/>
          <a:p>
            <a:pPr algn="ctr" indent="0" marL="0">
              <a:buNone/>
            </a:pPr>
            <a:r>
              <a:rPr lang="en-US" sz="900" b="1" dirty="0">
                <a:solidFill>
                  <a:schemeClr val="bg1"/>
                </a:solidFill>
              </a:rPr>
              <a:t>SENTENCIA 82-105</a:t>
            </a:r>
            <a:endParaRPr lang="en-US" sz="900" dirty="0"/>
          </a:p>
        </p:txBody>
      </p:sp>
      <p:sp>
        <p:nvSpPr>
          <p:cNvPr id="5" name="card Decisión"/>
          <p:cNvSpPr/>
          <p:nvPr/>
        </p:nvSpPr>
        <p:spPr>
          <a:xfrm>
            <a:off x="457200" y="1188720"/>
            <a:ext cx="2651760" cy="3383280"/>
          </a:xfrm>
          <a:prstGeom prst="roundRect">
            <a:avLst>
              <a:gd name="adj" fmla="val 2759"/>
            </a:avLst>
          </a:prstGeom>
          <a:solidFill>
            <a:schemeClr val="bg2"/>
          </a:solidFill>
          <a:ln w="12700">
            <a:solidFill>
              <a:schemeClr val="bg2"/>
            </a:solidFill>
            <a:prstDash val="solid"/>
          </a:ln>
        </p:spPr>
      </p:sp>
      <p:sp>
        <p:nvSpPr>
          <p:cNvPr id="6" name="head Decisión"/>
          <p:cNvSpPr txBox="1"/>
          <p:nvPr/>
        </p:nvSpPr>
        <p:spPr>
          <a:xfrm>
            <a:off x="621792" y="1280160"/>
            <a:ext cx="2350008" cy="411480"/>
          </a:xfrm>
          <a:prstGeom prst="rect">
            <a:avLst/>
          </a:prstGeom>
          <a:noFill/>
          <a:ln/>
        </p:spPr>
        <p:txBody>
          <a:bodyPr wrap="square" lIns="0" tIns="0" rIns="0" bIns="0" rtlCol="0" anchor="ctr"/>
          <a:lstStyle/>
          <a:p>
            <a:pPr indent="0" marL="0">
              <a:buNone/>
            </a:pPr>
            <a:r>
              <a:rPr lang="en-US" sz="1300" b="1" dirty="0">
                <a:solidFill>
                  <a:schemeClr val="accent3"/>
                </a:solidFill>
              </a:rPr>
              <a:t>Decisión</a:t>
            </a:r>
            <a:endParaRPr lang="en-US" sz="1300" dirty="0"/>
          </a:p>
        </p:txBody>
      </p:sp>
      <p:sp>
        <p:nvSpPr>
          <p:cNvPr id="7" name="body Decisión"/>
          <p:cNvSpPr txBox="1"/>
          <p:nvPr/>
        </p:nvSpPr>
        <p:spPr>
          <a:xfrm>
            <a:off x="621792" y="1719072"/>
            <a:ext cx="2322576" cy="2761488"/>
          </a:xfrm>
          <a:prstGeom prst="rect">
            <a:avLst/>
          </a:prstGeom>
          <a:noFill/>
          <a:ln/>
        </p:spPr>
        <p:txBody>
          <a:bodyPr wrap="square" lIns="0" tIns="0" rIns="0" bIns="0" rtlCol="0" anchor="t"/>
          <a:lstStyle/>
          <a:p>
            <a:pPr indent="0" marL="0">
              <a:buNone/>
            </a:pPr>
            <a:r>
              <a:rPr lang="en-US" sz="1000" dirty="0">
                <a:solidFill>
                  <a:schemeClr val="tx2"/>
                </a:solidFill>
              </a:rPr>
              <a:t>Confirma parcialmente la segunda instancia: mantiene el amparo del niño y lo amplía al transporte para valoraciones y controles.</a:t>
            </a:r>
            <a:endParaRPr lang="en-US" sz="1000" dirty="0"/>
          </a:p>
          <a:p>
            <a:pPr indent="0" marL="0">
              <a:buNone/>
            </a:pPr>
            <a:endParaRPr lang="en-US" sz="1000" dirty="0"/>
          </a:p>
          <a:p>
            <a:pPr indent="0" marL="0">
              <a:buNone/>
            </a:pPr>
            <a:r>
              <a:rPr lang="en-US" sz="1000" dirty="0">
                <a:solidFill>
                  <a:schemeClr val="tx2"/>
                </a:solidFill>
              </a:rPr>
              <a:t>El uso de ChatGPT no comportó una usurpación de la función judicial ni violó el debido proceso: el juez ya había decidido. Pero no se cumplieron a cabalidad la transparencia ni la responsabilidad.</a:t>
            </a:r>
            <a:endParaRPr lang="en-US" sz="1000" dirty="0"/>
          </a:p>
          <a:p>
            <a:pPr indent="0" marL="0">
              <a:buNone/>
            </a:pPr>
            <a:endParaRPr lang="en-US" sz="1000" dirty="0"/>
          </a:p>
          <a:p>
            <a:pPr indent="0" marL="0">
              <a:buNone/>
            </a:pPr>
            <a:r>
              <a:rPr lang="en-US" sz="1000" dirty="0">
                <a:solidFill>
                  <a:schemeClr val="tx2"/>
                </a:solidFill>
              </a:rPr>
              <a:t>Ordena al Consejo Superior de la Judicatura expedir lineamientos sobre IA generativa y a la Escuela…</a:t>
            </a:r>
            <a:endParaRPr lang="en-US" sz="1000" dirty="0"/>
          </a:p>
        </p:txBody>
      </p:sp>
      <p:sp>
        <p:nvSpPr>
          <p:cNvPr id="8" name="card Ratio decidendi"/>
          <p:cNvSpPr/>
          <p:nvPr/>
        </p:nvSpPr>
        <p:spPr>
          <a:xfrm>
            <a:off x="3246120" y="1188720"/>
            <a:ext cx="2651760" cy="3383280"/>
          </a:xfrm>
          <a:prstGeom prst="roundRect">
            <a:avLst>
              <a:gd name="adj" fmla="val 2759"/>
            </a:avLst>
          </a:prstGeom>
          <a:solidFill>
            <a:schemeClr val="bg2"/>
          </a:solidFill>
          <a:ln w="12700">
            <a:solidFill>
              <a:schemeClr val="bg2"/>
            </a:solidFill>
            <a:prstDash val="solid"/>
          </a:ln>
        </p:spPr>
      </p:sp>
      <p:sp>
        <p:nvSpPr>
          <p:cNvPr id="9" name="head Ratio decidendi"/>
          <p:cNvSpPr txBox="1"/>
          <p:nvPr/>
        </p:nvSpPr>
        <p:spPr>
          <a:xfrm>
            <a:off x="3410712" y="1280160"/>
            <a:ext cx="2350008" cy="411480"/>
          </a:xfrm>
          <a:prstGeom prst="rect">
            <a:avLst/>
          </a:prstGeom>
          <a:noFill/>
          <a:ln/>
        </p:spPr>
        <p:txBody>
          <a:bodyPr wrap="square" lIns="0" tIns="0" rIns="0" bIns="0" rtlCol="0" anchor="ctr"/>
          <a:lstStyle/>
          <a:p>
            <a:pPr indent="0" marL="0">
              <a:buNone/>
            </a:pPr>
            <a:r>
              <a:rPr lang="en-US" sz="1300" b="1" dirty="0">
                <a:solidFill>
                  <a:schemeClr val="accent3"/>
                </a:solidFill>
              </a:rPr>
              <a:t>Ratio decidendi</a:t>
            </a:r>
            <a:endParaRPr lang="en-US" sz="1300" dirty="0"/>
          </a:p>
        </p:txBody>
      </p:sp>
      <p:sp>
        <p:nvSpPr>
          <p:cNvPr id="10" name="body Ratio decidendi"/>
          <p:cNvSpPr txBox="1"/>
          <p:nvPr/>
        </p:nvSpPr>
        <p:spPr>
          <a:xfrm>
            <a:off x="3410712" y="1719072"/>
            <a:ext cx="2322576" cy="2761488"/>
          </a:xfrm>
          <a:prstGeom prst="rect">
            <a:avLst/>
          </a:prstGeom>
          <a:noFill/>
          <a:ln/>
        </p:spPr>
        <p:txBody>
          <a:bodyPr wrap="square" lIns="0" tIns="0" rIns="0" bIns="0" rtlCol="0" anchor="t"/>
          <a:lstStyle/>
          <a:p>
            <a:pPr indent="0" marL="0">
              <a:buNone/>
            </a:pPr>
            <a:r>
              <a:rPr lang="en-US" sz="1000" dirty="0">
                <a:solidFill>
                  <a:schemeClr val="tx2"/>
                </a:solidFill>
              </a:rPr>
              <a:t>El juez natural es un ser humano. La IA no puede sustituirlo en lo que exige razonamiento lógico y humano: interpretar hechos, valorar pruebas, motivar y decidir.</a:t>
            </a:r>
            <a:endParaRPr lang="en-US" sz="1000" dirty="0"/>
          </a:p>
          <a:p>
            <a:pPr indent="0" marL="0">
              <a:buNone/>
            </a:pPr>
            <a:endParaRPr lang="en-US" sz="1000" dirty="0"/>
          </a:p>
          <a:p>
            <a:pPr indent="0" marL="0">
              <a:buNone/>
            </a:pPr>
            <a:r>
              <a:rPr lang="en-US" sz="1000" dirty="0">
                <a:solidFill>
                  <a:schemeClr val="tx2"/>
                </a:solidFill>
              </a:rPr>
              <a:t>Una decisión adoptada por la IA sin valoración del juez sería inválida y violaría el debido proceso.</a:t>
            </a:r>
            <a:endParaRPr lang="en-US" sz="1000" dirty="0"/>
          </a:p>
          <a:p>
            <a:pPr indent="0" marL="0">
              <a:buNone/>
            </a:pPr>
            <a:endParaRPr lang="en-US" sz="1000" dirty="0"/>
          </a:p>
          <a:p>
            <a:pPr indent="0" marL="0">
              <a:buNone/>
            </a:pPr>
            <a:r>
              <a:rPr lang="en-US" sz="1000" dirty="0">
                <a:solidFill>
                  <a:schemeClr val="tx2"/>
                </a:solidFill>
              </a:rPr>
              <a:t>Su uso es admisible si es razonable y ponderado, con transparencia, responsabilidad, protección de datos y sin sustituir la racionalidad humana.</a:t>
            </a:r>
            <a:endParaRPr lang="en-US" sz="1000" dirty="0"/>
          </a:p>
        </p:txBody>
      </p:sp>
      <p:sp>
        <p:nvSpPr>
          <p:cNvPr id="11" name="card Regla o subregla"/>
          <p:cNvSpPr/>
          <p:nvPr/>
        </p:nvSpPr>
        <p:spPr>
          <a:xfrm>
            <a:off x="6035040" y="1188720"/>
            <a:ext cx="2651760" cy="3383280"/>
          </a:xfrm>
          <a:prstGeom prst="roundRect">
            <a:avLst>
              <a:gd name="adj" fmla="val 2759"/>
            </a:avLst>
          </a:prstGeom>
          <a:solidFill>
            <a:schemeClr val="bg2"/>
          </a:solidFill>
          <a:ln w="12700">
            <a:solidFill>
              <a:schemeClr val="bg2"/>
            </a:solidFill>
            <a:prstDash val="solid"/>
          </a:ln>
        </p:spPr>
      </p:sp>
      <p:sp>
        <p:nvSpPr>
          <p:cNvPr id="12" name="head Regla o subregla"/>
          <p:cNvSpPr txBox="1"/>
          <p:nvPr/>
        </p:nvSpPr>
        <p:spPr>
          <a:xfrm>
            <a:off x="6199632" y="1280160"/>
            <a:ext cx="2350008" cy="411480"/>
          </a:xfrm>
          <a:prstGeom prst="rect">
            <a:avLst/>
          </a:prstGeom>
          <a:noFill/>
          <a:ln/>
        </p:spPr>
        <p:txBody>
          <a:bodyPr wrap="square" lIns="0" tIns="0" rIns="0" bIns="0" rtlCol="0" anchor="ctr"/>
          <a:lstStyle/>
          <a:p>
            <a:pPr indent="0" marL="0">
              <a:buNone/>
            </a:pPr>
            <a:r>
              <a:rPr lang="en-US" sz="1300" b="1" dirty="0">
                <a:solidFill>
                  <a:schemeClr val="accent3"/>
                </a:solidFill>
              </a:rPr>
              <a:t>Regla o subregla</a:t>
            </a:r>
            <a:endParaRPr lang="en-US" sz="1300" dirty="0"/>
          </a:p>
        </p:txBody>
      </p:sp>
      <p:sp>
        <p:nvSpPr>
          <p:cNvPr id="13" name="body Regla o subregla"/>
          <p:cNvSpPr txBox="1"/>
          <p:nvPr/>
        </p:nvSpPr>
        <p:spPr>
          <a:xfrm>
            <a:off x="6199632" y="1719072"/>
            <a:ext cx="2322576" cy="2761488"/>
          </a:xfrm>
          <a:prstGeom prst="rect">
            <a:avLst/>
          </a:prstGeom>
          <a:noFill/>
          <a:ln/>
        </p:spPr>
        <p:txBody>
          <a:bodyPr wrap="square" lIns="0" tIns="0" rIns="0" bIns="0" rtlCol="0" anchor="t"/>
          <a:lstStyle/>
          <a:p>
            <a:pPr indent="0" marL="0">
              <a:buNone/>
            </a:pPr>
            <a:r>
              <a:rPr lang="en-US" sz="1000" dirty="0">
                <a:solidFill>
                  <a:schemeClr val="tx2"/>
                </a:solidFill>
              </a:rPr>
              <a:t>Un juez puede apoyarse en IA generativa si:</a:t>
            </a:r>
            <a:endParaRPr lang="en-US" sz="1000" dirty="0"/>
          </a:p>
          <a:p>
            <a:pPr indent="0" marL="0">
              <a:buNone/>
            </a:pPr>
            <a:r>
              <a:rPr lang="en-US" sz="1000" dirty="0">
                <a:solidFill>
                  <a:schemeClr val="tx2"/>
                </a:solidFill>
              </a:rPr>
              <a:t>(i) no delega interpretar hechos, valorar pruebas, motivar ni decidir;</a:t>
            </a:r>
            <a:endParaRPr lang="en-US" sz="1000" dirty="0"/>
          </a:p>
          <a:p>
            <a:pPr indent="0" marL="0">
              <a:buNone/>
            </a:pPr>
            <a:r>
              <a:rPr lang="en-US" sz="1000" dirty="0">
                <a:solidFill>
                  <a:schemeClr val="tx2"/>
                </a:solidFill>
              </a:rPr>
              <a:t>(ii) evidencia con claridad el uso, su alcance y su ubicación;</a:t>
            </a:r>
            <a:endParaRPr lang="en-US" sz="1000" dirty="0"/>
          </a:p>
          <a:p>
            <a:pPr indent="0" marL="0">
              <a:buNone/>
            </a:pPr>
            <a:r>
              <a:rPr lang="en-US" sz="1000" dirty="0">
                <a:solidFill>
                  <a:schemeClr val="tx2"/>
                </a:solidFill>
              </a:rPr>
              <a:t>(iii) verifica fuentes y datos y protege la reserva del proceso;</a:t>
            </a:r>
            <a:endParaRPr lang="en-US" sz="1000" dirty="0"/>
          </a:p>
          <a:p>
            <a:pPr indent="0" marL="0">
              <a:buNone/>
            </a:pPr>
            <a:r>
              <a:rPr lang="en-US" sz="1000" dirty="0">
                <a:solidFill>
                  <a:schemeClr val="tx2"/>
                </a:solidFill>
              </a:rPr>
              <a:t>(iv) responde por el resultado.</a:t>
            </a:r>
            <a:endParaRPr lang="en-US" sz="1000" dirty="0"/>
          </a:p>
          <a:p>
            <a:pPr indent="0" marL="0">
              <a:buNone/>
            </a:pPr>
            <a:endParaRPr lang="en-US" sz="1000" dirty="0"/>
          </a:p>
          <a:p>
            <a:pPr indent="0" marL="0">
              <a:buNone/>
            </a:pPr>
            <a:r>
              <a:rPr lang="en-US" sz="1000" dirty="0">
                <a:solidFill>
                  <a:schemeClr val="tx2"/>
                </a:solidFill>
              </a:rPr>
              <a:t>Criterios: transparencia, responsabilidad, privacidad, no sustitución, verificación, prevención de riesgos, igualdad, control humano, ética, buenas…</a:t>
            </a:r>
            <a:endParaRPr lang="en-US" sz="1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949440" cy="731520"/>
          </a:xfrm>
          <a:prstGeom prst="rect">
            <a:avLst/>
          </a:prstGeom>
          <a:noFill/>
          <a:ln/>
        </p:spPr>
        <p:txBody>
          <a:bodyPr wrap="square" lIns="0" tIns="0" rIns="0" bIns="0" rtlCol="0" anchor="ctr"/>
          <a:lstStyle/>
          <a:p>
            <a:pPr algn="l" indent="0" marL="0">
              <a:buNone/>
            </a:pPr>
            <a:r>
              <a:rPr lang="en-US" sz="2400" b="1" dirty="0">
                <a:solidFill>
                  <a:schemeClr val="tx1"/>
                </a:solidFill>
              </a:rPr>
              <a:t>En palabras de la Corte</a:t>
            </a:r>
            <a:endParaRPr lang="en-US" sz="2400" dirty="0"/>
          </a:p>
        </p:txBody>
      </p:sp>
      <p:sp>
        <p:nvSpPr>
          <p:cNvPr id="3" name="bloque"/>
          <p:cNvSpPr txBox="1"/>
          <p:nvPr/>
        </p:nvSpPr>
        <p:spPr>
          <a:xfrm>
            <a:off x="7498080" y="411480"/>
            <a:ext cx="1188720" cy="292608"/>
          </a:xfrm>
          <a:prstGeom prst="rect">
            <a:avLst/>
          </a:prstGeom>
          <a:solidFill>
            <a:schemeClr val="accent3"/>
          </a:solidFill>
          <a:ln/>
        </p:spPr>
        <p:txBody>
          <a:bodyPr wrap="square" lIns="0" tIns="0" rIns="0" bIns="0" rtlCol="0" anchor="ctr"/>
          <a:lstStyle/>
          <a:p>
            <a:pPr algn="ctr" indent="0" marL="0">
              <a:buNone/>
            </a:pPr>
            <a:r>
              <a:rPr lang="en-US" sz="900" b="1" dirty="0">
                <a:solidFill>
                  <a:schemeClr val="bg1"/>
                </a:solidFill>
              </a:rPr>
              <a:t>SENTENCIA 82-105</a:t>
            </a:r>
            <a:endParaRPr lang="en-US" sz="900" dirty="0"/>
          </a:p>
        </p:txBody>
      </p:sp>
      <p:sp>
        <p:nvSpPr>
          <p:cNvPr id="5" name="sc0"/>
          <p:cNvSpPr/>
          <p:nvPr/>
        </p:nvSpPr>
        <p:spPr>
          <a:xfrm>
            <a:off x="457200" y="1188720"/>
            <a:ext cx="8229600" cy="1005840"/>
          </a:xfrm>
          <a:prstGeom prst="roundRect">
            <a:avLst>
              <a:gd name="adj" fmla="val 7273"/>
            </a:avLst>
          </a:prstGeom>
          <a:solidFill>
            <a:schemeClr val="bg2"/>
          </a:solidFill>
          <a:ln w="12700">
            <a:solidFill>
              <a:schemeClr val="bg2"/>
            </a:solidFill>
            <a:prstDash val="solid"/>
          </a:ln>
        </p:spPr>
      </p:sp>
      <p:sp>
        <p:nvSpPr>
          <p:cNvPr id="6" name="sq0"/>
          <p:cNvSpPr txBox="1"/>
          <p:nvPr/>
        </p:nvSpPr>
        <p:spPr>
          <a:xfrm>
            <a:off x="548640" y="1143000"/>
            <a:ext cx="457200" cy="640080"/>
          </a:xfrm>
          <a:prstGeom prst="rect">
            <a:avLst/>
          </a:prstGeom>
          <a:noFill/>
          <a:ln/>
        </p:spPr>
        <p:txBody>
          <a:bodyPr wrap="square" lIns="0" tIns="0" rIns="0" bIns="0" rtlCol="0" anchor="ctr"/>
          <a:lstStyle/>
          <a:p>
            <a:pPr indent="0" marL="0">
              <a:buNone/>
            </a:pPr>
            <a:r>
              <a:rPr lang="en-US" sz="4000" b="1" dirty="0">
                <a:solidFill>
                  <a:schemeClr val="accent3"/>
                </a:solidFill>
              </a:rPr>
              <a:t>“</a:t>
            </a:r>
            <a:endParaRPr lang="en-US" sz="4000" dirty="0"/>
          </a:p>
        </p:txBody>
      </p:sp>
      <p:sp>
        <p:nvSpPr>
          <p:cNvPr id="7" name="scq0"/>
          <p:cNvSpPr txBox="1"/>
          <p:nvPr/>
        </p:nvSpPr>
        <p:spPr>
          <a:xfrm>
            <a:off x="1005840" y="1188720"/>
            <a:ext cx="7498080" cy="1005840"/>
          </a:xfrm>
          <a:prstGeom prst="rect">
            <a:avLst/>
          </a:prstGeom>
          <a:noFill/>
          <a:ln/>
        </p:spPr>
        <p:txBody>
          <a:bodyPr wrap="square" lIns="0" tIns="0" rIns="0" bIns="0" rtlCol="0" anchor="ctr"/>
          <a:lstStyle/>
          <a:p>
            <a:pPr indent="0" marL="0">
              <a:buNone/>
            </a:pPr>
            <a:r>
              <a:rPr lang="en-US" sz="1100" i="1" dirty="0">
                <a:solidFill>
                  <a:schemeClr val="tx1"/>
                </a:solidFill>
              </a:rPr>
              <a:t>el uso de ChatGPT en el caso sometido a estudio no comportó una usurpación de la función de administración de justicia</a:t>
            </a:r>
            <a:pPr indent="0" marL="0">
              <a:buNone/>
            </a:pPr>
            <a:r>
              <a:rPr lang="en-US" sz="1100" b="1" dirty="0">
                <a:solidFill>
                  <a:schemeClr val="accent1"/>
                </a:solidFill>
              </a:rPr>
              <a:t>  (fragmento indexado del texto oficial; cotejar numeral)</a:t>
            </a:r>
            <a:endParaRPr lang="en-US" sz="1100" dirty="0"/>
          </a:p>
        </p:txBody>
      </p:sp>
      <p:sp>
        <p:nvSpPr>
          <p:cNvPr id="8" name="sc1"/>
          <p:cNvSpPr/>
          <p:nvPr/>
        </p:nvSpPr>
        <p:spPr>
          <a:xfrm>
            <a:off x="457200" y="2331720"/>
            <a:ext cx="8229600" cy="1005840"/>
          </a:xfrm>
          <a:prstGeom prst="roundRect">
            <a:avLst>
              <a:gd name="adj" fmla="val 7273"/>
            </a:avLst>
          </a:prstGeom>
          <a:solidFill>
            <a:schemeClr val="bg2"/>
          </a:solidFill>
          <a:ln w="12700">
            <a:solidFill>
              <a:schemeClr val="bg2"/>
            </a:solidFill>
            <a:prstDash val="solid"/>
          </a:ln>
        </p:spPr>
      </p:sp>
      <p:sp>
        <p:nvSpPr>
          <p:cNvPr id="9" name="sq1"/>
          <p:cNvSpPr txBox="1"/>
          <p:nvPr/>
        </p:nvSpPr>
        <p:spPr>
          <a:xfrm>
            <a:off x="548640" y="2286000"/>
            <a:ext cx="457200" cy="640080"/>
          </a:xfrm>
          <a:prstGeom prst="rect">
            <a:avLst/>
          </a:prstGeom>
          <a:noFill/>
          <a:ln/>
        </p:spPr>
        <p:txBody>
          <a:bodyPr wrap="square" lIns="0" tIns="0" rIns="0" bIns="0" rtlCol="0" anchor="ctr"/>
          <a:lstStyle/>
          <a:p>
            <a:pPr indent="0" marL="0">
              <a:buNone/>
            </a:pPr>
            <a:r>
              <a:rPr lang="en-US" sz="4000" b="1" dirty="0">
                <a:solidFill>
                  <a:schemeClr val="accent3"/>
                </a:solidFill>
              </a:rPr>
              <a:t>“</a:t>
            </a:r>
            <a:endParaRPr lang="en-US" sz="4000" dirty="0"/>
          </a:p>
        </p:txBody>
      </p:sp>
      <p:sp>
        <p:nvSpPr>
          <p:cNvPr id="10" name="scq1"/>
          <p:cNvSpPr txBox="1"/>
          <p:nvPr/>
        </p:nvSpPr>
        <p:spPr>
          <a:xfrm>
            <a:off x="1005840" y="2331720"/>
            <a:ext cx="7498080" cy="1005840"/>
          </a:xfrm>
          <a:prstGeom prst="rect">
            <a:avLst/>
          </a:prstGeom>
          <a:noFill/>
          <a:ln/>
        </p:spPr>
        <p:txBody>
          <a:bodyPr wrap="square" lIns="0" tIns="0" rIns="0" bIns="0" rtlCol="0" anchor="ctr"/>
          <a:lstStyle/>
          <a:p>
            <a:pPr indent="0" marL="0">
              <a:buNone/>
            </a:pPr>
            <a:r>
              <a:rPr lang="en-US" sz="1100" i="1" dirty="0">
                <a:solidFill>
                  <a:schemeClr val="tx1"/>
                </a:solidFill>
              </a:rPr>
              <a:t>la IA no puede ser usada para sustituir el razonamiento lógico y humano que es competencia de cada juez</a:t>
            </a:r>
            <a:pPr indent="0" marL="0">
              <a:buNone/>
            </a:pPr>
            <a:r>
              <a:rPr lang="en-US" sz="1100" b="1" dirty="0">
                <a:solidFill>
                  <a:schemeClr val="accent1"/>
                </a:solidFill>
              </a:rPr>
              <a:t>  (fragmento indexado del texto oficial; cotejar numeral)</a:t>
            </a:r>
            <a:endParaRPr lang="en-US" sz="1100" dirty="0"/>
          </a:p>
        </p:txBody>
      </p:sp>
      <p:sp>
        <p:nvSpPr>
          <p:cNvPr id="11" name="sc2"/>
          <p:cNvSpPr/>
          <p:nvPr/>
        </p:nvSpPr>
        <p:spPr>
          <a:xfrm>
            <a:off x="457200" y="3474720"/>
            <a:ext cx="8229600" cy="1005840"/>
          </a:xfrm>
          <a:prstGeom prst="roundRect">
            <a:avLst>
              <a:gd name="adj" fmla="val 7273"/>
            </a:avLst>
          </a:prstGeom>
          <a:solidFill>
            <a:schemeClr val="bg2"/>
          </a:solidFill>
          <a:ln w="12700">
            <a:solidFill>
              <a:schemeClr val="bg2"/>
            </a:solidFill>
            <a:prstDash val="solid"/>
          </a:ln>
        </p:spPr>
      </p:sp>
      <p:sp>
        <p:nvSpPr>
          <p:cNvPr id="12" name="sq2"/>
          <p:cNvSpPr txBox="1"/>
          <p:nvPr/>
        </p:nvSpPr>
        <p:spPr>
          <a:xfrm>
            <a:off x="548640" y="3429000"/>
            <a:ext cx="457200" cy="640080"/>
          </a:xfrm>
          <a:prstGeom prst="rect">
            <a:avLst/>
          </a:prstGeom>
          <a:noFill/>
          <a:ln/>
        </p:spPr>
        <p:txBody>
          <a:bodyPr wrap="square" lIns="0" tIns="0" rIns="0" bIns="0" rtlCol="0" anchor="ctr"/>
          <a:lstStyle/>
          <a:p>
            <a:pPr indent="0" marL="0">
              <a:buNone/>
            </a:pPr>
            <a:r>
              <a:rPr lang="en-US" sz="4000" b="1" dirty="0">
                <a:solidFill>
                  <a:schemeClr val="accent3"/>
                </a:solidFill>
              </a:rPr>
              <a:t>“</a:t>
            </a:r>
            <a:endParaRPr lang="en-US" sz="4000" dirty="0"/>
          </a:p>
        </p:txBody>
      </p:sp>
      <p:sp>
        <p:nvSpPr>
          <p:cNvPr id="13" name="scq2"/>
          <p:cNvSpPr txBox="1"/>
          <p:nvPr/>
        </p:nvSpPr>
        <p:spPr>
          <a:xfrm>
            <a:off x="1005840" y="3474720"/>
            <a:ext cx="7498080" cy="1005840"/>
          </a:xfrm>
          <a:prstGeom prst="rect">
            <a:avLst/>
          </a:prstGeom>
          <a:noFill/>
          <a:ln/>
        </p:spPr>
        <p:txBody>
          <a:bodyPr wrap="square" lIns="0" tIns="0" rIns="0" bIns="0" rtlCol="0" anchor="ctr"/>
          <a:lstStyle/>
          <a:p>
            <a:pPr indent="0" marL="0">
              <a:buNone/>
            </a:pPr>
            <a:r>
              <a:rPr lang="en-US" sz="1100" i="1" dirty="0">
                <a:solidFill>
                  <a:schemeClr val="tx1"/>
                </a:solidFill>
              </a:rPr>
              <a:t>Transparencia: evidenciar con claridad y precisión el uso, alcances y ubicación de los resultados obtenidos con herramientas de IA</a:t>
            </a:r>
            <a:pPr indent="0" marL="0">
              <a:buNone/>
            </a:pPr>
            <a:r>
              <a:rPr lang="en-US" sz="1100" b="1" dirty="0">
                <a:solidFill>
                  <a:schemeClr val="accent1"/>
                </a:solidFill>
              </a:rPr>
              <a:t>  (criterios para la Rama Judicial; cotejar redacción)</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949440" cy="731520"/>
          </a:xfrm>
          <a:prstGeom prst="rect">
            <a:avLst/>
          </a:prstGeom>
          <a:noFill/>
          <a:ln/>
        </p:spPr>
        <p:txBody>
          <a:bodyPr wrap="square" lIns="0" tIns="0" rIns="0" bIns="0" rtlCol="0" anchor="ctr"/>
          <a:lstStyle/>
          <a:p>
            <a:pPr algn="l" indent="0" marL="0">
              <a:buNone/>
            </a:pPr>
            <a:r>
              <a:rPr lang="en-US" sz="2400" b="1" dirty="0">
                <a:solidFill>
                  <a:schemeClr val="tx1"/>
                </a:solidFill>
              </a:rPr>
              <a:t>Precedente y línea jurisprudencial</a:t>
            </a:r>
            <a:endParaRPr lang="en-US" sz="2400" dirty="0"/>
          </a:p>
        </p:txBody>
      </p:sp>
      <p:sp>
        <p:nvSpPr>
          <p:cNvPr id="3" name="bloque"/>
          <p:cNvSpPr txBox="1"/>
          <p:nvPr/>
        </p:nvSpPr>
        <p:spPr>
          <a:xfrm>
            <a:off x="7498080" y="411480"/>
            <a:ext cx="1188720" cy="292608"/>
          </a:xfrm>
          <a:prstGeom prst="rect">
            <a:avLst/>
          </a:prstGeom>
          <a:solidFill>
            <a:schemeClr val="accent3"/>
          </a:solidFill>
          <a:ln/>
        </p:spPr>
        <p:txBody>
          <a:bodyPr wrap="square" lIns="0" tIns="0" rIns="0" bIns="0" rtlCol="0" anchor="ctr"/>
          <a:lstStyle/>
          <a:p>
            <a:pPr algn="ctr" indent="0" marL="0">
              <a:buNone/>
            </a:pPr>
            <a:r>
              <a:rPr lang="en-US" sz="900" b="1" dirty="0">
                <a:solidFill>
                  <a:schemeClr val="bg1"/>
                </a:solidFill>
              </a:rPr>
              <a:t>SENTENCIA 82-105</a:t>
            </a:r>
            <a:endParaRPr lang="en-US" sz="900" dirty="0"/>
          </a:p>
        </p:txBody>
      </p:sp>
      <p:sp>
        <p:nvSpPr>
          <p:cNvPr id="5" name="tl3"/>
          <p:cNvSpPr/>
          <p:nvPr/>
        </p:nvSpPr>
        <p:spPr>
          <a:xfrm>
            <a:off x="640080" y="1920240"/>
            <a:ext cx="7863840" cy="0"/>
          </a:xfrm>
          <a:prstGeom prst="line">
            <a:avLst/>
          </a:prstGeom>
          <a:noFill/>
          <a:ln w="25400">
            <a:solidFill>
              <a:schemeClr val="accent6"/>
            </a:solidFill>
            <a:prstDash val="solid"/>
          </a:ln>
        </p:spPr>
      </p:sp>
      <p:sp>
        <p:nvSpPr>
          <p:cNvPr id="6" name="ld0"/>
          <p:cNvSpPr/>
          <p:nvPr/>
        </p:nvSpPr>
        <p:spPr>
          <a:xfrm>
            <a:off x="975360" y="1783080"/>
            <a:ext cx="274320" cy="274320"/>
          </a:xfrm>
          <a:prstGeom prst="ellipse">
            <a:avLst/>
          </a:prstGeom>
          <a:solidFill>
            <a:schemeClr val="accent3"/>
          </a:solidFill>
          <a:ln w="12700">
            <a:solidFill>
              <a:schemeClr val="accent3"/>
            </a:solidFill>
            <a:prstDash val="solid"/>
          </a:ln>
        </p:spPr>
      </p:sp>
      <p:sp>
        <p:nvSpPr>
          <p:cNvPr id="7" name="ls0"/>
          <p:cNvSpPr txBox="1"/>
          <p:nvPr/>
        </p:nvSpPr>
        <p:spPr>
          <a:xfrm>
            <a:off x="457200" y="1325880"/>
            <a:ext cx="1310640" cy="365760"/>
          </a:xfrm>
          <a:prstGeom prst="rect">
            <a:avLst/>
          </a:prstGeom>
          <a:noFill/>
          <a:ln/>
        </p:spPr>
        <p:txBody>
          <a:bodyPr wrap="square" lIns="0" tIns="0" rIns="0" bIns="0" rtlCol="0" anchor="ctr"/>
          <a:lstStyle/>
          <a:p>
            <a:pPr algn="ctr" indent="0" marL="0">
              <a:buNone/>
            </a:pPr>
            <a:r>
              <a:rPr lang="en-US" sz="1100" b="1" dirty="0">
                <a:solidFill>
                  <a:schemeClr val="tx1"/>
                </a:solidFill>
              </a:rPr>
              <a:t>T-414/92</a:t>
            </a:r>
            <a:endParaRPr lang="en-US" sz="1100" dirty="0"/>
          </a:p>
        </p:txBody>
      </p:sp>
      <p:sp>
        <p:nvSpPr>
          <p:cNvPr id="8" name="la0"/>
          <p:cNvSpPr txBox="1"/>
          <p:nvPr/>
        </p:nvSpPr>
        <p:spPr>
          <a:xfrm>
            <a:off x="502920" y="2194560"/>
            <a:ext cx="1219200" cy="1188720"/>
          </a:xfrm>
          <a:prstGeom prst="rect">
            <a:avLst/>
          </a:prstGeom>
          <a:noFill/>
          <a:ln/>
        </p:spPr>
        <p:txBody>
          <a:bodyPr wrap="square" lIns="0" tIns="0" rIns="0" bIns="0" rtlCol="0" anchor="t"/>
          <a:lstStyle/>
          <a:p>
            <a:pPr algn="ctr" indent="0" marL="0">
              <a:buNone/>
            </a:pPr>
            <a:r>
              <a:rPr lang="en-US" sz="950" dirty="0">
                <a:solidFill>
                  <a:schemeClr val="tx2"/>
                </a:solidFill>
              </a:rPr>
              <a:t>Primer habeas data: libertad informática y caducidad del dato negativo (M.P. Ciro Angarita Barón).</a:t>
            </a:r>
            <a:endParaRPr lang="en-US" sz="950" dirty="0"/>
          </a:p>
        </p:txBody>
      </p:sp>
      <p:sp>
        <p:nvSpPr>
          <p:cNvPr id="9" name="ld1"/>
          <p:cNvSpPr/>
          <p:nvPr/>
        </p:nvSpPr>
        <p:spPr>
          <a:xfrm>
            <a:off x="2286000" y="1783080"/>
            <a:ext cx="274320" cy="274320"/>
          </a:xfrm>
          <a:prstGeom prst="ellipse">
            <a:avLst/>
          </a:prstGeom>
          <a:solidFill>
            <a:schemeClr val="accent3"/>
          </a:solidFill>
          <a:ln w="12700">
            <a:solidFill>
              <a:schemeClr val="accent3"/>
            </a:solidFill>
            <a:prstDash val="solid"/>
          </a:ln>
        </p:spPr>
      </p:sp>
      <p:sp>
        <p:nvSpPr>
          <p:cNvPr id="10" name="ls1"/>
          <p:cNvSpPr txBox="1"/>
          <p:nvPr/>
        </p:nvSpPr>
        <p:spPr>
          <a:xfrm>
            <a:off x="1767840" y="1325880"/>
            <a:ext cx="1310640" cy="365760"/>
          </a:xfrm>
          <a:prstGeom prst="rect">
            <a:avLst/>
          </a:prstGeom>
          <a:noFill/>
          <a:ln/>
        </p:spPr>
        <p:txBody>
          <a:bodyPr wrap="square" lIns="0" tIns="0" rIns="0" bIns="0" rtlCol="0" anchor="ctr"/>
          <a:lstStyle/>
          <a:p>
            <a:pPr algn="ctr" indent="0" marL="0">
              <a:buNone/>
            </a:pPr>
            <a:r>
              <a:rPr lang="en-US" sz="1100" b="1" dirty="0">
                <a:solidFill>
                  <a:schemeClr val="tx1"/>
                </a:solidFill>
              </a:rPr>
              <a:t>SU-082/95</a:t>
            </a:r>
            <a:endParaRPr lang="en-US" sz="1100" dirty="0"/>
          </a:p>
        </p:txBody>
      </p:sp>
      <p:sp>
        <p:nvSpPr>
          <p:cNvPr id="11" name="la1"/>
          <p:cNvSpPr txBox="1"/>
          <p:nvPr/>
        </p:nvSpPr>
        <p:spPr>
          <a:xfrm>
            <a:off x="1813560" y="2194560"/>
            <a:ext cx="1219200" cy="1188720"/>
          </a:xfrm>
          <a:prstGeom prst="rect">
            <a:avLst/>
          </a:prstGeom>
          <a:noFill/>
          <a:ln/>
        </p:spPr>
        <p:txBody>
          <a:bodyPr wrap="square" lIns="0" tIns="0" rIns="0" bIns="0" rtlCol="0" anchor="t"/>
          <a:lstStyle/>
          <a:p>
            <a:pPr algn="ctr" indent="0" marL="0">
              <a:buNone/>
            </a:pPr>
            <a:r>
              <a:rPr lang="en-US" sz="950" dirty="0">
                <a:solidFill>
                  <a:schemeClr val="tx2"/>
                </a:solidFill>
              </a:rPr>
              <a:t>Unifica el núcleo del habeas data y la caducidad del dato financiero.</a:t>
            </a:r>
            <a:endParaRPr lang="en-US" sz="950" dirty="0"/>
          </a:p>
        </p:txBody>
      </p:sp>
      <p:sp>
        <p:nvSpPr>
          <p:cNvPr id="12" name="ld2"/>
          <p:cNvSpPr/>
          <p:nvPr/>
        </p:nvSpPr>
        <p:spPr>
          <a:xfrm>
            <a:off x="3596640" y="1783080"/>
            <a:ext cx="274320" cy="274320"/>
          </a:xfrm>
          <a:prstGeom prst="ellipse">
            <a:avLst/>
          </a:prstGeom>
          <a:solidFill>
            <a:schemeClr val="accent3"/>
          </a:solidFill>
          <a:ln w="12700">
            <a:solidFill>
              <a:schemeClr val="accent3"/>
            </a:solidFill>
            <a:prstDash val="solid"/>
          </a:ln>
        </p:spPr>
      </p:sp>
      <p:sp>
        <p:nvSpPr>
          <p:cNvPr id="13" name="ls2"/>
          <p:cNvSpPr txBox="1"/>
          <p:nvPr/>
        </p:nvSpPr>
        <p:spPr>
          <a:xfrm>
            <a:off x="3078480" y="1325880"/>
            <a:ext cx="1310640" cy="365760"/>
          </a:xfrm>
          <a:prstGeom prst="rect">
            <a:avLst/>
          </a:prstGeom>
          <a:noFill/>
          <a:ln/>
        </p:spPr>
        <p:txBody>
          <a:bodyPr wrap="square" lIns="0" tIns="0" rIns="0" bIns="0" rtlCol="0" anchor="ctr"/>
          <a:lstStyle/>
          <a:p>
            <a:pPr algn="ctr" indent="0" marL="0">
              <a:buNone/>
            </a:pPr>
            <a:r>
              <a:rPr lang="en-US" sz="1100" b="1" dirty="0">
                <a:solidFill>
                  <a:schemeClr val="tx1"/>
                </a:solidFill>
              </a:rPr>
              <a:t>C-748/11</a:t>
            </a:r>
            <a:endParaRPr lang="en-US" sz="1100" dirty="0"/>
          </a:p>
        </p:txBody>
      </p:sp>
      <p:sp>
        <p:nvSpPr>
          <p:cNvPr id="14" name="la2"/>
          <p:cNvSpPr txBox="1"/>
          <p:nvPr/>
        </p:nvSpPr>
        <p:spPr>
          <a:xfrm>
            <a:off x="3124200" y="2194560"/>
            <a:ext cx="1219200" cy="1188720"/>
          </a:xfrm>
          <a:prstGeom prst="rect">
            <a:avLst/>
          </a:prstGeom>
          <a:noFill/>
          <a:ln/>
        </p:spPr>
        <p:txBody>
          <a:bodyPr wrap="square" lIns="0" tIns="0" rIns="0" bIns="0" rtlCol="0" anchor="t"/>
          <a:lstStyle/>
          <a:p>
            <a:pPr algn="ctr" indent="0" marL="0">
              <a:buNone/>
            </a:pPr>
            <a:r>
              <a:rPr lang="en-US" sz="950" dirty="0">
                <a:solidFill>
                  <a:schemeClr val="tx2"/>
                </a:solidFill>
              </a:rPr>
              <a:t>Control previo de la Ley 1581 de 2012: principios del tratamiento de datos.</a:t>
            </a:r>
            <a:endParaRPr lang="en-US" sz="950" dirty="0"/>
          </a:p>
        </p:txBody>
      </p:sp>
      <p:sp>
        <p:nvSpPr>
          <p:cNvPr id="15" name="ld3"/>
          <p:cNvSpPr/>
          <p:nvPr/>
        </p:nvSpPr>
        <p:spPr>
          <a:xfrm>
            <a:off x="4907280" y="1783080"/>
            <a:ext cx="274320" cy="274320"/>
          </a:xfrm>
          <a:prstGeom prst="ellipse">
            <a:avLst/>
          </a:prstGeom>
          <a:solidFill>
            <a:schemeClr val="accent3"/>
          </a:solidFill>
          <a:ln w="12700">
            <a:solidFill>
              <a:schemeClr val="accent3"/>
            </a:solidFill>
            <a:prstDash val="solid"/>
          </a:ln>
        </p:spPr>
      </p:sp>
      <p:sp>
        <p:nvSpPr>
          <p:cNvPr id="16" name="ls3"/>
          <p:cNvSpPr txBox="1"/>
          <p:nvPr/>
        </p:nvSpPr>
        <p:spPr>
          <a:xfrm>
            <a:off x="4389120" y="1325880"/>
            <a:ext cx="1310640" cy="365760"/>
          </a:xfrm>
          <a:prstGeom prst="rect">
            <a:avLst/>
          </a:prstGeom>
          <a:noFill/>
          <a:ln/>
        </p:spPr>
        <p:txBody>
          <a:bodyPr wrap="square" lIns="0" tIns="0" rIns="0" bIns="0" rtlCol="0" anchor="ctr"/>
          <a:lstStyle/>
          <a:p>
            <a:pPr algn="ctr" indent="0" marL="0">
              <a:buNone/>
            </a:pPr>
            <a:r>
              <a:rPr lang="en-US" sz="1100" b="1" dirty="0">
                <a:solidFill>
                  <a:schemeClr val="tx1"/>
                </a:solidFill>
              </a:rPr>
              <a:t>T-277/15</a:t>
            </a:r>
            <a:endParaRPr lang="en-US" sz="1100" dirty="0"/>
          </a:p>
        </p:txBody>
      </p:sp>
      <p:sp>
        <p:nvSpPr>
          <p:cNvPr id="17" name="la3"/>
          <p:cNvSpPr txBox="1"/>
          <p:nvPr/>
        </p:nvSpPr>
        <p:spPr>
          <a:xfrm>
            <a:off x="4434840" y="2194560"/>
            <a:ext cx="1219200" cy="1188720"/>
          </a:xfrm>
          <a:prstGeom prst="rect">
            <a:avLst/>
          </a:prstGeom>
          <a:noFill/>
          <a:ln/>
        </p:spPr>
        <p:txBody>
          <a:bodyPr wrap="square" lIns="0" tIns="0" rIns="0" bIns="0" rtlCol="0" anchor="t"/>
          <a:lstStyle/>
          <a:p>
            <a:pPr algn="ctr" indent="0" marL="0">
              <a:buNone/>
            </a:pPr>
            <a:r>
              <a:rPr lang="en-US" sz="950" dirty="0">
                <a:solidFill>
                  <a:schemeClr val="tx2"/>
                </a:solidFill>
              </a:rPr>
              <a:t>Derecho al olvido digital frente a medios de comunicación en internet.</a:t>
            </a:r>
            <a:endParaRPr lang="en-US" sz="950" dirty="0"/>
          </a:p>
        </p:txBody>
      </p:sp>
      <p:sp>
        <p:nvSpPr>
          <p:cNvPr id="18" name="ld4"/>
          <p:cNvSpPr/>
          <p:nvPr/>
        </p:nvSpPr>
        <p:spPr>
          <a:xfrm>
            <a:off x="6217920" y="1783080"/>
            <a:ext cx="274320" cy="274320"/>
          </a:xfrm>
          <a:prstGeom prst="ellipse">
            <a:avLst/>
          </a:prstGeom>
          <a:solidFill>
            <a:schemeClr val="accent3"/>
          </a:solidFill>
          <a:ln w="12700">
            <a:solidFill>
              <a:schemeClr val="accent3"/>
            </a:solidFill>
            <a:prstDash val="solid"/>
          </a:ln>
        </p:spPr>
      </p:sp>
      <p:sp>
        <p:nvSpPr>
          <p:cNvPr id="19" name="ls4"/>
          <p:cNvSpPr txBox="1"/>
          <p:nvPr/>
        </p:nvSpPr>
        <p:spPr>
          <a:xfrm>
            <a:off x="5699760" y="1325880"/>
            <a:ext cx="1310640" cy="365760"/>
          </a:xfrm>
          <a:prstGeom prst="rect">
            <a:avLst/>
          </a:prstGeom>
          <a:noFill/>
          <a:ln/>
        </p:spPr>
        <p:txBody>
          <a:bodyPr wrap="square" lIns="0" tIns="0" rIns="0" bIns="0" rtlCol="0" anchor="ctr"/>
          <a:lstStyle/>
          <a:p>
            <a:pPr algn="ctr" indent="0" marL="0">
              <a:buNone/>
            </a:pPr>
            <a:r>
              <a:rPr lang="en-US" sz="1100" b="1" dirty="0">
                <a:solidFill>
                  <a:schemeClr val="tx1"/>
                </a:solidFill>
              </a:rPr>
              <a:t>T-323/24</a:t>
            </a:r>
            <a:endParaRPr lang="en-US" sz="1100" dirty="0"/>
          </a:p>
        </p:txBody>
      </p:sp>
      <p:sp>
        <p:nvSpPr>
          <p:cNvPr id="20" name="la4"/>
          <p:cNvSpPr txBox="1"/>
          <p:nvPr/>
        </p:nvSpPr>
        <p:spPr>
          <a:xfrm>
            <a:off x="5745480" y="2194560"/>
            <a:ext cx="1219200" cy="1188720"/>
          </a:xfrm>
          <a:prstGeom prst="rect">
            <a:avLst/>
          </a:prstGeom>
          <a:noFill/>
          <a:ln/>
        </p:spPr>
        <p:txBody>
          <a:bodyPr wrap="square" lIns="0" tIns="0" rIns="0" bIns="0" rtlCol="0" anchor="t"/>
          <a:lstStyle/>
          <a:p>
            <a:pPr algn="ctr" indent="0" marL="0">
              <a:buNone/>
            </a:pPr>
            <a:r>
              <a:rPr lang="en-US" sz="950" dirty="0">
                <a:solidFill>
                  <a:schemeClr val="tx2"/>
                </a:solidFill>
              </a:rPr>
              <a:t>Hito: condiciones del uso de IA generativa por los jueces.</a:t>
            </a:r>
            <a:endParaRPr lang="en-US" sz="950" dirty="0"/>
          </a:p>
        </p:txBody>
      </p:sp>
      <p:sp>
        <p:nvSpPr>
          <p:cNvPr id="21" name="ld5"/>
          <p:cNvSpPr/>
          <p:nvPr/>
        </p:nvSpPr>
        <p:spPr>
          <a:xfrm>
            <a:off x="7528560" y="1783080"/>
            <a:ext cx="274320" cy="274320"/>
          </a:xfrm>
          <a:prstGeom prst="ellipse">
            <a:avLst/>
          </a:prstGeom>
          <a:solidFill>
            <a:schemeClr val="accent3"/>
          </a:solidFill>
          <a:ln w="12700">
            <a:solidFill>
              <a:schemeClr val="accent3"/>
            </a:solidFill>
            <a:prstDash val="solid"/>
          </a:ln>
        </p:spPr>
      </p:sp>
      <p:sp>
        <p:nvSpPr>
          <p:cNvPr id="22" name="ls5"/>
          <p:cNvSpPr txBox="1"/>
          <p:nvPr/>
        </p:nvSpPr>
        <p:spPr>
          <a:xfrm>
            <a:off x="7010400" y="1325880"/>
            <a:ext cx="1310640" cy="365760"/>
          </a:xfrm>
          <a:prstGeom prst="rect">
            <a:avLst/>
          </a:prstGeom>
          <a:noFill/>
          <a:ln/>
        </p:spPr>
        <p:txBody>
          <a:bodyPr wrap="square" lIns="0" tIns="0" rIns="0" bIns="0" rtlCol="0" anchor="ctr"/>
          <a:lstStyle/>
          <a:p>
            <a:pPr algn="ctr" indent="0" marL="0">
              <a:buNone/>
            </a:pPr>
            <a:r>
              <a:rPr lang="en-US" sz="1100" b="1" dirty="0">
                <a:solidFill>
                  <a:schemeClr val="tx1"/>
                </a:solidFill>
              </a:rPr>
              <a:t>STC17832-2025</a:t>
            </a:r>
            <a:endParaRPr lang="en-US" sz="1100" dirty="0"/>
          </a:p>
        </p:txBody>
      </p:sp>
      <p:sp>
        <p:nvSpPr>
          <p:cNvPr id="23" name="la5"/>
          <p:cNvSpPr txBox="1"/>
          <p:nvPr/>
        </p:nvSpPr>
        <p:spPr>
          <a:xfrm>
            <a:off x="7056120" y="2194560"/>
            <a:ext cx="1219200" cy="1188720"/>
          </a:xfrm>
          <a:prstGeom prst="rect">
            <a:avLst/>
          </a:prstGeom>
          <a:noFill/>
          <a:ln/>
        </p:spPr>
        <p:txBody>
          <a:bodyPr wrap="square" lIns="0" tIns="0" rIns="0" bIns="0" rtlCol="0" anchor="t"/>
          <a:lstStyle/>
          <a:p>
            <a:pPr algn="ctr" indent="0" marL="0">
              <a:buNone/>
            </a:pPr>
            <a:r>
              <a:rPr lang="en-US" sz="950" dirty="0">
                <a:solidFill>
                  <a:schemeClr val="tx2"/>
                </a:solidFill>
              </a:rPr>
              <a:t>Corte Suprema: sin efectos una decisión fundada en citas inexistentes generadas con IA.</a:t>
            </a:r>
            <a:endParaRPr lang="en-US" sz="950" dirty="0"/>
          </a:p>
        </p:txBody>
      </p:sp>
      <p:sp>
        <p:nvSpPr>
          <p:cNvPr id="24" name="prec"/>
          <p:cNvSpPr/>
          <p:nvPr/>
        </p:nvSpPr>
        <p:spPr>
          <a:xfrm>
            <a:off x="457200" y="3520440"/>
            <a:ext cx="8229600" cy="1097280"/>
          </a:xfrm>
          <a:prstGeom prst="roundRect">
            <a:avLst>
              <a:gd name="adj" fmla="val 6667"/>
            </a:avLst>
          </a:prstGeom>
          <a:solidFill>
            <a:schemeClr val="tx1"/>
          </a:solidFill>
          <a:ln w="12700">
            <a:solidFill>
              <a:schemeClr val="tx1"/>
            </a:solidFill>
            <a:prstDash val="solid"/>
          </a:ln>
        </p:spPr>
      </p:sp>
      <p:sp>
        <p:nvSpPr>
          <p:cNvPr id="25" name="prect"/>
          <p:cNvSpPr txBox="1"/>
          <p:nvPr/>
        </p:nvSpPr>
        <p:spPr>
          <a:xfrm>
            <a:off x="640080" y="3520440"/>
            <a:ext cx="7863840" cy="1097280"/>
          </a:xfrm>
          <a:prstGeom prst="rect">
            <a:avLst/>
          </a:prstGeom>
          <a:noFill/>
          <a:ln/>
        </p:spPr>
        <p:txBody>
          <a:bodyPr wrap="square" lIns="0" tIns="0" rIns="0" bIns="0" rtlCol="0" anchor="ctr"/>
          <a:lstStyle/>
          <a:p>
            <a:pPr indent="0" marL="0">
              <a:buNone/>
            </a:pPr>
            <a:r>
              <a:rPr lang="en-US" sz="1150" b="1" dirty="0">
                <a:solidFill>
                  <a:schemeClr val="accent2"/>
                </a:solidFill>
              </a:rPr>
              <a:t>Precedente: </a:t>
            </a:r>
            <a:pPr indent="0" marL="0">
              <a:buNone/>
            </a:pPr>
            <a:r>
              <a:rPr lang="en-US" sz="1150" dirty="0">
                <a:solidFill>
                  <a:schemeClr val="bg1"/>
                </a:solidFill>
              </a:rPr>
              <a:t>primer precedente de una alta corte colombiana sobre IA generativa en la decisión judicial. Vincula a la Rama Judicial (ABC y lineamientos de 2024) y opera como estándar de diligencia para el litigante (STC17832-2025, Corte Suprema).</a:t>
            </a:r>
            <a:endParaRPr lang="en-US" sz="11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949440" cy="731520"/>
          </a:xfrm>
          <a:prstGeom prst="rect">
            <a:avLst/>
          </a:prstGeom>
          <a:noFill/>
          <a:ln/>
        </p:spPr>
        <p:txBody>
          <a:bodyPr wrap="square" lIns="0" tIns="0" rIns="0" bIns="0" rtlCol="0" anchor="ctr"/>
          <a:lstStyle/>
          <a:p>
            <a:pPr algn="l" indent="0" marL="0">
              <a:buNone/>
            </a:pPr>
            <a:r>
              <a:rPr lang="en-US" sz="2400" b="1" dirty="0">
                <a:solidFill>
                  <a:schemeClr val="tx1"/>
                </a:solidFill>
              </a:rPr>
              <a:t>Taller: matriz de análisis (23 min)</a:t>
            </a:r>
            <a:endParaRPr lang="en-US" sz="2400" dirty="0"/>
          </a:p>
        </p:txBody>
      </p:sp>
      <p:sp>
        <p:nvSpPr>
          <p:cNvPr id="3" name="bloque"/>
          <p:cNvSpPr txBox="1"/>
          <p:nvPr/>
        </p:nvSpPr>
        <p:spPr>
          <a:xfrm>
            <a:off x="7498080" y="411480"/>
            <a:ext cx="1188720" cy="292608"/>
          </a:xfrm>
          <a:prstGeom prst="rect">
            <a:avLst/>
          </a:prstGeom>
          <a:solidFill>
            <a:schemeClr val="accent2"/>
          </a:solidFill>
          <a:ln/>
        </p:spPr>
        <p:txBody>
          <a:bodyPr wrap="square" lIns="0" tIns="0" rIns="0" bIns="0" rtlCol="0" anchor="ctr"/>
          <a:lstStyle/>
          <a:p>
            <a:pPr algn="ctr" indent="0" marL="0">
              <a:buNone/>
            </a:pPr>
            <a:r>
              <a:rPr lang="en-US" sz="900" b="1" dirty="0">
                <a:solidFill>
                  <a:schemeClr val="bg1"/>
                </a:solidFill>
              </a:rPr>
              <a:t>TALLER 82-105</a:t>
            </a:r>
            <a:endParaRPr lang="en-US" sz="900" dirty="0"/>
          </a:p>
        </p:txBody>
      </p:sp>
      <p:sp>
        <p:nvSpPr>
          <p:cNvPr id="5" name="m0"/>
          <p:cNvSpPr/>
          <p:nvPr/>
        </p:nvSpPr>
        <p:spPr>
          <a:xfrm>
            <a:off x="457200" y="1188720"/>
            <a:ext cx="2651760" cy="777240"/>
          </a:xfrm>
          <a:prstGeom prst="roundRect">
            <a:avLst>
              <a:gd name="adj" fmla="val 9412"/>
            </a:avLst>
          </a:prstGeom>
          <a:solidFill>
            <a:schemeClr val="bg2"/>
          </a:solidFill>
          <a:ln w="12700">
            <a:solidFill>
              <a:schemeClr val="accent2"/>
            </a:solidFill>
            <a:prstDash val="solid"/>
          </a:ln>
        </p:spPr>
      </p:sp>
      <p:sp>
        <p:nvSpPr>
          <p:cNvPr id="6" name="mt0"/>
          <p:cNvSpPr txBox="1"/>
          <p:nvPr/>
        </p:nvSpPr>
        <p:spPr>
          <a:xfrm>
            <a:off x="594360" y="1188720"/>
            <a:ext cx="2423160" cy="777240"/>
          </a:xfrm>
          <a:prstGeom prst="rect">
            <a:avLst/>
          </a:prstGeom>
          <a:noFill/>
          <a:ln/>
        </p:spPr>
        <p:txBody>
          <a:bodyPr wrap="square" lIns="0" tIns="0" rIns="0" bIns="0" rtlCol="0" anchor="ctr"/>
          <a:lstStyle/>
          <a:p>
            <a:pPr indent="0" marL="0">
              <a:buNone/>
            </a:pPr>
            <a:r>
              <a:rPr lang="en-US" sz="1150" b="1" dirty="0">
                <a:solidFill>
                  <a:schemeClr val="accent2"/>
                </a:solidFill>
              </a:rPr>
              <a:t>1  </a:t>
            </a:r>
            <a:pPr indent="0" marL="0">
              <a:buNone/>
            </a:pPr>
            <a:r>
              <a:rPr lang="en-US" sz="1150" dirty="0">
                <a:solidFill>
                  <a:schemeClr val="tx1"/>
                </a:solidFill>
              </a:rPr>
              <a:t>Hechos relevantes</a:t>
            </a:r>
            <a:endParaRPr lang="en-US" sz="1150" dirty="0"/>
          </a:p>
        </p:txBody>
      </p:sp>
      <p:sp>
        <p:nvSpPr>
          <p:cNvPr id="7" name="m1"/>
          <p:cNvSpPr/>
          <p:nvPr/>
        </p:nvSpPr>
        <p:spPr>
          <a:xfrm>
            <a:off x="3246120" y="1188720"/>
            <a:ext cx="2651760" cy="777240"/>
          </a:xfrm>
          <a:prstGeom prst="roundRect">
            <a:avLst>
              <a:gd name="adj" fmla="val 9412"/>
            </a:avLst>
          </a:prstGeom>
          <a:solidFill>
            <a:schemeClr val="bg2"/>
          </a:solidFill>
          <a:ln w="12700">
            <a:solidFill>
              <a:schemeClr val="accent2"/>
            </a:solidFill>
            <a:prstDash val="solid"/>
          </a:ln>
        </p:spPr>
      </p:sp>
      <p:sp>
        <p:nvSpPr>
          <p:cNvPr id="8" name="mt1"/>
          <p:cNvSpPr txBox="1"/>
          <p:nvPr/>
        </p:nvSpPr>
        <p:spPr>
          <a:xfrm>
            <a:off x="3383280" y="1188720"/>
            <a:ext cx="2423160" cy="777240"/>
          </a:xfrm>
          <a:prstGeom prst="rect">
            <a:avLst/>
          </a:prstGeom>
          <a:noFill/>
          <a:ln/>
        </p:spPr>
        <p:txBody>
          <a:bodyPr wrap="square" lIns="0" tIns="0" rIns="0" bIns="0" rtlCol="0" anchor="ctr"/>
          <a:lstStyle/>
          <a:p>
            <a:pPr indent="0" marL="0">
              <a:buNone/>
            </a:pPr>
            <a:r>
              <a:rPr lang="en-US" sz="1150" b="1" dirty="0">
                <a:solidFill>
                  <a:schemeClr val="accent2"/>
                </a:solidFill>
              </a:rPr>
              <a:t>2  </a:t>
            </a:r>
            <a:pPr indent="0" marL="0">
              <a:buNone/>
            </a:pPr>
            <a:r>
              <a:rPr lang="en-US" sz="1150" dirty="0">
                <a:solidFill>
                  <a:schemeClr val="tx1"/>
                </a:solidFill>
              </a:rPr>
              <a:t>Problema jurídico (en forma de pregunta)</a:t>
            </a:r>
            <a:endParaRPr lang="en-US" sz="1150" dirty="0"/>
          </a:p>
        </p:txBody>
      </p:sp>
      <p:sp>
        <p:nvSpPr>
          <p:cNvPr id="9" name="m2"/>
          <p:cNvSpPr/>
          <p:nvPr/>
        </p:nvSpPr>
        <p:spPr>
          <a:xfrm>
            <a:off x="6035040" y="1188720"/>
            <a:ext cx="2651760" cy="777240"/>
          </a:xfrm>
          <a:prstGeom prst="roundRect">
            <a:avLst>
              <a:gd name="adj" fmla="val 9412"/>
            </a:avLst>
          </a:prstGeom>
          <a:solidFill>
            <a:schemeClr val="bg2"/>
          </a:solidFill>
          <a:ln w="12700">
            <a:solidFill>
              <a:schemeClr val="accent2"/>
            </a:solidFill>
            <a:prstDash val="solid"/>
          </a:ln>
        </p:spPr>
      </p:sp>
      <p:sp>
        <p:nvSpPr>
          <p:cNvPr id="10" name="mt2"/>
          <p:cNvSpPr txBox="1"/>
          <p:nvPr/>
        </p:nvSpPr>
        <p:spPr>
          <a:xfrm>
            <a:off x="6172200" y="1188720"/>
            <a:ext cx="2423160" cy="777240"/>
          </a:xfrm>
          <a:prstGeom prst="rect">
            <a:avLst/>
          </a:prstGeom>
          <a:noFill/>
          <a:ln/>
        </p:spPr>
        <p:txBody>
          <a:bodyPr wrap="square" lIns="0" tIns="0" rIns="0" bIns="0" rtlCol="0" anchor="ctr"/>
          <a:lstStyle/>
          <a:p>
            <a:pPr indent="0" marL="0">
              <a:buNone/>
            </a:pPr>
            <a:r>
              <a:rPr lang="en-US" sz="1150" b="1" dirty="0">
                <a:solidFill>
                  <a:schemeClr val="accent2"/>
                </a:solidFill>
              </a:rPr>
              <a:t>3  </a:t>
            </a:r>
            <a:pPr indent="0" marL="0">
              <a:buNone/>
            </a:pPr>
            <a:r>
              <a:rPr lang="en-US" sz="1150" dirty="0">
                <a:solidFill>
                  <a:schemeClr val="tx1"/>
                </a:solidFill>
              </a:rPr>
              <a:t>Decisión</a:t>
            </a:r>
            <a:endParaRPr lang="en-US" sz="1150" dirty="0"/>
          </a:p>
        </p:txBody>
      </p:sp>
      <p:sp>
        <p:nvSpPr>
          <p:cNvPr id="11" name="m3"/>
          <p:cNvSpPr/>
          <p:nvPr/>
        </p:nvSpPr>
        <p:spPr>
          <a:xfrm>
            <a:off x="457200" y="2103120"/>
            <a:ext cx="2651760" cy="777240"/>
          </a:xfrm>
          <a:prstGeom prst="roundRect">
            <a:avLst>
              <a:gd name="adj" fmla="val 9412"/>
            </a:avLst>
          </a:prstGeom>
          <a:solidFill>
            <a:schemeClr val="bg2"/>
          </a:solidFill>
          <a:ln w="12700">
            <a:solidFill>
              <a:schemeClr val="accent2"/>
            </a:solidFill>
            <a:prstDash val="solid"/>
          </a:ln>
        </p:spPr>
      </p:sp>
      <p:sp>
        <p:nvSpPr>
          <p:cNvPr id="12" name="mt3"/>
          <p:cNvSpPr txBox="1"/>
          <p:nvPr/>
        </p:nvSpPr>
        <p:spPr>
          <a:xfrm>
            <a:off x="594360" y="2103120"/>
            <a:ext cx="2423160" cy="777240"/>
          </a:xfrm>
          <a:prstGeom prst="rect">
            <a:avLst/>
          </a:prstGeom>
          <a:noFill/>
          <a:ln/>
        </p:spPr>
        <p:txBody>
          <a:bodyPr wrap="square" lIns="0" tIns="0" rIns="0" bIns="0" rtlCol="0" anchor="ctr"/>
          <a:lstStyle/>
          <a:p>
            <a:pPr indent="0" marL="0">
              <a:buNone/>
            </a:pPr>
            <a:r>
              <a:rPr lang="en-US" sz="1150" b="1" dirty="0">
                <a:solidFill>
                  <a:schemeClr val="accent2"/>
                </a:solidFill>
              </a:rPr>
              <a:t>4  </a:t>
            </a:r>
            <a:pPr indent="0" marL="0">
              <a:buNone/>
            </a:pPr>
            <a:r>
              <a:rPr lang="en-US" sz="1150" dirty="0">
                <a:solidFill>
                  <a:schemeClr val="tx1"/>
                </a:solidFill>
              </a:rPr>
              <a:t>Ratio decidendi</a:t>
            </a:r>
            <a:endParaRPr lang="en-US" sz="1150" dirty="0"/>
          </a:p>
        </p:txBody>
      </p:sp>
      <p:sp>
        <p:nvSpPr>
          <p:cNvPr id="13" name="m4"/>
          <p:cNvSpPr/>
          <p:nvPr/>
        </p:nvSpPr>
        <p:spPr>
          <a:xfrm>
            <a:off x="3246120" y="2103120"/>
            <a:ext cx="2651760" cy="777240"/>
          </a:xfrm>
          <a:prstGeom prst="roundRect">
            <a:avLst>
              <a:gd name="adj" fmla="val 9412"/>
            </a:avLst>
          </a:prstGeom>
          <a:solidFill>
            <a:schemeClr val="bg2"/>
          </a:solidFill>
          <a:ln w="12700">
            <a:solidFill>
              <a:schemeClr val="accent2"/>
            </a:solidFill>
            <a:prstDash val="solid"/>
          </a:ln>
        </p:spPr>
      </p:sp>
      <p:sp>
        <p:nvSpPr>
          <p:cNvPr id="14" name="mt4"/>
          <p:cNvSpPr txBox="1"/>
          <p:nvPr/>
        </p:nvSpPr>
        <p:spPr>
          <a:xfrm>
            <a:off x="3383280" y="2103120"/>
            <a:ext cx="2423160" cy="777240"/>
          </a:xfrm>
          <a:prstGeom prst="rect">
            <a:avLst/>
          </a:prstGeom>
          <a:noFill/>
          <a:ln/>
        </p:spPr>
        <p:txBody>
          <a:bodyPr wrap="square" lIns="0" tIns="0" rIns="0" bIns="0" rtlCol="0" anchor="ctr"/>
          <a:lstStyle/>
          <a:p>
            <a:pPr indent="0" marL="0">
              <a:buNone/>
            </a:pPr>
            <a:r>
              <a:rPr lang="en-US" sz="1150" b="1" dirty="0">
                <a:solidFill>
                  <a:schemeClr val="accent2"/>
                </a:solidFill>
              </a:rPr>
              <a:t>5  </a:t>
            </a:r>
            <a:pPr indent="0" marL="0">
              <a:buNone/>
            </a:pPr>
            <a:r>
              <a:rPr lang="en-US" sz="1150" dirty="0">
                <a:solidFill>
                  <a:schemeClr val="tx1"/>
                </a:solidFill>
              </a:rPr>
              <a:t>Regla o subregla</a:t>
            </a:r>
            <a:endParaRPr lang="en-US" sz="1150" dirty="0"/>
          </a:p>
        </p:txBody>
      </p:sp>
      <p:sp>
        <p:nvSpPr>
          <p:cNvPr id="15" name="m5"/>
          <p:cNvSpPr/>
          <p:nvPr/>
        </p:nvSpPr>
        <p:spPr>
          <a:xfrm>
            <a:off x="6035040" y="2103120"/>
            <a:ext cx="2651760" cy="777240"/>
          </a:xfrm>
          <a:prstGeom prst="roundRect">
            <a:avLst>
              <a:gd name="adj" fmla="val 9412"/>
            </a:avLst>
          </a:prstGeom>
          <a:solidFill>
            <a:schemeClr val="bg2"/>
          </a:solidFill>
          <a:ln w="12700">
            <a:solidFill>
              <a:schemeClr val="accent2"/>
            </a:solidFill>
            <a:prstDash val="solid"/>
          </a:ln>
        </p:spPr>
      </p:sp>
      <p:sp>
        <p:nvSpPr>
          <p:cNvPr id="16" name="mt5"/>
          <p:cNvSpPr txBox="1"/>
          <p:nvPr/>
        </p:nvSpPr>
        <p:spPr>
          <a:xfrm>
            <a:off x="6172200" y="2103120"/>
            <a:ext cx="2423160" cy="777240"/>
          </a:xfrm>
          <a:prstGeom prst="rect">
            <a:avLst/>
          </a:prstGeom>
          <a:noFill/>
          <a:ln/>
        </p:spPr>
        <p:txBody>
          <a:bodyPr wrap="square" lIns="0" tIns="0" rIns="0" bIns="0" rtlCol="0" anchor="ctr"/>
          <a:lstStyle/>
          <a:p>
            <a:pPr indent="0" marL="0">
              <a:buNone/>
            </a:pPr>
            <a:r>
              <a:rPr lang="en-US" sz="1150" b="1" dirty="0">
                <a:solidFill>
                  <a:schemeClr val="accent2"/>
                </a:solidFill>
              </a:rPr>
              <a:t>6  </a:t>
            </a:r>
            <a:pPr indent="0" marL="0">
              <a:buNone/>
            </a:pPr>
            <a:r>
              <a:rPr lang="en-US" sz="1150" dirty="0">
                <a:solidFill>
                  <a:schemeClr val="tx1"/>
                </a:solidFill>
              </a:rPr>
              <a:t>Precedente: a quién vincula y para qué casos</a:t>
            </a:r>
            <a:endParaRPr lang="en-US" sz="1150" dirty="0"/>
          </a:p>
        </p:txBody>
      </p:sp>
      <p:sp>
        <p:nvSpPr>
          <p:cNvPr id="17" name="m6"/>
          <p:cNvSpPr/>
          <p:nvPr/>
        </p:nvSpPr>
        <p:spPr>
          <a:xfrm>
            <a:off x="457200" y="3017520"/>
            <a:ext cx="2651760" cy="777240"/>
          </a:xfrm>
          <a:prstGeom prst="roundRect">
            <a:avLst>
              <a:gd name="adj" fmla="val 9412"/>
            </a:avLst>
          </a:prstGeom>
          <a:solidFill>
            <a:schemeClr val="bg2"/>
          </a:solidFill>
          <a:ln w="12700">
            <a:solidFill>
              <a:schemeClr val="accent2"/>
            </a:solidFill>
            <a:prstDash val="solid"/>
          </a:ln>
        </p:spPr>
      </p:sp>
      <p:sp>
        <p:nvSpPr>
          <p:cNvPr id="18" name="mt6"/>
          <p:cNvSpPr txBox="1"/>
          <p:nvPr/>
        </p:nvSpPr>
        <p:spPr>
          <a:xfrm>
            <a:off x="594360" y="3017520"/>
            <a:ext cx="2423160" cy="777240"/>
          </a:xfrm>
          <a:prstGeom prst="rect">
            <a:avLst/>
          </a:prstGeom>
          <a:noFill/>
          <a:ln/>
        </p:spPr>
        <p:txBody>
          <a:bodyPr wrap="square" lIns="0" tIns="0" rIns="0" bIns="0" rtlCol="0" anchor="ctr"/>
          <a:lstStyle/>
          <a:p>
            <a:pPr indent="0" marL="0">
              <a:buNone/>
            </a:pPr>
            <a:r>
              <a:rPr lang="en-US" sz="1150" b="1" dirty="0">
                <a:solidFill>
                  <a:schemeClr val="accent2"/>
                </a:solidFill>
              </a:rPr>
              <a:t>7  </a:t>
            </a:r>
            <a:pPr indent="0" marL="0">
              <a:buNone/>
            </a:pPr>
            <a:r>
              <a:rPr lang="en-US" sz="1150" dirty="0">
                <a:solidFill>
                  <a:schemeClr val="tx1"/>
                </a:solidFill>
              </a:rPr>
              <a:t>Obiter dicta relevantes</a:t>
            </a:r>
            <a:endParaRPr lang="en-US" sz="1150" dirty="0"/>
          </a:p>
        </p:txBody>
      </p:sp>
      <p:sp>
        <p:nvSpPr>
          <p:cNvPr id="19" name="m7"/>
          <p:cNvSpPr/>
          <p:nvPr/>
        </p:nvSpPr>
        <p:spPr>
          <a:xfrm>
            <a:off x="3246120" y="3017520"/>
            <a:ext cx="2651760" cy="777240"/>
          </a:xfrm>
          <a:prstGeom prst="roundRect">
            <a:avLst>
              <a:gd name="adj" fmla="val 9412"/>
            </a:avLst>
          </a:prstGeom>
          <a:solidFill>
            <a:schemeClr val="bg2"/>
          </a:solidFill>
          <a:ln w="12700">
            <a:solidFill>
              <a:schemeClr val="accent2"/>
            </a:solidFill>
            <a:prstDash val="solid"/>
          </a:ln>
        </p:spPr>
      </p:sp>
      <p:sp>
        <p:nvSpPr>
          <p:cNvPr id="20" name="mt7"/>
          <p:cNvSpPr txBox="1"/>
          <p:nvPr/>
        </p:nvSpPr>
        <p:spPr>
          <a:xfrm>
            <a:off x="3383280" y="3017520"/>
            <a:ext cx="2423160" cy="777240"/>
          </a:xfrm>
          <a:prstGeom prst="rect">
            <a:avLst/>
          </a:prstGeom>
          <a:noFill/>
          <a:ln/>
        </p:spPr>
        <p:txBody>
          <a:bodyPr wrap="square" lIns="0" tIns="0" rIns="0" bIns="0" rtlCol="0" anchor="ctr"/>
          <a:lstStyle/>
          <a:p>
            <a:pPr indent="0" marL="0">
              <a:buNone/>
            </a:pPr>
            <a:r>
              <a:rPr lang="en-US" sz="1150" b="1" dirty="0">
                <a:solidFill>
                  <a:schemeClr val="accent2"/>
                </a:solidFill>
              </a:rPr>
              <a:t>8  </a:t>
            </a:r>
            <a:pPr indent="0" marL="0">
              <a:buNone/>
            </a:pPr>
            <a:r>
              <a:rPr lang="en-US" sz="1150" dirty="0">
                <a:solidFill>
                  <a:schemeClr val="tx1"/>
                </a:solidFill>
              </a:rPr>
              <a:t>Utilidad para el ejercicio profesional</a:t>
            </a:r>
            <a:endParaRPr lang="en-US" sz="1150" dirty="0"/>
          </a:p>
        </p:txBody>
      </p:sp>
      <p:sp>
        <p:nvSpPr>
          <p:cNvPr id="21" name="m8"/>
          <p:cNvSpPr/>
          <p:nvPr/>
        </p:nvSpPr>
        <p:spPr>
          <a:xfrm>
            <a:off x="6035040" y="3017520"/>
            <a:ext cx="2651760" cy="777240"/>
          </a:xfrm>
          <a:prstGeom prst="roundRect">
            <a:avLst>
              <a:gd name="adj" fmla="val 9412"/>
            </a:avLst>
          </a:prstGeom>
          <a:solidFill>
            <a:schemeClr val="bg2"/>
          </a:solidFill>
          <a:ln w="12700">
            <a:solidFill>
              <a:schemeClr val="accent2"/>
            </a:solidFill>
            <a:prstDash val="solid"/>
          </a:ln>
        </p:spPr>
      </p:sp>
      <p:sp>
        <p:nvSpPr>
          <p:cNvPr id="22" name="mt8"/>
          <p:cNvSpPr txBox="1"/>
          <p:nvPr/>
        </p:nvSpPr>
        <p:spPr>
          <a:xfrm>
            <a:off x="6172200" y="3017520"/>
            <a:ext cx="2423160" cy="777240"/>
          </a:xfrm>
          <a:prstGeom prst="rect">
            <a:avLst/>
          </a:prstGeom>
          <a:noFill/>
          <a:ln/>
        </p:spPr>
        <p:txBody>
          <a:bodyPr wrap="square" lIns="0" tIns="0" rIns="0" bIns="0" rtlCol="0" anchor="ctr"/>
          <a:lstStyle/>
          <a:p>
            <a:pPr indent="0" marL="0">
              <a:buNone/>
            </a:pPr>
            <a:r>
              <a:rPr lang="en-US" sz="1150" b="1" dirty="0">
                <a:solidFill>
                  <a:schemeClr val="accent2"/>
                </a:solidFill>
              </a:rPr>
              <a:t>9  </a:t>
            </a:r>
            <a:pPr indent="0" marL="0">
              <a:buNone/>
            </a:pPr>
            <a:r>
              <a:rPr lang="en-US" sz="1150" dirty="0">
                <a:solidFill>
                  <a:schemeClr val="tx1"/>
                </a:solidFill>
              </a:rPr>
              <a:t>Crítica del grupo</a:t>
            </a:r>
            <a:endParaRPr lang="en-US" sz="1150" dirty="0"/>
          </a:p>
        </p:txBody>
      </p:sp>
      <p:sp>
        <p:nvSpPr>
          <p:cNvPr id="23" name="pc"/>
          <p:cNvSpPr txBox="1"/>
          <p:nvPr/>
        </p:nvSpPr>
        <p:spPr>
          <a:xfrm>
            <a:off x="457200" y="3977640"/>
            <a:ext cx="8229600" cy="640080"/>
          </a:xfrm>
          <a:prstGeom prst="rect">
            <a:avLst/>
          </a:prstGeom>
          <a:noFill/>
          <a:ln/>
        </p:spPr>
        <p:txBody>
          <a:bodyPr wrap="square" lIns="0" tIns="0" rIns="0" bIns="0" rtlCol="0" anchor="t"/>
          <a:lstStyle/>
          <a:p>
            <a:pPr indent="0" marL="0">
              <a:buNone/>
            </a:pPr>
            <a:r>
              <a:rPr lang="en-US" sz="1150" b="1" i="1" dirty="0">
                <a:solidFill>
                  <a:schemeClr val="accent3"/>
                </a:solidFill>
              </a:rPr>
              <a:t>Pregunta de contraste: ¿La regla de la T-323 de 2024 habría evitado lo ocurrido en la STC17832-2025 (providencia con citas inexistentes)? ¿Qué le falta a esa regla para el abogado litigante?</a:t>
            </a:r>
            <a:endParaRPr lang="en-US" sz="11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949440" cy="731520"/>
          </a:xfrm>
          <a:prstGeom prst="rect">
            <a:avLst/>
          </a:prstGeom>
          <a:noFill/>
          <a:ln/>
        </p:spPr>
        <p:txBody>
          <a:bodyPr wrap="square" lIns="0" tIns="0" rIns="0" bIns="0" rtlCol="0" anchor="ctr"/>
          <a:lstStyle/>
          <a:p>
            <a:pPr algn="l" indent="0" marL="0">
              <a:buNone/>
            </a:pPr>
            <a:r>
              <a:rPr lang="en-US" sz="2400" b="1" dirty="0">
                <a:solidFill>
                  <a:schemeClr val="tx1"/>
                </a:solidFill>
              </a:rPr>
              <a:t>Ejercicios de aplicación (10 min)</a:t>
            </a:r>
            <a:endParaRPr lang="en-US" sz="2400" dirty="0"/>
          </a:p>
        </p:txBody>
      </p:sp>
      <p:sp>
        <p:nvSpPr>
          <p:cNvPr id="3" name="bloque"/>
          <p:cNvSpPr txBox="1"/>
          <p:nvPr/>
        </p:nvSpPr>
        <p:spPr>
          <a:xfrm>
            <a:off x="7498080" y="411480"/>
            <a:ext cx="1188720" cy="292608"/>
          </a:xfrm>
          <a:prstGeom prst="rect">
            <a:avLst/>
          </a:prstGeom>
          <a:solidFill>
            <a:schemeClr val="accent2"/>
          </a:solidFill>
          <a:ln/>
        </p:spPr>
        <p:txBody>
          <a:bodyPr wrap="square" lIns="0" tIns="0" rIns="0" bIns="0" rtlCol="0" anchor="ctr"/>
          <a:lstStyle/>
          <a:p>
            <a:pPr algn="ctr" indent="0" marL="0">
              <a:buNone/>
            </a:pPr>
            <a:r>
              <a:rPr lang="en-US" sz="900" b="1" dirty="0">
                <a:solidFill>
                  <a:schemeClr val="bg1"/>
                </a:solidFill>
              </a:rPr>
              <a:t>APLICACIÓN 105-115</a:t>
            </a:r>
            <a:endParaRPr lang="en-US" sz="900" dirty="0"/>
          </a:p>
        </p:txBody>
      </p:sp>
      <p:sp>
        <p:nvSpPr>
          <p:cNvPr id="5" name="card El auto redactado por la máquina"/>
          <p:cNvSpPr/>
          <p:nvPr/>
        </p:nvSpPr>
        <p:spPr>
          <a:xfrm>
            <a:off x="457200" y="1188720"/>
            <a:ext cx="2651760" cy="3383280"/>
          </a:xfrm>
          <a:prstGeom prst="roundRect">
            <a:avLst>
              <a:gd name="adj" fmla="val 2759"/>
            </a:avLst>
          </a:prstGeom>
          <a:solidFill>
            <a:schemeClr val="bg2"/>
          </a:solidFill>
          <a:ln w="12700">
            <a:solidFill>
              <a:schemeClr val="bg2"/>
            </a:solidFill>
            <a:prstDash val="solid"/>
          </a:ln>
        </p:spPr>
      </p:sp>
      <p:sp>
        <p:nvSpPr>
          <p:cNvPr id="6" name="num El auto redactado por la máquina"/>
          <p:cNvSpPr/>
          <p:nvPr/>
        </p:nvSpPr>
        <p:spPr>
          <a:xfrm>
            <a:off x="594360" y="1325880"/>
            <a:ext cx="384048" cy="384048"/>
          </a:xfrm>
          <a:prstGeom prst="ellipse">
            <a:avLst/>
          </a:prstGeom>
          <a:solidFill>
            <a:schemeClr val="accent2"/>
          </a:solidFill>
          <a:ln w="12700">
            <a:solidFill>
              <a:schemeClr val="accent2"/>
            </a:solidFill>
            <a:prstDash val="solid"/>
          </a:ln>
        </p:spPr>
      </p:sp>
      <p:sp>
        <p:nvSpPr>
          <p:cNvPr id="7" name="numtxt El auto redactado por la máquina"/>
          <p:cNvSpPr txBox="1"/>
          <p:nvPr/>
        </p:nvSpPr>
        <p:spPr>
          <a:xfrm>
            <a:off x="594360" y="13258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head El auto redactado por la máquina"/>
          <p:cNvSpPr txBox="1"/>
          <p:nvPr/>
        </p:nvSpPr>
        <p:spPr>
          <a:xfrm>
            <a:off x="1078992" y="1280160"/>
            <a:ext cx="1892808" cy="411480"/>
          </a:xfrm>
          <a:prstGeom prst="rect">
            <a:avLst/>
          </a:prstGeom>
          <a:noFill/>
          <a:ln/>
        </p:spPr>
        <p:txBody>
          <a:bodyPr wrap="square" lIns="0" tIns="0" rIns="0" bIns="0" rtlCol="0" anchor="ctr"/>
          <a:lstStyle/>
          <a:p>
            <a:pPr indent="0" marL="0">
              <a:buNone/>
            </a:pPr>
            <a:r>
              <a:rPr lang="en-US" sz="1200" b="1" dirty="0">
                <a:solidFill>
                  <a:schemeClr val="tx1"/>
                </a:solidFill>
              </a:rPr>
              <a:t>El auto redactado por la máquina</a:t>
            </a:r>
            <a:endParaRPr lang="en-US" sz="1200" dirty="0"/>
          </a:p>
        </p:txBody>
      </p:sp>
      <p:sp>
        <p:nvSpPr>
          <p:cNvPr id="9" name="body El auto redactado por la máquina"/>
          <p:cNvSpPr txBox="1"/>
          <p:nvPr/>
        </p:nvSpPr>
        <p:spPr>
          <a:xfrm>
            <a:off x="621792" y="1719072"/>
            <a:ext cx="2322576" cy="2761488"/>
          </a:xfrm>
          <a:prstGeom prst="rect">
            <a:avLst/>
          </a:prstGeom>
          <a:noFill/>
          <a:ln/>
        </p:spPr>
        <p:txBody>
          <a:bodyPr wrap="square" lIns="0" tIns="0" rIns="0" bIns="0" rtlCol="0" anchor="t"/>
          <a:lstStyle/>
          <a:p>
            <a:pPr indent="0" marL="0">
              <a:buNone/>
            </a:pPr>
            <a:r>
              <a:rPr lang="en-US" sz="1050" dirty="0">
                <a:solidFill>
                  <a:schemeClr val="tx2"/>
                </a:solidFill>
              </a:rPr>
              <a:t>Un juez municipal pide a una IA generativa que redacte el auto que decreta pruebas y lo firma sin cambios ni mención de la herramienta.</a:t>
            </a:r>
            <a:endParaRPr lang="en-US" sz="1050" dirty="0"/>
          </a:p>
          <a:p>
            <a:pPr indent="0" marL="0">
              <a:buNone/>
            </a:pPr>
            <a:endParaRPr lang="en-US" sz="1050" dirty="0"/>
          </a:p>
          <a:p>
            <a:pPr indent="0" marL="0">
              <a:buNone/>
            </a:pPr>
            <a:r>
              <a:rPr lang="en-US" sz="1050" dirty="0">
                <a:solidFill>
                  <a:schemeClr val="tx2"/>
                </a:solidFill>
              </a:rPr>
              <a:t>¿Qué criterios de la T-323 de 2024 se afectan? ¿Qué debió hacer? ¿Es nulo el auto?</a:t>
            </a:r>
            <a:endParaRPr lang="en-US" sz="1050" dirty="0"/>
          </a:p>
        </p:txBody>
      </p:sp>
      <p:sp>
        <p:nvSpPr>
          <p:cNvPr id="10" name="card La tutela con la cita inexistente"/>
          <p:cNvSpPr/>
          <p:nvPr/>
        </p:nvSpPr>
        <p:spPr>
          <a:xfrm>
            <a:off x="3246120" y="1188720"/>
            <a:ext cx="2651760" cy="3383280"/>
          </a:xfrm>
          <a:prstGeom prst="roundRect">
            <a:avLst>
              <a:gd name="adj" fmla="val 2759"/>
            </a:avLst>
          </a:prstGeom>
          <a:solidFill>
            <a:schemeClr val="bg2"/>
          </a:solidFill>
          <a:ln w="12700">
            <a:solidFill>
              <a:schemeClr val="bg2"/>
            </a:solidFill>
            <a:prstDash val="solid"/>
          </a:ln>
        </p:spPr>
      </p:sp>
      <p:sp>
        <p:nvSpPr>
          <p:cNvPr id="11" name="num La tutela con la cita inexistente"/>
          <p:cNvSpPr/>
          <p:nvPr/>
        </p:nvSpPr>
        <p:spPr>
          <a:xfrm>
            <a:off x="3383280" y="1325880"/>
            <a:ext cx="384048" cy="384048"/>
          </a:xfrm>
          <a:prstGeom prst="ellipse">
            <a:avLst/>
          </a:prstGeom>
          <a:solidFill>
            <a:schemeClr val="accent2"/>
          </a:solidFill>
          <a:ln w="12700">
            <a:solidFill>
              <a:schemeClr val="accent2"/>
            </a:solidFill>
            <a:prstDash val="solid"/>
          </a:ln>
        </p:spPr>
      </p:sp>
      <p:sp>
        <p:nvSpPr>
          <p:cNvPr id="12" name="numtxt La tutela con la cita inexistente"/>
          <p:cNvSpPr txBox="1"/>
          <p:nvPr/>
        </p:nvSpPr>
        <p:spPr>
          <a:xfrm>
            <a:off x="3383280" y="13258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3" name="head La tutela con la cita inexistente"/>
          <p:cNvSpPr txBox="1"/>
          <p:nvPr/>
        </p:nvSpPr>
        <p:spPr>
          <a:xfrm>
            <a:off x="3867912" y="1280160"/>
            <a:ext cx="1892808" cy="411480"/>
          </a:xfrm>
          <a:prstGeom prst="rect">
            <a:avLst/>
          </a:prstGeom>
          <a:noFill/>
          <a:ln/>
        </p:spPr>
        <p:txBody>
          <a:bodyPr wrap="square" lIns="0" tIns="0" rIns="0" bIns="0" rtlCol="0" anchor="ctr"/>
          <a:lstStyle/>
          <a:p>
            <a:pPr indent="0" marL="0">
              <a:buNone/>
            </a:pPr>
            <a:r>
              <a:rPr lang="en-US" sz="1200" b="1" dirty="0">
                <a:solidFill>
                  <a:schemeClr val="tx1"/>
                </a:solidFill>
              </a:rPr>
              <a:t>La tutela con la cita inexistente</a:t>
            </a:r>
            <a:endParaRPr lang="en-US" sz="1200" dirty="0"/>
          </a:p>
        </p:txBody>
      </p:sp>
      <p:sp>
        <p:nvSpPr>
          <p:cNvPr id="14" name="body La tutela con la cita inexistente"/>
          <p:cNvSpPr txBox="1"/>
          <p:nvPr/>
        </p:nvSpPr>
        <p:spPr>
          <a:xfrm>
            <a:off x="3410712" y="1719072"/>
            <a:ext cx="2322576" cy="2761488"/>
          </a:xfrm>
          <a:prstGeom prst="rect">
            <a:avLst/>
          </a:prstGeom>
          <a:noFill/>
          <a:ln/>
        </p:spPr>
        <p:txBody>
          <a:bodyPr wrap="square" lIns="0" tIns="0" rIns="0" bIns="0" rtlCol="0" anchor="t"/>
          <a:lstStyle/>
          <a:p>
            <a:pPr indent="0" marL="0">
              <a:buNone/>
            </a:pPr>
            <a:r>
              <a:rPr lang="en-US" sz="1050" dirty="0">
                <a:solidFill>
                  <a:schemeClr val="tx2"/>
                </a:solidFill>
              </a:rPr>
              <a:t>Un estudiante de consultorio jurídico redacta una tutela con una IA que cita una sentencia que no existe; el juez lo advierte.</a:t>
            </a:r>
            <a:endParaRPr lang="en-US" sz="1050" dirty="0"/>
          </a:p>
          <a:p>
            <a:pPr indent="0" marL="0">
              <a:buNone/>
            </a:pPr>
            <a:endParaRPr lang="en-US" sz="1050" dirty="0"/>
          </a:p>
          <a:p>
            <a:pPr indent="0" marL="0">
              <a:buNone/>
            </a:pPr>
            <a:r>
              <a:rPr lang="en-US" sz="1050" dirty="0">
                <a:solidFill>
                  <a:schemeClr val="tx2"/>
                </a:solidFill>
              </a:rPr>
              <a:t>Consecuencias éticas (Ley 1123 de 2007), procesales y para el usuario. Redacte un protocolo de verificación de tres pasos.</a:t>
            </a:r>
            <a:endParaRPr lang="en-US" sz="1050" dirty="0"/>
          </a:p>
        </p:txBody>
      </p:sp>
      <p:sp>
        <p:nvSpPr>
          <p:cNvPr id="15" name="card La EPS que decide sola"/>
          <p:cNvSpPr/>
          <p:nvPr/>
        </p:nvSpPr>
        <p:spPr>
          <a:xfrm>
            <a:off x="6035040" y="1188720"/>
            <a:ext cx="2651760" cy="3383280"/>
          </a:xfrm>
          <a:prstGeom prst="roundRect">
            <a:avLst>
              <a:gd name="adj" fmla="val 2759"/>
            </a:avLst>
          </a:prstGeom>
          <a:solidFill>
            <a:schemeClr val="bg2"/>
          </a:solidFill>
          <a:ln w="12700">
            <a:solidFill>
              <a:schemeClr val="bg2"/>
            </a:solidFill>
            <a:prstDash val="solid"/>
          </a:ln>
        </p:spPr>
      </p:sp>
      <p:sp>
        <p:nvSpPr>
          <p:cNvPr id="16" name="num La EPS que decide sola"/>
          <p:cNvSpPr/>
          <p:nvPr/>
        </p:nvSpPr>
        <p:spPr>
          <a:xfrm>
            <a:off x="6172200" y="1325880"/>
            <a:ext cx="384048" cy="384048"/>
          </a:xfrm>
          <a:prstGeom prst="ellipse">
            <a:avLst/>
          </a:prstGeom>
          <a:solidFill>
            <a:schemeClr val="accent2"/>
          </a:solidFill>
          <a:ln w="12700">
            <a:solidFill>
              <a:schemeClr val="accent2"/>
            </a:solidFill>
            <a:prstDash val="solid"/>
          </a:ln>
        </p:spPr>
      </p:sp>
      <p:sp>
        <p:nvSpPr>
          <p:cNvPr id="17" name="numtxt La EPS que decide sola"/>
          <p:cNvSpPr txBox="1"/>
          <p:nvPr/>
        </p:nvSpPr>
        <p:spPr>
          <a:xfrm>
            <a:off x="6172200" y="13258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8" name="head La EPS que decide sola"/>
          <p:cNvSpPr txBox="1"/>
          <p:nvPr/>
        </p:nvSpPr>
        <p:spPr>
          <a:xfrm>
            <a:off x="6656832" y="1280160"/>
            <a:ext cx="1892808" cy="411480"/>
          </a:xfrm>
          <a:prstGeom prst="rect">
            <a:avLst/>
          </a:prstGeom>
          <a:noFill/>
          <a:ln/>
        </p:spPr>
        <p:txBody>
          <a:bodyPr wrap="square" lIns="0" tIns="0" rIns="0" bIns="0" rtlCol="0" anchor="ctr"/>
          <a:lstStyle/>
          <a:p>
            <a:pPr indent="0" marL="0">
              <a:buNone/>
            </a:pPr>
            <a:r>
              <a:rPr lang="en-US" sz="1200" b="1" dirty="0">
                <a:solidFill>
                  <a:schemeClr val="tx1"/>
                </a:solidFill>
              </a:rPr>
              <a:t>La EPS que decide sola</a:t>
            </a:r>
            <a:endParaRPr lang="en-US" sz="1200" dirty="0"/>
          </a:p>
        </p:txBody>
      </p:sp>
      <p:sp>
        <p:nvSpPr>
          <p:cNvPr id="19" name="body La EPS que decide sola"/>
          <p:cNvSpPr txBox="1"/>
          <p:nvPr/>
        </p:nvSpPr>
        <p:spPr>
          <a:xfrm>
            <a:off x="6199632" y="1719072"/>
            <a:ext cx="2322576" cy="2761488"/>
          </a:xfrm>
          <a:prstGeom prst="rect">
            <a:avLst/>
          </a:prstGeom>
          <a:noFill/>
          <a:ln/>
        </p:spPr>
        <p:txBody>
          <a:bodyPr wrap="square" lIns="0" tIns="0" rIns="0" bIns="0" rtlCol="0" anchor="t"/>
          <a:lstStyle/>
          <a:p>
            <a:pPr indent="0" marL="0">
              <a:buNone/>
            </a:pPr>
            <a:r>
              <a:rPr lang="en-US" sz="1050" dirty="0">
                <a:solidFill>
                  <a:schemeClr val="tx2"/>
                </a:solidFill>
              </a:rPr>
              <a:t>Una EPS usa un sistema automatizado que niega autorizaciones de servicios sin revisión humana.</a:t>
            </a:r>
            <a:endParaRPr lang="en-US" sz="1050" dirty="0"/>
          </a:p>
          <a:p>
            <a:pPr indent="0" marL="0">
              <a:buNone/>
            </a:pPr>
            <a:endParaRPr lang="en-US" sz="1050" dirty="0"/>
          </a:p>
          <a:p>
            <a:pPr indent="0" marL="0">
              <a:buNone/>
            </a:pPr>
            <a:r>
              <a:rPr lang="en-US" sz="1050" dirty="0">
                <a:solidFill>
                  <a:schemeClr val="tx2"/>
                </a:solidFill>
              </a:rPr>
              <a:t>¿Qué derechos están en juego (salud, habeas data, debido proceso)? ¿Qué exigiría usted como apoderado y con qué fundamento?</a:t>
            </a:r>
            <a:endParaRPr lang="en-US" sz="10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949440" cy="731520"/>
          </a:xfrm>
          <a:prstGeom prst="rect">
            <a:avLst/>
          </a:prstGeom>
          <a:noFill/>
          <a:ln/>
        </p:spPr>
        <p:txBody>
          <a:bodyPr wrap="square" lIns="0" tIns="0" rIns="0" bIns="0" rtlCol="0" anchor="ctr"/>
          <a:lstStyle/>
          <a:p>
            <a:pPr algn="l" indent="0" marL="0">
              <a:buNone/>
            </a:pPr>
            <a:r>
              <a:rPr lang="en-US" sz="2400" b="1" dirty="0">
                <a:solidFill>
                  <a:schemeClr val="tx1"/>
                </a:solidFill>
              </a:rPr>
              <a:t>Conclusiones</a:t>
            </a:r>
            <a:endParaRPr lang="en-US" sz="2400" dirty="0"/>
          </a:p>
        </p:txBody>
      </p:sp>
      <p:sp>
        <p:nvSpPr>
          <p:cNvPr id="3" name="bloque"/>
          <p:cNvSpPr txBox="1"/>
          <p:nvPr/>
        </p:nvSpPr>
        <p:spPr>
          <a:xfrm>
            <a:off x="7498080" y="411480"/>
            <a:ext cx="1188720" cy="292608"/>
          </a:xfrm>
          <a:prstGeom prst="rect">
            <a:avLst/>
          </a:prstGeom>
          <a:solidFill>
            <a:schemeClr val="accent1"/>
          </a:solidFill>
          <a:ln/>
        </p:spPr>
        <p:txBody>
          <a:bodyPr wrap="square" lIns="0" tIns="0" rIns="0" bIns="0" rtlCol="0" anchor="ctr"/>
          <a:lstStyle/>
          <a:p>
            <a:pPr algn="ctr" indent="0" marL="0">
              <a:buNone/>
            </a:pPr>
            <a:r>
              <a:rPr lang="en-US" sz="900" b="1" dirty="0">
                <a:solidFill>
                  <a:schemeClr val="bg1"/>
                </a:solidFill>
              </a:rPr>
              <a:t>CIERRE 115-120</a:t>
            </a:r>
            <a:endParaRPr lang="en-US" sz="900" dirty="0"/>
          </a:p>
        </p:txBody>
      </p:sp>
      <p:sp>
        <p:nvSpPr>
          <p:cNvPr id="5" name="c0"/>
          <p:cNvSpPr/>
          <p:nvPr/>
        </p:nvSpPr>
        <p:spPr>
          <a:xfrm>
            <a:off x="457200" y="1261872"/>
            <a:ext cx="411480" cy="411480"/>
          </a:xfrm>
          <a:prstGeom prst="ellipse">
            <a:avLst/>
          </a:prstGeom>
          <a:solidFill>
            <a:schemeClr val="accent1"/>
          </a:solidFill>
          <a:ln w="12700">
            <a:solidFill>
              <a:schemeClr val="accent1"/>
            </a:solidFill>
            <a:prstDash val="solid"/>
          </a:ln>
        </p:spPr>
      </p:sp>
      <p:sp>
        <p:nvSpPr>
          <p:cNvPr id="6" name="cn0"/>
          <p:cNvSpPr txBox="1"/>
          <p:nvPr/>
        </p:nvSpPr>
        <p:spPr>
          <a:xfrm>
            <a:off x="457200" y="1261872"/>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ct0"/>
          <p:cNvSpPr txBox="1"/>
          <p:nvPr/>
        </p:nvSpPr>
        <p:spPr>
          <a:xfrm>
            <a:off x="1005840" y="1188720"/>
            <a:ext cx="7680960" cy="566928"/>
          </a:xfrm>
          <a:prstGeom prst="rect">
            <a:avLst/>
          </a:prstGeom>
          <a:noFill/>
          <a:ln/>
        </p:spPr>
        <p:txBody>
          <a:bodyPr wrap="square" lIns="0" tIns="0" rIns="0" bIns="0" rtlCol="0" anchor="ctr"/>
          <a:lstStyle/>
          <a:p>
            <a:pPr indent="0" marL="0">
              <a:buNone/>
            </a:pPr>
            <a:r>
              <a:rPr lang="en-US" sz="1200" dirty="0">
                <a:solidFill>
                  <a:schemeClr val="tx1"/>
                </a:solidFill>
              </a:rPr>
              <a:t>El Derecho Informático regula relaciones en las que la información digital es objeto o medio de la conducta; no es «el derecho de los computadores».</a:t>
            </a:r>
            <a:endParaRPr lang="en-US" sz="1200" dirty="0"/>
          </a:p>
        </p:txBody>
      </p:sp>
      <p:sp>
        <p:nvSpPr>
          <p:cNvPr id="8" name="c1"/>
          <p:cNvSpPr/>
          <p:nvPr/>
        </p:nvSpPr>
        <p:spPr>
          <a:xfrm>
            <a:off x="457200" y="1947672"/>
            <a:ext cx="411480" cy="411480"/>
          </a:xfrm>
          <a:prstGeom prst="ellipse">
            <a:avLst/>
          </a:prstGeom>
          <a:solidFill>
            <a:schemeClr val="accent1"/>
          </a:solidFill>
          <a:ln w="12700">
            <a:solidFill>
              <a:schemeClr val="accent1"/>
            </a:solidFill>
            <a:prstDash val="solid"/>
          </a:ln>
        </p:spPr>
      </p:sp>
      <p:sp>
        <p:nvSpPr>
          <p:cNvPr id="9" name="cn1"/>
          <p:cNvSpPr txBox="1"/>
          <p:nvPr/>
        </p:nvSpPr>
        <p:spPr>
          <a:xfrm>
            <a:off x="457200" y="1947672"/>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ct1"/>
          <p:cNvSpPr txBox="1"/>
          <p:nvPr/>
        </p:nvSpPr>
        <p:spPr>
          <a:xfrm>
            <a:off x="1005840" y="1874520"/>
            <a:ext cx="7680960" cy="566928"/>
          </a:xfrm>
          <a:prstGeom prst="rect">
            <a:avLst/>
          </a:prstGeom>
          <a:noFill/>
          <a:ln/>
        </p:spPr>
        <p:txBody>
          <a:bodyPr wrap="square" lIns="0" tIns="0" rIns="0" bIns="0" rtlCol="0" anchor="ctr"/>
          <a:lstStyle/>
          <a:p>
            <a:pPr indent="0" marL="0">
              <a:buNone/>
            </a:pPr>
            <a:r>
              <a:rPr lang="en-US" sz="1200" dirty="0">
                <a:solidFill>
                  <a:schemeClr val="tx1"/>
                </a:solidFill>
              </a:rPr>
              <a:t>Es una disciplina con objeto, principios e instituciones propios, pero transversal a todas las ramas.</a:t>
            </a:r>
            <a:endParaRPr lang="en-US" sz="1200" dirty="0"/>
          </a:p>
        </p:txBody>
      </p:sp>
      <p:sp>
        <p:nvSpPr>
          <p:cNvPr id="11" name="c2"/>
          <p:cNvSpPr/>
          <p:nvPr/>
        </p:nvSpPr>
        <p:spPr>
          <a:xfrm>
            <a:off x="457200" y="2633472"/>
            <a:ext cx="411480" cy="411480"/>
          </a:xfrm>
          <a:prstGeom prst="ellipse">
            <a:avLst/>
          </a:prstGeom>
          <a:solidFill>
            <a:schemeClr val="accent1"/>
          </a:solidFill>
          <a:ln w="12700">
            <a:solidFill>
              <a:schemeClr val="accent1"/>
            </a:solidFill>
            <a:prstDash val="solid"/>
          </a:ln>
        </p:spPr>
      </p:sp>
      <p:sp>
        <p:nvSpPr>
          <p:cNvPr id="12" name="cn2"/>
          <p:cNvSpPr txBox="1"/>
          <p:nvPr/>
        </p:nvSpPr>
        <p:spPr>
          <a:xfrm>
            <a:off x="457200" y="2633472"/>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ct2"/>
          <p:cNvSpPr txBox="1"/>
          <p:nvPr/>
        </p:nvSpPr>
        <p:spPr>
          <a:xfrm>
            <a:off x="1005840" y="2560320"/>
            <a:ext cx="7680960" cy="566928"/>
          </a:xfrm>
          <a:prstGeom prst="rect">
            <a:avLst/>
          </a:prstGeom>
          <a:noFill/>
          <a:ln/>
        </p:spPr>
        <p:txBody>
          <a:bodyPr wrap="square" lIns="0" tIns="0" rIns="0" bIns="0" rtlCol="0" anchor="ctr"/>
          <a:lstStyle/>
          <a:p>
            <a:pPr indent="0" marL="0">
              <a:buNone/>
            </a:pPr>
            <a:r>
              <a:rPr lang="en-US" sz="1200" dirty="0">
                <a:solidFill>
                  <a:schemeClr val="tx1"/>
                </a:solidFill>
              </a:rPr>
              <a:t>Su evolución responde a cuatro preguntas: quién controla la información, qué vale lo electrónico, qué conductas son delito y quién responde por la decisión de una máquina.</a:t>
            </a:r>
            <a:endParaRPr lang="en-US" sz="1200" dirty="0"/>
          </a:p>
        </p:txBody>
      </p:sp>
      <p:sp>
        <p:nvSpPr>
          <p:cNvPr id="14" name="c3"/>
          <p:cNvSpPr/>
          <p:nvPr/>
        </p:nvSpPr>
        <p:spPr>
          <a:xfrm>
            <a:off x="457200" y="3319272"/>
            <a:ext cx="411480" cy="411480"/>
          </a:xfrm>
          <a:prstGeom prst="ellipse">
            <a:avLst/>
          </a:prstGeom>
          <a:solidFill>
            <a:schemeClr val="accent1"/>
          </a:solidFill>
          <a:ln w="12700">
            <a:solidFill>
              <a:schemeClr val="accent1"/>
            </a:solidFill>
            <a:prstDash val="solid"/>
          </a:ln>
        </p:spPr>
      </p:sp>
      <p:sp>
        <p:nvSpPr>
          <p:cNvPr id="15" name="cn3"/>
          <p:cNvSpPr txBox="1"/>
          <p:nvPr/>
        </p:nvSpPr>
        <p:spPr>
          <a:xfrm>
            <a:off x="457200" y="3319272"/>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6" name="ct3"/>
          <p:cNvSpPr txBox="1"/>
          <p:nvPr/>
        </p:nvSpPr>
        <p:spPr>
          <a:xfrm>
            <a:off x="1005840" y="3246120"/>
            <a:ext cx="7680960" cy="566928"/>
          </a:xfrm>
          <a:prstGeom prst="rect">
            <a:avLst/>
          </a:prstGeom>
          <a:noFill/>
          <a:ln/>
        </p:spPr>
        <p:txBody>
          <a:bodyPr wrap="square" lIns="0" tIns="0" rIns="0" bIns="0" rtlCol="0" anchor="ctr"/>
          <a:lstStyle/>
          <a:p>
            <a:pPr indent="0" marL="0">
              <a:buNone/>
            </a:pPr>
            <a:r>
              <a:rPr lang="en-US" sz="1200" dirty="0">
                <a:solidFill>
                  <a:schemeClr val="tx1"/>
                </a:solidFill>
              </a:rPr>
              <a:t>La Sentencia T-323 de 2024 es el precedente que fijó las condiciones del uso de IA generativa en la decisión judicial: apoyo sí, sustitución del juez no, con transparencia, verificación y responsabilidad.</a:t>
            </a:r>
            <a:endParaRPr lang="en-US" sz="1200" dirty="0"/>
          </a:p>
        </p:txBody>
      </p:sp>
      <p:sp>
        <p:nvSpPr>
          <p:cNvPr id="17" name="c4"/>
          <p:cNvSpPr/>
          <p:nvPr/>
        </p:nvSpPr>
        <p:spPr>
          <a:xfrm>
            <a:off x="457200" y="4005072"/>
            <a:ext cx="411480" cy="411480"/>
          </a:xfrm>
          <a:prstGeom prst="ellipse">
            <a:avLst/>
          </a:prstGeom>
          <a:solidFill>
            <a:schemeClr val="accent1"/>
          </a:solidFill>
          <a:ln w="12700">
            <a:solidFill>
              <a:schemeClr val="accent1"/>
            </a:solidFill>
            <a:prstDash val="solid"/>
          </a:ln>
        </p:spPr>
      </p:sp>
      <p:sp>
        <p:nvSpPr>
          <p:cNvPr id="18" name="cn4"/>
          <p:cNvSpPr txBox="1"/>
          <p:nvPr/>
        </p:nvSpPr>
        <p:spPr>
          <a:xfrm>
            <a:off x="457200" y="4005072"/>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9" name="ct4"/>
          <p:cNvSpPr txBox="1"/>
          <p:nvPr/>
        </p:nvSpPr>
        <p:spPr>
          <a:xfrm>
            <a:off x="1005840" y="3931920"/>
            <a:ext cx="7680960" cy="566928"/>
          </a:xfrm>
          <a:prstGeom prst="rect">
            <a:avLst/>
          </a:prstGeom>
          <a:noFill/>
          <a:ln/>
        </p:spPr>
        <p:txBody>
          <a:bodyPr wrap="square" lIns="0" tIns="0" rIns="0" bIns="0" rtlCol="0" anchor="ctr"/>
          <a:lstStyle/>
          <a:p>
            <a:pPr indent="0" marL="0">
              <a:buNone/>
            </a:pPr>
            <a:r>
              <a:rPr lang="en-US" sz="1200" dirty="0">
                <a:solidFill>
                  <a:schemeClr val="tx1"/>
                </a:solidFill>
              </a:rPr>
              <a:t>El abogado de 2026 necesita verificar en la fuente oficial, demostrar con mensajes de datos, consentir con responsabilidad demostrada y exigir explicaciones.</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949440" cy="731520"/>
          </a:xfrm>
          <a:prstGeom prst="rect">
            <a:avLst/>
          </a:prstGeom>
          <a:noFill/>
          <a:ln/>
        </p:spPr>
        <p:txBody>
          <a:bodyPr wrap="square" lIns="0" tIns="0" rIns="0" bIns="0" rtlCol="0" anchor="ctr"/>
          <a:lstStyle/>
          <a:p>
            <a:pPr algn="l" indent="0" marL="0">
              <a:buNone/>
            </a:pPr>
            <a:r>
              <a:rPr lang="en-US" sz="2400" b="1" dirty="0">
                <a:solidFill>
                  <a:schemeClr val="tx1"/>
                </a:solidFill>
              </a:rPr>
              <a:t>Evaluación y cierre</a:t>
            </a:r>
            <a:endParaRPr lang="en-US" sz="2400" dirty="0"/>
          </a:p>
        </p:txBody>
      </p:sp>
      <p:sp>
        <p:nvSpPr>
          <p:cNvPr id="3" name="bloque"/>
          <p:cNvSpPr txBox="1"/>
          <p:nvPr/>
        </p:nvSpPr>
        <p:spPr>
          <a:xfrm>
            <a:off x="7498080" y="411480"/>
            <a:ext cx="1188720" cy="292608"/>
          </a:xfrm>
          <a:prstGeom prst="rect">
            <a:avLst/>
          </a:prstGeom>
          <a:solidFill>
            <a:schemeClr val="accent1"/>
          </a:solidFill>
          <a:ln/>
        </p:spPr>
        <p:txBody>
          <a:bodyPr wrap="square" lIns="0" tIns="0" rIns="0" bIns="0" rtlCol="0" anchor="ctr"/>
          <a:lstStyle/>
          <a:p>
            <a:pPr algn="ctr" indent="0" marL="0">
              <a:buNone/>
            </a:pPr>
            <a:r>
              <a:rPr lang="en-US" sz="900" b="1" dirty="0">
                <a:solidFill>
                  <a:schemeClr val="bg1"/>
                </a:solidFill>
              </a:rPr>
              <a:t>CIERRE 115-120</a:t>
            </a:r>
            <a:endParaRPr lang="en-US" sz="900" dirty="0"/>
          </a:p>
        </p:txBody>
      </p:sp>
      <p:sp>
        <p:nvSpPr>
          <p:cNvPr id="5" name="card Quiz de cinco preguntas (5 min)"/>
          <p:cNvSpPr/>
          <p:nvPr/>
        </p:nvSpPr>
        <p:spPr>
          <a:xfrm>
            <a:off x="457200" y="1188720"/>
            <a:ext cx="4023360" cy="3383280"/>
          </a:xfrm>
          <a:prstGeom prst="roundRect">
            <a:avLst>
              <a:gd name="adj" fmla="val 2162"/>
            </a:avLst>
          </a:prstGeom>
          <a:solidFill>
            <a:schemeClr val="bg2"/>
          </a:solidFill>
          <a:ln w="12700">
            <a:solidFill>
              <a:schemeClr val="bg2"/>
            </a:solidFill>
            <a:prstDash val="solid"/>
          </a:ln>
        </p:spPr>
      </p:sp>
      <p:sp>
        <p:nvSpPr>
          <p:cNvPr id="6" name="head Quiz de cinco preguntas (5 min)"/>
          <p:cNvSpPr txBox="1"/>
          <p:nvPr/>
        </p:nvSpPr>
        <p:spPr>
          <a:xfrm>
            <a:off x="621792" y="1280160"/>
            <a:ext cx="3721608" cy="411480"/>
          </a:xfrm>
          <a:prstGeom prst="rect">
            <a:avLst/>
          </a:prstGeom>
          <a:noFill/>
          <a:ln/>
        </p:spPr>
        <p:txBody>
          <a:bodyPr wrap="square" lIns="0" tIns="0" rIns="0" bIns="0" rtlCol="0" anchor="ctr"/>
          <a:lstStyle/>
          <a:p>
            <a:pPr indent="0" marL="0">
              <a:buNone/>
            </a:pPr>
            <a:r>
              <a:rPr lang="en-US" sz="1300" b="1" dirty="0">
                <a:solidFill>
                  <a:schemeClr val="accent1"/>
                </a:solidFill>
              </a:rPr>
              <a:t>Quiz de cinco preguntas (5 min)</a:t>
            </a:r>
            <a:endParaRPr lang="en-US" sz="1300" dirty="0"/>
          </a:p>
        </p:txBody>
      </p:sp>
      <p:sp>
        <p:nvSpPr>
          <p:cNvPr id="7" name="body Quiz de cinco preguntas (5 min)"/>
          <p:cNvSpPr txBox="1"/>
          <p:nvPr/>
        </p:nvSpPr>
        <p:spPr>
          <a:xfrm>
            <a:off x="621792" y="1719072"/>
            <a:ext cx="3694176" cy="2761488"/>
          </a:xfrm>
          <a:prstGeom prst="rect">
            <a:avLst/>
          </a:prstGeom>
          <a:noFill/>
          <a:ln/>
        </p:spPr>
        <p:txBody>
          <a:bodyPr wrap="square" lIns="0" tIns="0" rIns="0" bIns="0" rtlCol="0" anchor="t"/>
          <a:lstStyle/>
          <a:p>
            <a:pPr indent="0" marL="0">
              <a:buNone/>
            </a:pPr>
            <a:r>
              <a:rPr lang="en-US" sz="1050" dirty="0">
                <a:solidFill>
                  <a:schemeClr val="tx2"/>
                </a:solidFill>
              </a:rPr>
              <a:t>1. Explique en una frase la diferencia entre Derecho Informático e informática jurídica.</a:t>
            </a:r>
            <a:endParaRPr lang="en-US" sz="1050" dirty="0"/>
          </a:p>
          <a:p>
            <a:pPr indent="0" marL="0">
              <a:buNone/>
            </a:pPr>
            <a:r>
              <a:rPr lang="en-US" sz="1050" dirty="0">
                <a:solidFill>
                  <a:schemeClr val="tx2"/>
                </a:solidFill>
              </a:rPr>
              <a:t>2. ¿Qué principio permite que un correo electrónico valga como escrito y en qué artículos de la Ley 527 de 1999 se apoya?</a:t>
            </a:r>
            <a:endParaRPr lang="en-US" sz="1050" dirty="0"/>
          </a:p>
          <a:p>
            <a:pPr indent="0" marL="0">
              <a:buNone/>
            </a:pPr>
            <a:r>
              <a:rPr lang="en-US" sz="1050" dirty="0">
                <a:solidFill>
                  <a:schemeClr val="tx2"/>
                </a:solidFill>
              </a:rPr>
              <a:t>3. ¿Por qué la Ley 1581 de 2012 es estatutaria y qué sentencia la revisó?</a:t>
            </a:r>
            <a:endParaRPr lang="en-US" sz="1050" dirty="0"/>
          </a:p>
          <a:p>
            <a:pPr indent="0" marL="0">
              <a:buNone/>
            </a:pPr>
            <a:r>
              <a:rPr lang="en-US" sz="1050" dirty="0">
                <a:solidFill>
                  <a:schemeClr val="tx2"/>
                </a:solidFill>
              </a:rPr>
              <a:t>4. Nombre dos criterios de la T-323 de 2024 para el uso de IA en la justicia y explique uno.</a:t>
            </a:r>
            <a:endParaRPr lang="en-US" sz="1050" dirty="0"/>
          </a:p>
          <a:p>
            <a:pPr indent="0" marL="0">
              <a:buNone/>
            </a:pPr>
            <a:r>
              <a:rPr lang="en-US" sz="1050" dirty="0">
                <a:solidFill>
                  <a:schemeClr val="tx2"/>
                </a:solidFill>
              </a:rPr>
              <a:t>5. ¿Qué decidió la Corte Suprema en la STC17832-2025 y por qué?</a:t>
            </a:r>
            <a:endParaRPr lang="en-US" sz="1050" dirty="0"/>
          </a:p>
        </p:txBody>
      </p:sp>
      <p:sp>
        <p:nvSpPr>
          <p:cNvPr id="8" name="card Ticket de salida"/>
          <p:cNvSpPr/>
          <p:nvPr/>
        </p:nvSpPr>
        <p:spPr>
          <a:xfrm>
            <a:off x="4663440" y="1188720"/>
            <a:ext cx="4023360" cy="1600200"/>
          </a:xfrm>
          <a:prstGeom prst="roundRect">
            <a:avLst>
              <a:gd name="adj" fmla="val 4571"/>
            </a:avLst>
          </a:prstGeom>
          <a:solidFill>
            <a:schemeClr val="bg2"/>
          </a:solidFill>
          <a:ln w="12700">
            <a:solidFill>
              <a:schemeClr val="bg2"/>
            </a:solidFill>
            <a:prstDash val="solid"/>
          </a:ln>
        </p:spPr>
      </p:sp>
      <p:sp>
        <p:nvSpPr>
          <p:cNvPr id="9" name="head Ticket de salida"/>
          <p:cNvSpPr txBox="1"/>
          <p:nvPr/>
        </p:nvSpPr>
        <p:spPr>
          <a:xfrm>
            <a:off x="4828032" y="1280160"/>
            <a:ext cx="3721608" cy="411480"/>
          </a:xfrm>
          <a:prstGeom prst="rect">
            <a:avLst/>
          </a:prstGeom>
          <a:noFill/>
          <a:ln/>
        </p:spPr>
        <p:txBody>
          <a:bodyPr wrap="square" lIns="0" tIns="0" rIns="0" bIns="0" rtlCol="0" anchor="ctr"/>
          <a:lstStyle/>
          <a:p>
            <a:pPr indent="0" marL="0">
              <a:buNone/>
            </a:pPr>
            <a:r>
              <a:rPr lang="en-US" sz="1300" b="1" dirty="0">
                <a:solidFill>
                  <a:schemeClr val="accent2"/>
                </a:solidFill>
              </a:rPr>
              <a:t>Ticket de salida</a:t>
            </a:r>
            <a:endParaRPr lang="en-US" sz="1300" dirty="0"/>
          </a:p>
        </p:txBody>
      </p:sp>
      <p:sp>
        <p:nvSpPr>
          <p:cNvPr id="10" name="body Ticket de salida"/>
          <p:cNvSpPr txBox="1"/>
          <p:nvPr/>
        </p:nvSpPr>
        <p:spPr>
          <a:xfrm>
            <a:off x="4828032" y="1719072"/>
            <a:ext cx="3694176" cy="978408"/>
          </a:xfrm>
          <a:prstGeom prst="rect">
            <a:avLst/>
          </a:prstGeom>
          <a:noFill/>
          <a:ln/>
        </p:spPr>
        <p:txBody>
          <a:bodyPr wrap="square" lIns="0" tIns="0" rIns="0" bIns="0" rtlCol="0" anchor="t"/>
          <a:lstStyle/>
          <a:p>
            <a:pPr indent="0" marL="0">
              <a:buNone/>
            </a:pPr>
            <a:r>
              <a:rPr lang="en-US" sz="1200" dirty="0">
                <a:solidFill>
                  <a:schemeClr val="tx2"/>
                </a:solidFill>
              </a:rPr>
              <a:t>Una regla que me llevo.</a:t>
            </a:r>
            <a:endParaRPr lang="en-US" sz="1200" dirty="0"/>
          </a:p>
          <a:p>
            <a:pPr indent="0" marL="0">
              <a:buNone/>
            </a:pPr>
            <a:r>
              <a:rPr lang="en-US" sz="1200" dirty="0">
                <a:solidFill>
                  <a:schemeClr val="tx2"/>
                </a:solidFill>
              </a:rPr>
              <a:t>Una duda que me queda.</a:t>
            </a:r>
            <a:endParaRPr lang="en-US" sz="1200" dirty="0"/>
          </a:p>
        </p:txBody>
      </p:sp>
      <p:sp>
        <p:nvSpPr>
          <p:cNvPr id="11" name="card Evaluación de la sesión"/>
          <p:cNvSpPr/>
          <p:nvPr/>
        </p:nvSpPr>
        <p:spPr>
          <a:xfrm>
            <a:off x="4663440" y="2971800"/>
            <a:ext cx="4023360" cy="1600200"/>
          </a:xfrm>
          <a:prstGeom prst="roundRect">
            <a:avLst>
              <a:gd name="adj" fmla="val 4571"/>
            </a:avLst>
          </a:prstGeom>
          <a:solidFill>
            <a:schemeClr val="bg2"/>
          </a:solidFill>
          <a:ln w="12700">
            <a:solidFill>
              <a:schemeClr val="bg2"/>
            </a:solidFill>
            <a:prstDash val="solid"/>
          </a:ln>
        </p:spPr>
      </p:sp>
      <p:sp>
        <p:nvSpPr>
          <p:cNvPr id="12" name="head Evaluación de la sesión"/>
          <p:cNvSpPr txBox="1"/>
          <p:nvPr/>
        </p:nvSpPr>
        <p:spPr>
          <a:xfrm>
            <a:off x="4828032" y="3063240"/>
            <a:ext cx="3721608" cy="411480"/>
          </a:xfrm>
          <a:prstGeom prst="rect">
            <a:avLst/>
          </a:prstGeom>
          <a:noFill/>
          <a:ln/>
        </p:spPr>
        <p:txBody>
          <a:bodyPr wrap="square" lIns="0" tIns="0" rIns="0" bIns="0" rtlCol="0" anchor="ctr"/>
          <a:lstStyle/>
          <a:p>
            <a:pPr indent="0" marL="0">
              <a:buNone/>
            </a:pPr>
            <a:r>
              <a:rPr lang="en-US" sz="1300" b="1" dirty="0">
                <a:solidFill>
                  <a:schemeClr val="accent3"/>
                </a:solidFill>
              </a:rPr>
              <a:t>Evaluación de la sesión</a:t>
            </a:r>
            <a:endParaRPr lang="en-US" sz="1300" dirty="0"/>
          </a:p>
        </p:txBody>
      </p:sp>
      <p:sp>
        <p:nvSpPr>
          <p:cNvPr id="13" name="body Evaluación de la sesión"/>
          <p:cNvSpPr txBox="1"/>
          <p:nvPr/>
        </p:nvSpPr>
        <p:spPr>
          <a:xfrm>
            <a:off x="4828032" y="3502152"/>
            <a:ext cx="3694176" cy="978408"/>
          </a:xfrm>
          <a:prstGeom prst="rect">
            <a:avLst/>
          </a:prstGeom>
          <a:noFill/>
          <a:ln/>
        </p:spPr>
        <p:txBody>
          <a:bodyPr wrap="square" lIns="0" tIns="0" rIns="0" bIns="0" rtlCol="0" anchor="t"/>
          <a:lstStyle/>
          <a:p>
            <a:pPr indent="0" marL="0">
              <a:buNone/>
            </a:pPr>
            <a:r>
              <a:rPr lang="en-US" sz="1200" dirty="0">
                <a:solidFill>
                  <a:schemeClr val="tx2"/>
                </a:solidFill>
              </a:rPr>
              <a:t>Ficha de lectura: 30 %</a:t>
            </a:r>
            <a:endParaRPr lang="en-US" sz="1200" dirty="0"/>
          </a:p>
          <a:p>
            <a:pPr indent="0" marL="0">
              <a:buNone/>
            </a:pPr>
            <a:r>
              <a:rPr lang="en-US" sz="1200" dirty="0">
                <a:solidFill>
                  <a:schemeClr val="tx2"/>
                </a:solidFill>
              </a:rPr>
              <a:t>Matriz de la sentencia: 40 %</a:t>
            </a:r>
            <a:endParaRPr lang="en-US" sz="1200" dirty="0"/>
          </a:p>
          <a:p>
            <a:pPr indent="0" marL="0">
              <a:buNone/>
            </a:pPr>
            <a:r>
              <a:rPr lang="en-US" sz="1200" dirty="0">
                <a:solidFill>
                  <a:schemeClr val="tx2"/>
                </a:solidFill>
              </a:rPr>
              <a:t>Aplicación y quiz: 30 %</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949440" cy="731520"/>
          </a:xfrm>
          <a:prstGeom prst="rect">
            <a:avLst/>
          </a:prstGeom>
          <a:noFill/>
          <a:ln/>
        </p:spPr>
        <p:txBody>
          <a:bodyPr wrap="square" lIns="0" tIns="0" rIns="0" bIns="0" rtlCol="0" anchor="ctr"/>
          <a:lstStyle/>
          <a:p>
            <a:pPr algn="l" indent="0" marL="0">
              <a:buNone/>
            </a:pPr>
            <a:r>
              <a:rPr lang="en-US" sz="2400" b="1" dirty="0">
                <a:solidFill>
                  <a:schemeClr val="tx1"/>
                </a:solidFill>
              </a:rPr>
              <a:t>Referencias y enlaces</a:t>
            </a:r>
            <a:endParaRPr lang="en-US" sz="2400" dirty="0"/>
          </a:p>
        </p:txBody>
      </p:sp>
      <p:sp>
        <p:nvSpPr>
          <p:cNvPr id="3" name="bloque"/>
          <p:cNvSpPr txBox="1"/>
          <p:nvPr/>
        </p:nvSpPr>
        <p:spPr>
          <a:xfrm>
            <a:off x="7498080" y="411480"/>
            <a:ext cx="1188720" cy="292608"/>
          </a:xfrm>
          <a:prstGeom prst="rect">
            <a:avLst/>
          </a:prstGeom>
          <a:solidFill>
            <a:schemeClr val="accent1"/>
          </a:solidFill>
          <a:ln/>
        </p:spPr>
        <p:txBody>
          <a:bodyPr wrap="square" lIns="0" tIns="0" rIns="0" bIns="0" rtlCol="0" anchor="ctr"/>
          <a:lstStyle/>
          <a:p>
            <a:pPr algn="ctr" indent="0" marL="0">
              <a:buNone/>
            </a:pPr>
            <a:r>
              <a:rPr lang="en-US" sz="900" b="1" dirty="0">
                <a:solidFill>
                  <a:schemeClr val="bg1"/>
                </a:solidFill>
              </a:rPr>
              <a:t>REFERENCIAS</a:t>
            </a:r>
            <a:endParaRPr lang="en-US" sz="900" dirty="0"/>
          </a:p>
        </p:txBody>
      </p:sp>
      <p:sp>
        <p:nvSpPr>
          <p:cNvPr id="5" name="refs"/>
          <p:cNvSpPr txBox="1"/>
          <p:nvPr/>
        </p:nvSpPr>
        <p:spPr>
          <a:xfrm>
            <a:off x="457200" y="1188720"/>
            <a:ext cx="8229600" cy="3474720"/>
          </a:xfrm>
          <a:prstGeom prst="rect">
            <a:avLst/>
          </a:prstGeom>
          <a:noFill/>
          <a:ln/>
        </p:spPr>
        <p:txBody>
          <a:bodyPr wrap="square" lIns="0" tIns="0" rIns="0" bIns="0" rtlCol="0" anchor="t"/>
          <a:lstStyle/>
          <a:p>
            <a:pPr marL="342900" indent="-342900">
              <a:spcAft>
                <a:spcPts val="400"/>
              </a:spcAft>
              <a:buSzPct val="100000"/>
              <a:buChar char="•"/>
            </a:pPr>
            <a:r>
              <a:rPr lang="en-US" sz="950" u="sng" dirty="0">
                <a:solidFill>
                  <a:schemeClr val="tx1"/>
                </a:solidFill>
                <a:hlinkClick r:id="rId1" invalidUrl="" action="" tgtFrame="" tooltip="" history="1" highlightClick="0" endSnd="0">
                  <a:extLst>
                    <a:ext uri="{A12FA001-AC4F-418D-AE19-62706E023703}">
                      <ahyp:hlinkClr xmlns:ahyp="http://schemas.microsoft.com/office/drawing/2018/hyperlinkcolor" val="tx"/>
                    </a:ext>
                  </a:extLst>
                </a:hlinkClick>
              </a:rPr>
              <a:t>Donoso Abarca, L. y Reusser Monsálvez, C. (2021). Derecho Informático (Serie Materiales Docentes n.º 31). Academia Judicial de Chile.</a:t>
            </a:r>
            <a:endParaRPr lang="en-US" sz="950" dirty="0"/>
          </a:p>
          <a:p>
            <a:pPr marL="342900" indent="-342900">
              <a:spcAft>
                <a:spcPts val="400"/>
              </a:spcAft>
              <a:buSzPct val="100000"/>
              <a:buChar char="•"/>
            </a:pPr>
            <a:r>
              <a:rPr lang="en-US" sz="950" u="sng" dirty="0">
                <a:solidFill>
                  <a:schemeClr val="tx1"/>
                </a:solidFill>
                <a:hlinkClick r:id="rId2" invalidUrl="" action="" tgtFrame="" tooltip="" history="1" highlightClick="0" endSnd="0">
                  <a:extLst>
                    <a:ext uri="{A12FA001-AC4F-418D-AE19-62706E023703}">
                      <ahyp:hlinkClr xmlns:ahyp="http://schemas.microsoft.com/office/drawing/2018/hyperlinkcolor" val="tx"/>
                    </a:ext>
                  </a:extLst>
                </a:hlinkClick>
              </a:rPr>
              <a:t>Flórez Rojas, M. L. (coord.) (2022). Derecho de las tecnologías y las tecnologías para el derecho. GECTI, Ediciones Uniandes. DOI 10.15425/2017.571.</a:t>
            </a:r>
            <a:endParaRPr lang="en-US" sz="950" dirty="0"/>
          </a:p>
          <a:p>
            <a:pPr marL="342900" indent="-342900">
              <a:spcAft>
                <a:spcPts val="400"/>
              </a:spcAft>
              <a:buSzPct val="100000"/>
              <a:buChar char="•"/>
            </a:pPr>
            <a:r>
              <a:rPr lang="en-US" sz="950" u="sng" dirty="0">
                <a:solidFill>
                  <a:schemeClr val="tx1"/>
                </a:solidFill>
                <a:hlinkClick r:id="rId3" invalidUrl="" action="" tgtFrame="" tooltip="" history="1" highlightClick="0" endSnd="0">
                  <a:extLst>
                    <a:ext uri="{A12FA001-AC4F-418D-AE19-62706E023703}">
                      <ahyp:hlinkClr xmlns:ahyp="http://schemas.microsoft.com/office/drawing/2018/hyperlinkcolor" val="tx"/>
                    </a:ext>
                  </a:extLst>
                </a:hlinkClick>
              </a:rPr>
              <a:t>Corte Constitucional. Sentencia T-323 de 2024 (M.P. Juan Carlos Cortés González). Relatoría.</a:t>
            </a:r>
            <a:endParaRPr lang="en-US" sz="950" dirty="0"/>
          </a:p>
          <a:p>
            <a:pPr marL="342900" indent="-342900">
              <a:spcAft>
                <a:spcPts val="400"/>
              </a:spcAft>
              <a:buSzPct val="100000"/>
              <a:buChar char="•"/>
            </a:pPr>
            <a:r>
              <a:rPr lang="en-US" sz="950" u="sng" dirty="0">
                <a:solidFill>
                  <a:schemeClr val="tx1"/>
                </a:solidFill>
                <a:hlinkClick r:id="rId4" invalidUrl="" action="" tgtFrame="" tooltip="" history="1" highlightClick="0" endSnd="0">
                  <a:extLst>
                    <a:ext uri="{A12FA001-AC4F-418D-AE19-62706E023703}">
                      <ahyp:hlinkClr xmlns:ahyp="http://schemas.microsoft.com/office/drawing/2018/hyperlinkcolor" val="tx"/>
                    </a:ext>
                  </a:extLst>
                </a:hlinkClick>
              </a:rPr>
              <a:t>Corte Constitucional. Sentencia T-414 de 1992 (M.P. Ciro Angarita Barón). Relatoría.</a:t>
            </a:r>
            <a:endParaRPr lang="en-US" sz="950" dirty="0"/>
          </a:p>
          <a:p>
            <a:pPr marL="342900" indent="-342900">
              <a:spcAft>
                <a:spcPts val="400"/>
              </a:spcAft>
              <a:buSzPct val="100000"/>
              <a:buChar char="•"/>
            </a:pPr>
            <a:r>
              <a:rPr lang="en-US" sz="950" u="sng" dirty="0">
                <a:solidFill>
                  <a:schemeClr val="tx1"/>
                </a:solidFill>
                <a:hlinkClick r:id="rId5" invalidUrl="" action="" tgtFrame="" tooltip="" history="1" highlightClick="0" endSnd="0">
                  <a:extLst>
                    <a:ext uri="{A12FA001-AC4F-418D-AE19-62706E023703}">
                      <ahyp:hlinkClr xmlns:ahyp="http://schemas.microsoft.com/office/drawing/2018/hyperlinkcolor" val="tx"/>
                    </a:ext>
                  </a:extLst>
                </a:hlinkClick>
              </a:rPr>
              <a:t>Consejo Superior de la Judicatura (2024). ABC de la Sentencia T-323 de 2024 (Circular PCSJC24-37).</a:t>
            </a:r>
            <a:endParaRPr lang="en-US" sz="950" dirty="0"/>
          </a:p>
          <a:p>
            <a:pPr marL="342900" indent="-342900">
              <a:spcAft>
                <a:spcPts val="400"/>
              </a:spcAft>
              <a:buSzPct val="100000"/>
              <a:buChar char="•"/>
            </a:pPr>
            <a:r>
              <a:rPr lang="en-US" sz="950" u="sng" dirty="0">
                <a:solidFill>
                  <a:schemeClr val="tx1"/>
                </a:solidFill>
                <a:hlinkClick r:id="rId6" invalidUrl="" action="" tgtFrame="" tooltip="" history="1" highlightClick="0" endSnd="0">
                  <a:extLst>
                    <a:ext uri="{A12FA001-AC4F-418D-AE19-62706E023703}">
                      <ahyp:hlinkClr xmlns:ahyp="http://schemas.microsoft.com/office/drawing/2018/hyperlinkcolor" val="tx"/>
                    </a:ext>
                  </a:extLst>
                </a:hlinkClick>
              </a:rPr>
              <a:t>Corte Suprema de Justicia, Sala de Casación Civil. STC17832-2025.</a:t>
            </a:r>
            <a:endParaRPr lang="en-US" sz="950" dirty="0"/>
          </a:p>
          <a:p>
            <a:pPr marL="342900" indent="-342900">
              <a:spcAft>
                <a:spcPts val="400"/>
              </a:spcAft>
              <a:buSzPct val="100000"/>
              <a:buChar char="•"/>
            </a:pPr>
            <a:r>
              <a:rPr lang="en-US" sz="950" u="sng" dirty="0">
                <a:solidFill>
                  <a:schemeClr val="tx1"/>
                </a:solidFill>
                <a:hlinkClick r:id="rId7" invalidUrl="" action="" tgtFrame="" tooltip="" history="1" highlightClick="0" endSnd="0">
                  <a:extLst>
                    <a:ext uri="{A12FA001-AC4F-418D-AE19-62706E023703}">
                      <ahyp:hlinkClr xmlns:ahyp="http://schemas.microsoft.com/office/drawing/2018/hyperlinkcolor" val="tx"/>
                    </a:ext>
                  </a:extLst>
                </a:hlinkClick>
              </a:rPr>
              <a:t>Normas: Constitución Política (arts. 15, 20, 61, 74); Ley 527/1999; Ley 1266/2008; Ley 1273/2009; Ley 1581/2012; Decreto 1377/2013; Ley 2213/2022; Circular Externa 002/2024 SIC; CONPES 4144/2025.</a:t>
            </a:r>
            <a:endParaRPr lang="en-US" sz="950" dirty="0"/>
          </a:p>
          <a:p>
            <a:pPr marL="342900" indent="-342900">
              <a:spcAft>
                <a:spcPts val="400"/>
              </a:spcAft>
              <a:buSzPct val="100000"/>
              <a:buChar char="•"/>
            </a:pPr>
            <a:r>
              <a:rPr lang="en-US" sz="950" dirty="0">
                <a:solidFill>
                  <a:schemeClr val="tx1"/>
                </a:solidFill>
              </a:rPr>
              <a:t>Téllez Valdés, J. Derecho informático (UNAM, 1991; ediciones posteriores McGraw-Hill). Lessig, L. (1999). Code and other laws of cyberspace.</a:t>
            </a:r>
            <a:endParaRPr lang="en-US" sz="950" dirty="0"/>
          </a:p>
          <a:p>
            <a:pPr marL="342900" indent="-342900">
              <a:spcAft>
                <a:spcPts val="400"/>
              </a:spcAft>
              <a:buSzPct val="100000"/>
              <a:buChar char="•"/>
            </a:pPr>
            <a:r>
              <a:rPr lang="en-US" sz="950" dirty="0">
                <a:solidFill>
                  <a:schemeClr val="tx1"/>
                </a:solidFill>
              </a:rPr>
              <a:t>Catálogo completo con estado de verificación: FUENTES.md / FUENTES.docx en la carpeta de Drive «Derecho y tecnologia clase de derecho informatico».</a:t>
            </a:r>
            <a:endParaRPr lang="en-US" sz="9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l"/>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Derecho Informatico UFPS">
  <a:themeElements>
    <a:clrScheme name="Derecho Informatico UFPS">
      <a:dk1>
        <a:srgbClr val="1F2240"/>
      </a:dk1>
      <a:lt1>
        <a:srgbClr val="FFFFFF"/>
      </a:lt1>
      <a:dk2>
        <a:srgbClr val="3C3F5C"/>
      </a:dk2>
      <a:lt2>
        <a:srgbClr val="EEF1F8"/>
      </a:lt2>
      <a:accent1>
        <a:srgbClr val="0E8C8C"/>
      </a:accent1>
      <a:accent2>
        <a:srgbClr val="E39B2C"/>
      </a:accent2>
      <a:accent3>
        <a:srgbClr val="B33951"/>
      </a:accent3>
      <a:accent4>
        <a:srgbClr val="5C6BC0"/>
      </a:accent4>
      <a:accent5>
        <a:srgbClr val="7FB7BE"/>
      </a:accent5>
      <a:accent6>
        <a:srgbClr val="C9CCE0"/>
      </a:accent6>
      <a:hlink>
        <a:srgbClr val="0E8C8C"/>
      </a:hlink>
      <a:folHlink>
        <a:srgbClr val="3C3F5C"/>
      </a:folHlink>
    </a:clrScheme>
    <a:fontScheme name="Derecho Informatico UFP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Derecho Informático: fundamentos, evolución, objeto, fuentes y campos</dc:title>
  <dc:subject>Clase de la asignatura Tecnología y Derecho</dc:subject>
  <dc:creator>Carlos Arturo Ramos Mejía</dc:creator>
  <cp:lastModifiedBy>Carlos Arturo Ramos Mejía</cp:lastModifiedBy>
  <cp:revision>1</cp:revision>
  <dcterms:created xsi:type="dcterms:W3CDTF">2026-10-05T03:14:51Z</dcterms:created>
  <dcterms:modified xsi:type="dcterms:W3CDTF">2026-10-05T03:14:51Z</dcterms:modified>
</cp:coreProperties>
</file>
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ebf6190-fec8-587f-9c60-f0c53608afb0}">
          <p14:sldIdLst>
            <p14:sldId id="256"/>
            <p14:sldId id="257"/>
            <p14:sldId id="258"/>
          </p14:sldIdLst>
        </p14:section>
        <p14:section name="Fundamentos" id="{ee72d9fb-da6a-7002-7fb7-7f0b303a283b}">
          <p14:sldIdLst>
            <p14:sldId id="259"/>
            <p14:sldId id="260"/>
            <p14:sldId id="261"/>
            <p14:sldId id="262"/>
          </p14:sldIdLst>
        </p14:section>
        <p14:section name="Evolución, objeto y fuentes" id="{1326fe63-540e-0a7e-b8af-4acca1c21c7c}">
          <p14:sldIdLst>
            <p14:sldId id="263"/>
            <p14:sldId id="264"/>
            <p14:sldId id="265"/>
            <p14:sldId id="266"/>
            <p14:sldId id="267"/>
          </p14:sldIdLst>
        </p14:section>
        <p14:section name="Principios y campos" id="{c930bf3d-5770-d293-5e92-2e25a7575f10}">
          <p14:sldIdLst>
            <p14:sldId id="268"/>
            <p14:sldId id="269"/>
            <p14:sldId id="270"/>
          </p14:sldIdLst>
        </p14:section>
        <p14:section name="Video y sentencia hito" id="{51db9366-6d14-0606-fdf2-934fc37f28b6}">
          <p14:sldIdLst>
            <p14:sldId id="271"/>
            <p14:sldId id="272"/>
            <p14:sldId id="273"/>
            <p14:sldId id="274"/>
            <p14:sldId id="275"/>
          </p14:sldIdLst>
        </p14:section>
        <p14:section name="Aplicación y cierre" id="{65a2a38c-d5aa-3c36-cd99-12b0a336991b}">
          <p14:sldIdLst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(1 min). Anunciar la estructura: 50 minutos de fundamentos, pausa, video, taller de sentencia, aplicación y cierre. Recordar que la guía de trabajo se entregó una semana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detonante (5 min). Recoger tres respuestas rápidas, una por opción si es posible. No resolver todavía: la respuesta la da la Sentencia T-323 de 2024 en el taller. Anotar en el tablero el conteo para compararlo al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seis verbos (2 min). Señalar que los objetivos 5 y 6 se evalúan en el taller y en el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(5 min). Subrayar la diferencia entre 'objeto' (lo regulado) e 'instrumento' (el medio). Preguntar: ¿un contrato firmado por correo electrónico es Derecho Informático? Sí, en cuanto a validez y prueba del mensaje de datos; el fondo sigue siendo derecho civil 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Distinciones (4 min). La IA generativa cae en las tres casillas según el ángulo: como herramienta del juez es informática jurídica; como objeto regulado por la T-323 de 2024 es Derecho Informático.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Autonomía (5 min). Pedir que un estudiante argumente a favor y otro en contra. Cerrar con la posición intermedia.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(4 min). Respuestas: 1 IJ. 2 DI (datos personales, Ley 1581). 3 DT. 4 DI (prueba electrónica, Ley 527 y art. 247 CGP). 5 IJ como herramienta y DI como problema regulado (T-323 de 2024, deberes del abogado).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Evolución (6 min). Hilo: cada etapa responde a una pregunta nueva. 1: quién controla la información. 2: qué vale lo electrónico. 3: qué conductas son delito y cómo se relaciona el ciudadano con el Estado. 4: quién responde por la decisión asistida por una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Hitos (4 min). No leer todo: señalar que la línea va de la información (1991-2012) a la decisión (2024-2026). Las normas se consultan en el texto oficial; la guía de trabajo trae los enlaces.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Objeto (3 min). Conectar con la diapositiva 4: aquí se desarrolla cada grupo con su norma de cabecera.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(5 min). Insistir en dos ideas: las leyes de datos son estatutarias porque regulan un derecho fundamental (por eso la C-748 de 2011 fue control previo); y el último nivel, el código, no es fuente formal pero condiciona de hecho lo que se puede hacer.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Lectura (5 min). Pedir a dos estudiantes que lean la tesis que anotaron en su ficha. Contrastar: ¿coincide con la definición y la posición sobre autonomía vistas en clase?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Principios (7 min). Los tres primeros vienen de la Ley 527; el cuarto y el quinto del régimen de datos; los dos últimos los formuló la Corte en 2024 para la IA y ya aparecen en la regulación de la SIC.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Problemas (4 min). Preguntar cuál de los seis han visto en la práctica o en noticias de este año. El video y el taller profundizan el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(5 min). Actividad: cada grupo recibe un campo y escribe en una frase la pregunta que responde, sin mirar la tabla. Luego se compara.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(12 min: proyección y discusión). Abrir el enlace con el botón. Después de verlo, dos minutos por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Sentencia, parte 1 (3 min). Verificar la providencia directamente en la relatoría de la Corte Constitucional antes de clase; la guía trae el enlace.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Sentencia, parte 2 (3 min). Subrayar la paradoja: no hubo violación del debido proceso, pero la Corte fijó reglas y dio órdenes. Preguntar qué tipo de precedente es ese (regla prospectiva para la Rama).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Sentencia, parte 3 (3 min). Distinguir ratio (lo necesario para decidir el caso) de las reglas prospectivas. Los criterios se leen tal como los enumera la Corte; la guía trae la lista completa con la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Taller (23 min): 13 de trabajo en grupo y 10 de puesta en común. Un grupo expone la matriz; los demás completan o corrigen. Cerrar con la pregunta de la diapositiva 2 y comparar el conteo.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Aplicación (10 min). Cada grupo resuelve un caso en 6 minutos y lo expone en 1. Claves en la guía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(2 min). Volver a la pregunta de la diapositiva 2: ¿cambió su respuesta?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(5 min). Quiz escrito o en voz alta. Recoger los tickets de salida; sirven para abrir la siguiente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Mg. Carlos Arturo Ramos Mejía - Prof. Cátedra UFPS · Tecnología y Derecho · Derecho Informático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Mg. Carlos Arturo Ramos Mejía - Prof. Cátedra UFPS · Tecnología y Derecho · Derecho Informático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Mg. Carlos Arturo Ramos Mejía - Prof. Cátedra UFPS · Tecnología y Derecho · Derecho Informático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ajudicial.cl/wp-content/uploads/2022/03/Derecho-informatico.pdf" TargetMode="External"/><Relationship Id="rId3" Type="http://schemas.openxmlformats.org/officeDocument/2006/relationships/hyperlink" Target="https://ediciones.uniandes.edu.co/library/publication/derecho-de-las-tecnologias-y-las-tecnologias-para-el-derecho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c4UEAZcz4Qc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Derecho Informático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Fundamentos, evolución, objeto, fuentes y campos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Asignatura Tecnología y Derecho · Programa de Derecho · Universidad Francisco de Paula Santander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Mg. Carlos Arturo Ramos Mejía - Prof. Cátedra UFPS ·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0744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Sesión integral · 120 minutos · lectura, sentencia hito y video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¿Un juez puede preguntarle a ChatGPT?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88720" cy="11887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0345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6459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En enero de 2023 un juez de Cartagena resolvió una tutela de salud de un niño con autismo y transcribió en la sentencia las preguntas que le hizo a ChatGPT y las respuestas que recibió. La Corte Constitucional revisó el caso en 2024.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103120" y="3474720"/>
            <a:ext cx="9418320" cy="713232"/>
          </a:xfrm>
          <a:prstGeom prst="roundRect">
            <a:avLst>
              <a:gd name="adj" fmla="val 1025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2860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356616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Sí, es una herramienta más, como un buscador.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103120" y="4343400"/>
            <a:ext cx="9418320" cy="713232"/>
          </a:xfrm>
          <a:prstGeom prst="roundRect">
            <a:avLst>
              <a:gd name="adj" fmla="val 1025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8600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B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44348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Sí, pero debe decirlo y verificar lo que la máquina responde.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03120" y="5212080"/>
            <a:ext cx="9418320" cy="713232"/>
          </a:xfrm>
          <a:prstGeom prst="roundRect">
            <a:avLst>
              <a:gd name="adj" fmla="val 10256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8600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834640" y="530352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No, porque la decisión judicial no admite intermediarios automáticos.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1031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Vote a mano alzada. Volveremos a esta pregunta al final de la clase.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 terminar la sesión, usted podrá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4173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Definir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Derecho Informático y distinguirlo de la informática jurídica y del Derecho de las telecomunicaciones; explicar la discusión sobre su autonomía.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0" y="146304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32320" y="14173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Reconstruir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 evolución en cuatro etapas y ubicar los hitos colombianos de 1991 a 2026.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01752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971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Identificar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 objeto, sus fuentes y sus principios estructurales.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217920" y="301752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32320" y="2971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Mapear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 siete campos con la norma de cabecera en Colombia.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548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63040" y="45262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Analizar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Sentencia T-323 de 2024: hechos, problema, decisión, ratio, regla y precedente.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217920" y="457200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7548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132320" y="45262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Aplicar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las reglas a casos cortos y formular su propia regla de uso responsable de herramientas digitales.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es el Derecho Informático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2103120"/>
          </a:xfrm>
          <a:prstGeom prst="roundRect">
            <a:avLst>
              <a:gd name="adj" fmla="val 34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Definición de trabajo.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Conjunto de principios, normas e instituciones que regulan las relaciones jurídicas en las que la información digital, los sistemas informáticos y las redes son objeto o instrumento de la conducta.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6675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886200"/>
            <a:ext cx="6126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Definición clásica (Julio Téllez Valdés).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Conjunto de leyes, normas y principios aplicables a los hechos y actos derivados de la informática.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Otros nombres según la época y el país: Derecho de la informática, Derecho de las nuevas tecnologías, Derecho de las TIC, Derecho digital, Ciberderecho. Cambia el nombre; permanece el objeto.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0" y="1417320"/>
            <a:ext cx="914400" cy="91440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869680" y="1463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Información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datos, identidad, habeas data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0" y="3017520"/>
            <a:ext cx="914400" cy="91440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246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69680" y="3063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Actos electrónicos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contratos, firmas, prueba, trámites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772400" y="4617720"/>
            <a:ext cx="914400" cy="91440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8463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69680" y="46634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Conductas lesivas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delitos informáticos, ciberseguridad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0" y="5623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La inteligencia artificial atraviesa los tres grupos.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Tres nociones que se confunden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Derecho Informático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informática como OBJETO de regulación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Ejemplo: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Ley 1581 de 2012 sobre datos personales; Ley 1273 de 2009 sobre delitos informáticos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37360"/>
            <a:ext cx="822960" cy="822960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9431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Informática jurídica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informática como HERRAMIENTA del jurista: gestión, documentación, apoyo a la decisión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343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Ejemplo: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 sistema de gestión de expedientes; un buscador de jurisprudencia; una IA que resume un proceso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4630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737360"/>
            <a:ext cx="822960" cy="822960"/>
          </a:xfrm>
          <a:prstGeom prst="ellipse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9431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Derecho de las telecomunicaciones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474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INFRAESTRUCTURA y los servicios de transmisión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343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Ejemplo: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Ley 1341 de 2009; Comisión de Regulación de Comunicaciones; espectro y redes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¿Es una rama autónoma? Cuatro criterios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Campo normativo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Legislación propia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Leyes 527 de 1999, 1266 de 2008, 1273 de 2009, 1581 de 2012, 2213 de 2022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1645920"/>
            <a:ext cx="685800" cy="6858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00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Campo docente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Cátedra y posgrados propios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Departamento de Derecho Informático del Externado (30 años en 2026); GECTI de Uniandes (creado el 5 de octubre de 2001); esta asignatura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886200"/>
            <a:ext cx="685800" cy="6858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405765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40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Campo científico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Doctrina e investigación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709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Revistas y observatorios; doctrina colombiana e iberoamericana; relatorías sobre IA y justicia 2024-2026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365760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0" y="3886200"/>
            <a:ext cx="685800" cy="68580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405765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23760" y="3840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Campo institucional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Autoridades propias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4709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Delegatura de Protección de Datos de la SIC; CRC; MinTIC; Consejo Superior de la Judicatura (justicia digital)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Posición de la clase: disciplina con objeto, principios e instituciones propios, pero transversal: atraviesa el derecho civil, penal, constitucional, administrativo, laboral y procesal.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Ejercicio relámpago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Derecho Informático (DI), informática jurídica (IJ) o Derecho de las telecomunicaciones (DT). Una puede caer en dos casillas.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16836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16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3911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juzgado adopta un software para programar audiencias.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203911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 · IJ · DT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921508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21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437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SIC sanciona a una empresa por enviar publicidad sin autorización del titular del dato.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28437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 · IJ · DT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2618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4845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CRC fija condiciones de calidad para el servicio de internet móvil.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6484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 · IJ · DT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79976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30852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4531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abogado aporta como prueba una conversación de WhatsApp.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4453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 · IJ · DT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5524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355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257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estudiante usa una IA para redactar una tutela y cita una sentencia que no existe.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5257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 · IJ · DT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Evolución: cuatro etapas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2148840"/>
            <a:ext cx="10177272" cy="0"/>
          </a:xfrm>
          <a:prstGeom prst="line">
            <a:avLst/>
          </a:prstGeom>
          <a:noFill/>
          <a:ln w="254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965960"/>
            <a:ext cx="365760" cy="365760"/>
          </a:xfrm>
          <a:prstGeom prst="ellipse">
            <a:avLst/>
          </a:prstGeom>
          <a:solidFill>
            <a:srgbClr val="5959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1948-1990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Cibernética y primeras leyes de datos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Wiener (1948); Losano y Frosini (1968); ley de Hesse (1970), Suecia (1973), EE. UU. (1974), Francia (1978); Convenio 108 (1981). Colombia: art. 15 C.P. (1991)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65960"/>
            <a:ext cx="365760" cy="365760"/>
          </a:xfrm>
          <a:prstGeom prst="ellipse">
            <a:avLst/>
          </a:prstGeom>
          <a:solidFill>
            <a:srgbClr val="7373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1990-2008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2560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Comercio electrónico y equivalencia funcional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6576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Ley Modelo CNUDMI (1996); Directiva 95/46; Lessig, el código como regulación (1999). Colombia: Ley 527 de 1999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1965960"/>
            <a:ext cx="365760" cy="365760"/>
          </a:xfrm>
          <a:prstGeom prst="ellipse">
            <a:avLst/>
          </a:prstGeom>
          <a:solidFill>
            <a:srgbClr val="4040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2001-2016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2560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Ciberdelincuencia, datos como derecho fundamental y gobierno digital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576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Convenio de Budapest (2001); RGPD (2016). Colombia: Leyes 1266 de 2008, 1273 de 2009, 1341 de 2009, 1581 de 2012, 1712 de 2014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12680" y="1965960"/>
            <a:ext cx="365760" cy="365760"/>
          </a:xfrm>
          <a:prstGeom prst="ellipse">
            <a:avLst/>
          </a:prstGeom>
          <a:solidFill>
            <a:srgbClr val="A6A6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1540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2017-2026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15400" y="25603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Inteligencia artificial y justicia digital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65760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Reglamento europeo de IA (2024). Colombia: CONPES 3975 de 2019 y 4144 de 2025; Ley 2213 de 2022; Circular 002 de 2024 SIC; T-323 de 2024; STC17832-2025; AC739-2026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Hitos colombianos, 1991-2026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4457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Constitución Política, art. 15: intimidad y habeas data; art. 20: información; art. 74: documentos públicos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T-414 de 1992: primera sentencia de habeas data (dato financiero caduco)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527: mensajes de datos, comercio electrónico y firmas digitales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2008-2009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1266 (habeas data financiero); Ley 1273 (delitos informáticos); Ley 1341 (sector 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2011-2013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C-748 de 2011 y Ley 1581 de 2012 (datos personales); Decreto 1377 de 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2014-2019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1712 (transparencia); Ley 1928 de 2018 y C-224 de 2019 (Convenio de Budapest); CONPES 3975 (IA)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2213 (justicia digital permanente); Circular 002 de 2024 SIC (IA y datos); T-323 de 2024 (IA y juez)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CONPES 4144 (política nacional de IA); STC17832-2025 (citas inexistentes); AC739-2026 (Corte Suprema)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Objeto: tres grupos de relaciones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1737360"/>
            <a:ext cx="960120" cy="9601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830" y="1977390"/>
            <a:ext cx="480060" cy="4800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información sobre las personas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611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Datos personales, habeas data, identidad digital, imagen y voz.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Art. 15 C.P.; Leyes 1266 de 2008 y 1581 de 2012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7840" y="1737360"/>
            <a:ext cx="960120" cy="9601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870" y="19773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Los actos y hechos por medios electrónicos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611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Contratos, firmas, documentos, prueba, trámites y notificaciones.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Ley 527 de 1999; CGP art. 247; Ley 2213 de 2022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26880" y="1737360"/>
            <a:ext cx="960120" cy="9601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0" y="1977390"/>
            <a:ext cx="480060" cy="4800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2834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Las conductas lesivas contra sistemas e información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3611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Acceso abusivo, interceptación, daño, hurto por medios informáticos, suplantación.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4572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Ley 1273 de 2009; Convenio de Budapest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54864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 inteligencia artificial atraviesa los tres: trata datos, produce documentos y decisiones, y abre nuevas formas de daño.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Fuentes del Derecho Informático en Colombia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717036" y="1417320"/>
            <a:ext cx="4754880" cy="64008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54196" y="1417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Constitución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Arts. 15, 20, 61, 74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91256" y="2112264"/>
            <a:ext cx="5806440" cy="640080"/>
          </a:xfrm>
          <a:prstGeom prst="rect">
            <a:avLst/>
          </a:prstGeom>
          <a:solidFill>
            <a:srgbClr val="5959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28416" y="2112264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Tratados y soft law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Convenio de Budapest (Ley 1928 de 2018); Convenio 108; Recomendación UNESCO sobre IA (2021); principios OCDE (2019)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65476" y="2807208"/>
            <a:ext cx="6858000" cy="640080"/>
          </a:xfrm>
          <a:prstGeom prst="rect">
            <a:avLst/>
          </a:prstGeom>
          <a:solidFill>
            <a:srgbClr val="4040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02636" y="280720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Leyes estatutarias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Ley 1266 de 2008; Ley 1581 de 2012; Ley 1712 de 2014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39696" y="3502152"/>
            <a:ext cx="7909560" cy="640080"/>
          </a:xfrm>
          <a:prstGeom prst="rect">
            <a:avLst/>
          </a:prstGeom>
          <a:solidFill>
            <a:srgbClr val="7373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76856" y="3502152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Leyes ordinarias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Ley 527 de 1999; Ley 1273 de 2009; Ley 1341 de 2009; Ley 2213 de 2022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13916" y="4197096"/>
            <a:ext cx="8961120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51076" y="41970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Reglamentos y regulación  </a:t>
            </a:r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Decretos 1377 de 2013 y 1074 de 2015; circulares de la SIC (002 de 2024); resoluciones CRC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88136" y="4892040"/>
            <a:ext cx="10012680" cy="640080"/>
          </a:xfrm>
          <a:prstGeom prst="rect">
            <a:avLst/>
          </a:prstGeom>
          <a:solidFill>
            <a:srgbClr val="4D4D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25296" y="489204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Jurisprudencia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T-414 de 1992; SU-082 de 1995; C-748 de 2011; T-323 de 2024; STC17832-2025; AC739-2026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2356" y="5586984"/>
            <a:ext cx="11064240" cy="640080"/>
          </a:xfrm>
          <a:prstGeom prst="rect">
            <a:avLst/>
          </a:prstGeom>
          <a:solidFill>
            <a:srgbClr val="BFB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" y="5586984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Autorregulación y código  </a:t>
            </a:r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Políticas de tratamiento, términos de servicio, estándares técnicos: la arquitectura también regula (Lessig)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Lectura asignada: qué agrega el autor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937760" cy="4663440"/>
          </a:xfrm>
          <a:prstGeom prst="roundRect">
            <a:avLst>
              <a:gd name="adj" fmla="val 1569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1460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Derecho Informático (Serie Materiales Docentes n.º 31). Lección introductoria: de la informática jurídica a la inteligencia artificial aplicada al derecho; ¿derecho informático o derecho digital?; características del derecho informático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Lorena Donoso Abarca y Carlos Reusser Monsálvez (Universidad de Chile; doctores en Derecho por la Universidad de Salamanca)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Academia Judicial de Chile, Santiago, 2021 (PDF en línea desde marzo de 2022). Complemento colombiano: Flórez Rojas, M. L. (coord.), Derecho de las tecnologías y las tecnologías para el derecho, GECTI, Ediciones Uniandes, 2022: Presentación (pp. xi-xiv) y «El papel de la academia» (pp. 44-53)</a:t>
            </a:r>
            <a:endParaRPr lang="en-US" sz="1250" dirty="0"/>
          </a:p>
          <a:p>
            <a:pPr indent="0" marL="0">
              <a:buNone/>
            </a:pPr>
            <a:r>
              <a:rPr lang="en-US" sz="1050" u="sng" dirty="0">
                <a:solidFill>
                  <a:schemeClr val="accent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https://academiajudicial.cl/wp-content/uploads/2022/03/Derecho-informatico.pdf</a:t>
            </a:r>
            <a:endParaRPr lang="en-US" sz="1250" dirty="0"/>
          </a:p>
          <a:p>
            <a:pPr indent="0" marL="0">
              <a:buNone/>
            </a:pPr>
            <a:r>
              <a:rPr lang="en-US" sz="1050" u="sng" dirty="0">
                <a:solidFill>
                  <a:schemeClr val="accent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https://ediciones.uniandes.edu.co/library/publication/derecho-de-las-tecnologias-y-las-tecnologias-para-el-derecho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417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Tres ideas para contrastar con la clase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852160" y="205740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0116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derecho informático nace de la informática jurídica y se separa de ella: una usa la tecnología como herramienta del jurista; la otra la convierte en objeto de regulación, hasta llegar hoy a la IA aplicada al derecho.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disciplina se construye desde principios y estándares (neutralidad tecnológica, mínima intervención del sistema normativo), no desde leyes puntuales que envejecen con la técnica.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52160" y="416052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41148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nombre está en disputa (¿derecho informático o derecho digital?), pero sus características y campos son estables; en Colombia el GECTI ya los había trazado en 2002 (Flórez Rojas, pp. xi-xii).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852160" y="52120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525780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Pregunta de la ficha: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¿Es el Derecho Informático una rama autónoma o un método transversal? Responda con los criterios del texto y con un ejemplo colombiano.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Siete principios estructurales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773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71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Equivalencia funcional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El mensaje de datos cumple la función del escrito, la firma y el original (Ley 527 de 1999, arts. 6 a 8).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7660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560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Neutralidad tecnológica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 norma no privilegia una tecnología concreta para no quedar obsoleta.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95478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749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No discriminación del mensaje de datos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 se le niega efecto jurídico ni fuerza probatoria por ser electrónico (Ley 527, arts. 5 y 10).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548640" y="498348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51435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937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Autodeterminación informativa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 persona decide sobre sus datos; principios del art. 4 de la Ley 1581 de 2012.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217920" y="141732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157734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040880" y="1371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Responsabilidad demostrada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Quien trata datos prueba que cumple (Decreto 1377 de 2013, arts. 26 y 27; Decreto 1074 de 2015).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217920" y="260604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276606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040880" y="2560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Supervisión humana y no sustitución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La herramienta apoya, no decide; el funcionario responde (T-323 de 2024).</a:t>
            </a:r>
            <a:endParaRPr lang="en-US" sz="1450" dirty="0"/>
          </a:p>
        </p:txBody>
      </p:sp>
      <p:sp>
        <p:nvSpPr>
          <p:cNvPr id="21" name="Shape 13"/>
          <p:cNvSpPr/>
          <p:nvPr/>
        </p:nvSpPr>
        <p:spPr>
          <a:xfrm>
            <a:off x="6217920" y="3794760"/>
            <a:ext cx="640080" cy="64008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3954780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040880" y="37490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Transparencia y explicabilidad</a:t>
            </a:r>
            <a:endParaRPr lang="en-US" sz="14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 informa que se usó la herramienta, cómo y para qué (T-323 de 2024; Circular 002 de 2024 SIC).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Problemas contemporáneos, 2024-2026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IA generativa en la justicia y en la práctica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Citas inexistentes, confidencialidad del expediente, trazabilidad de la decisión.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1691640"/>
            <a:ext cx="640080" cy="64008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8516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645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Biometría y datos sensibles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Reconocimiento facial y huella: prueba de necesidad y proporcionalidad.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75320" y="1691640"/>
            <a:ext cx="640080" cy="64008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18516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645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Deepfakes y clonación de voz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25146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Identidad, honra, prueba y fraude.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2291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Fraude digital y ciberdelincuencia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Phishing, suplantación y acceso abusivo frente a tipos penales de 2009.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29768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26280" y="4069080"/>
            <a:ext cx="640080" cy="64008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42291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Decisiones automatizadas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4526280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Crédito, salud, empleo y Estado: perfilamiento, sesgos y derecho a una explicación.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046720" y="38404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275320" y="4069080"/>
            <a:ext cx="640080" cy="64008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42291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023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Jurisdicción, territorio y brecha digital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8275320" y="48920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Proveedores en el exterior, transferencia internacional de datos, acceso efectivo a la justicia digital.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Mapa de campos y norma de cabecera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108960"/>
                <a:gridCol w="24963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que responde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de cabecera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o 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 y habeas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controla la información sobre mí?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15 C.P.; Leyes 1266 de 2008 y 1581 de 2012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T-414 de 1992; C-748 de 2011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Comercio electrónico y contratación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¿Vale lo que pacto por medios electrónicos?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527 de 1999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 por WhatsApp y correo; firma electrónica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electrónica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aporta y valora un mensaje de datos?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527, arts. 10 y 11; CGP, art. 247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Capturas de pantalla y cadena de custodia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Delitos informáticos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conductas digitales son delito?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1273 de 2009; Convenio de Budapest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abusivo; hurto por medios informáticos; suplantación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 intelectual 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 quién pertenece el software, la obra y el dato?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23 de 1982; Decisión Andina 351; Ley 1915 de 2018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Software, bases de datos, obras generadas con 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Gobierno y justicia digital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relaciona el ciudadano con el Estado en línea?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CPACA (Ley 1437 de 2011); Ley 2213 de 2022; Ley 1712 de 2014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Expediente digital; notificaciones electrónicas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Inteligencia artificial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responde por la decisión asistida por una máquina?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CONPES 4144 de 2025; Circular 002 de 2024 SIC; T-323 de 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Juez y ChatGPT; STC17832-2025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Video de apoyo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Espresso Digital, capítulo 2: La decisión de la Corte Constitucional sobre IA y su uso en la administración de justicia (fragmento de 12 a 15 minutos)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Magistrado Juan Carlos Cortés González, ponente de la T-323 de 2024, en conversación con la magistrada Diana Alexandra Remolina Botía y Ulises Canosa (ICDP)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Consejo Superior de la Judicatura, Rama Judicial (YouTube y Spotify) · 9 de septiembre de 2024 según la Rama Judicial (fecha y duración por confirmar en YouTube) · fragmento de máximo 15 min</a:t>
            </a:r>
            <a:endParaRPr lang="en-US" sz="1400" dirty="0"/>
          </a:p>
          <a:p>
            <a:pPr indent="0" marL="0">
              <a:buNone/>
            </a:pPr>
            <a:r>
              <a:rPr lang="en-US" sz="1150" u="sng" dirty="0">
                <a:solidFill>
                  <a:schemeClr val="accent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https://youtu.be/c4UEAZcz4Qc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Preguntas para la discusión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210312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057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¿Qué labores judiciales dice el ponente que la IA puede apoyar y cuáles son indelegables? Compárelo con los doce criterios de la sentencia.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329184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246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Según lo que escuchó, ¿qué debió hacer distinto el juez de Cartagena para cumplir con la transparencia y la responsabilidad?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448056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4434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Si usted fuera apoderado de la parte vencida, ¿qué argumento construiría a partir del uso de la IA en la sentencia de segunda instancia?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Descargue el video antes de la clase; no navegue en vivo. Plan B en la guía de trabajo.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Sentencia hito: Sentencia T-323 de 2024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931920" cy="4663440"/>
          </a:xfrm>
          <a:prstGeom prst="roundRect">
            <a:avLst>
              <a:gd name="adj" fmla="val 1860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8973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Corte Constitucional, Sala Segunda de Revisión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M.P. Juan Carlos Cortés González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2 de agosto de 2024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</a:rPr>
              <a:t>Expediente T-9.301.656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Tema: uso de inteligencia artificial generativa (ChatGPT) por un juez al resolver una tutela.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417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Hechos relevantes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846320" y="2057400"/>
            <a:ext cx="384048" cy="38404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201168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Una madre, en representación de su hijo con trastorno del espectro autista, presenta tutela contra su EPS: pide exoneración de copagos y cuotas moderadoras, transporte para terapias y controles, y tratamiento integral.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0175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El 7 de diciembre de 2022 un juzgado municipal de Cartagena concede el amparo. La EPS impugna.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846320" y="4069080"/>
            <a:ext cx="384048" cy="38404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402336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El 30 de enero de 2023 el Juzgado Primero Laboral del Circuito de Cartagena confirma la decisión y, para "ampliar los argumentos de la decisión adoptada", transcribe las preguntas que formuló a ChatGPT 3.5 y sus respuestas.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5074920"/>
            <a:ext cx="384048" cy="38404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394960" y="502920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Corte selecciona el caso para revisión: examina tanto la protección del niño como el uso de la IA por el juez.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Problemas jurídicos y decisión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Problemas jurídicos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384048" cy="384048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574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¿Se vulneró el debido proceso en la decisión de segunda instancia porque el juez usó ChatGPT 3.5? La Corte lo formula así: surgen dudas sobre (i) si quien emitió la decisión fue un juez de la República o una IA y (ii) si la decisión fue debidamente motivada o fue producto de respuestas o alucinaciones generadas por la 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703320"/>
            <a:ext cx="384048" cy="384048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¿Vulneró la EPS los derechos a la salud, a la vida digna y a la seguridad social del niño al no exonerarlo de copagos y cuotas moderadoras, negar el transporte por falta de orden médica y no autorizar el tratamiento integral?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371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Decisión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205740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Confirma parcialmente la segunda instancia: mantiene el amparo y lo extiende al transporte para controles y ayudas diagnósticas.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 uso de ChatGPT no usurpó la función judicial: el juez ya había decidido; no hubo violación del debido proceso ni nulidad.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Pero no se cumplieron a cabalidad la transparencia ni la responsabilidad; la privacidad sí se garantizó.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Ordena al Consejo Superior de la Judicatura expedir lineamientos en cuatro meses y a la Escuela Judicial divulgar y capacitar; exhorta a los jueces.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Ratio decidendi, regla y precedente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1600200"/>
          </a:xfrm>
          <a:prstGeom prst="roundRect">
            <a:avLst>
              <a:gd name="adj" fmla="val 4571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Ratio decidendi.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juez natural es un ser humano: la IA no puede sustituirlo en interpretar hechos, valorar pruebas, motivar y decidir. Su uso es admisible, razonable y ponderado, bajo cargas de transparencia, responsabilidad y protección de datos, sin sustituir la racionalidad humana.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20040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Regla.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El juez puede usar IA generativa como apoyo (gestión, corrección y resumen de textos) si no le delega hechos, pruebas, motivación ni decisión; evidencia el uso y su alcance en la providencia; verifica fuentes y protege los datos; y responde por el resultado. La decisión tomada por la IA sin valoración del juez es inválida.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184648"/>
            <a:ext cx="5029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Precedente. </a:t>
            </a:r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Primera alta corte colombiana que condiciona el uso de IA generativa en la decisión judicial. Origen del ABC (Circular PCSJC24-37 de 2024) y de los lineamientos de la Rama (dic. 2024); estándar aplicado en la STC17832-2025.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371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Criterios fijados por la Corte para el uso de IA en la Rama Judicial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Transparencia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52560" y="2011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2011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Responsabilidad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0" y="26974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6974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Privacidad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26974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26974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No sustitución de la racionalidad humana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33832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383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Seriedad y verificación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33832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33832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Prevención de riesgos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0" y="40690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0690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Igualdad y equidad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52560" y="40690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0" y="40690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Control humano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47548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754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Regulación ética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52560" y="47548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0" y="47548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Adecuación a buenas prácticas y estándares colectivos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0" y="5440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Seguimiento continuo y adaptación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52560" y="544068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0" y="5440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Idoneidad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Taller: la regla puesta a prueba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T-323 de 2024 (Corte Constitucional)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juez usó ChatGPT después de decidir, lo dijo en la sentencia y transcribió las respuestas. La Corte no anuló: fijó criterios y dio órdenes a la Rama Judicial.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37160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29400" y="15087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STC17832-2025 (Corte Suprema, Sala de Casación Civil)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tribunal terminó un proceso ejecutivo por desistimiento tácito citando dos providencias de la Corte Suprema con pasajes que no existían. La Corte dejó sin efectos la decisión y advirtió sobre el uso no verificado de 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Consigna (grupos de 4, 23 minutos).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Completen la matriz de la guía (hechos, problema, decisión, ratio, regla, precedente, utilidad) y respondan: ¿la regla de la T-323 habría evitado lo ocurrido en la STC17832-2025? ¿Qué le falta a la regla para el abogado litigante?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Después del taller, volvemos a la pregunta inicial: ¿cambió su respuesta?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Aplicación: tres minicasos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731520" cy="7315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auto redactado por la máquina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juez municipal pide a una IA generativa que redacte el auto que decreta pruebas y lo firma sin cambios ni mención de la herramienta.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434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¿Qué criterios de la T-323 se afectan? ¿Qué debió hacer?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645920"/>
            <a:ext cx="731520" cy="7315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tutela con la cita inexistente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06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estudiante de consultorio jurídico redacta una tutela con una IA que cita una sentencia que no existe; el juez lo advierte.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4434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Consecuencias éticas, disciplinarias y procesales. ¿Qué protocolo de verificación aplicaría?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417320"/>
            <a:ext cx="3520440" cy="4663440"/>
          </a:xfrm>
          <a:prstGeom prst="roundRect">
            <a:avLst>
              <a:gd name="adj" fmla="val 2078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1645920"/>
            <a:ext cx="731520" cy="731520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28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4400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 EPS que decide sola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26060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Una EPS usa un sistema automatizado que niega autorizaciones de servicios sin revisión humana.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44348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¿Qué derechos están en juego? ¿Qué exigiría usted como apoderado?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Cinco ideas para llevarse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630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El Derecho Informático regula la información digital y sus sistemas como objeto; la informática jurídica los usa como herramienta.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774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Es una disciplina con normas, cátedra, doctrina e instituciones propias, pero transversal a todas las ramas.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918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Sus principios vienen de tres fuentes: la equivalencia funcional (Ley 527), la autodeterminación informativa (Ley 1581) y la supervisión humana (T-323 de 2024).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2062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T-323 de 2024 no prohíbe la IA: exige transparencia, verificación, protección de datos y que el juez responda por la decisión.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384048" cy="384048"/>
          </a:xfrm>
          <a:prstGeom prst="ellipse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120640"/>
            <a:ext cx="10451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STC17832-2025 muestra el costo de no verificar: una decisión sin efectos y una advertencia a toda la judicatura.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Evaluación y cierre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Quiz de cinco preguntas (5 min)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Diferencia entre Derecho Informático e informática jurídica.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Qué principio permite que un correo electrónico valga como escrito.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Por qué la Ley 1581 de 2012 es estatutaria.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Dos criterios de la T-323 de 2024 para usar IA en la justicia.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Qué decidió la Corte Suprema en la STC17832-2025.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41732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55448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Ticket de salida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Una regla que me llevo. Una duda que me queda.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3749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3886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Ponderación sugerida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Ficha de lectura 30 % · Matriz de la sentencia 40 % · Aplicación y quiz 30 %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Próxima sesión: protección de datos personales y habeas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Lectura asignada: Lorena Donoso Abarca y Carlos Reusser Monsálvez (Universidad de Chile; doctores en Derecho por la Universidad de Salamanca). Derecho Informático (Serie Materiales Docentes n.º 31). Lección introductoria: de la informática jurídica a la inteligencia artificial aplicada al derecho; ¿derecho informático o derecho digital?; características del derecho informático. Academia Judicial de Chile, Santiago, 2021 (PDF en línea desde marzo de 2022). Complemento colombiano: Flórez Rojas, M. L. (coord.), Derecho de las tecnologías y las tecnologías para el derecho, GECTI, Ediciones Uniandes, 2022: Presentación (pp. xi-xiv) y «El papel de la academia» (pp. 44-53). https://academiajudicial.cl/wp-content/uploads/2022/03/Derecho-informatico.pdf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Corte Constitucional, Sentencia T-323 de 2024 (M.P. Juan Carlos Cortés González). Relatoría: https://www.corteconstitucional.gov.co/relatoria/2024/T-323-24.htm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Corte Suprema de Justicia, Sala de Casación Civil, STC17832-2025; Auto AC739-2026. Relatoría: https://cortesuprema.gov.co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Video de apoyo: Espresso Digital, capítulo 2: La decisión de la Corte Constitucional sobre IA y su uso en la administración de justicia (fragmento de 12 a 15 minutos) (Consejo Superior de la Judicatura, Rama Judicial (YouTube y Spotify), 9 de septiembre de 2024 según la Rama Judicial (fecha y duración por confirmar en YouTube)). https://youtu.be/c4UEAZcz4Qc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Normas: Ley 527 de 1999; Ley 1266 de 2008; Ley 1273 de 2009; Ley 1341 de 2009; Ley 1581 de 2012; Decreto 1377 de 2013; Ley 1712 de 2014; Ley 1928 de 2018; Ley 2213 de 2022; Circular Externa 002 de 2024 de la SIC; CONPES 4144 de 2025. Textos oficiales en www.suin-juriscol.gov.co y www.secretariasenado.gov.co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Doctrina de referencia: Téllez Valdés, J., Derecho informático (McGraw-Hill/UNAM); Lessig, L., Code and other laws of cyberspace (1999); Frosini, V., Cibernética, derecho y sociedad (1968); Losano, M., Giuscibernetica (1969).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Catálogo completo con estado de verificación de cada fuente: FUENTES.md en la carpeta de la clase.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recho Informatico UFPS BN">
  <a:themeElements>
    <a:clrScheme name="Derecho Informatico UFPS BN">
      <a:dk1>
        <a:srgbClr val="000000"/>
      </a:dk1>
      <a:lt1>
        <a:srgbClr val="FFFFFF"/>
      </a:lt1>
      <a:dk2>
        <a:srgbClr val="333333"/>
      </a:dk2>
      <a:lt2>
        <a:srgbClr val="EDEDED"/>
      </a:lt2>
      <a:accent1>
        <a:srgbClr val="404040"/>
      </a:accent1>
      <a:accent2>
        <a:srgbClr val="A6A6A6"/>
      </a:accent2>
      <a:accent3>
        <a:srgbClr val="737373"/>
      </a:accent3>
      <a:accent4>
        <a:srgbClr val="4D4D4D"/>
      </a:accent4>
      <a:accent5>
        <a:srgbClr val="595959"/>
      </a:accent5>
      <a:accent6>
        <a:srgbClr val="BFBFBF"/>
      </a:accent6>
      <a:hlink>
        <a:srgbClr val="404040"/>
      </a:hlink>
      <a:folHlink>
        <a:srgbClr val="666666"/>
      </a:folHlink>
    </a:clrScheme>
    <a:fontScheme name="Derecho Informatico UFPS B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Derecho Informático: clase integral (Tecnología y Derecho, UFPS)</dc:title>
  <dc:subject>PptxGenJS Presentation</dc:subject>
  <dc:creator>Mg. Carlos Arturo Ramos Mejía - Prof. Cátedra UFPS</dc:creator>
  <cp:lastModifiedBy>Mg. Carlos Arturo Ramos Mejía - Prof. Cátedra UFPS</cp:lastModifiedBy>
  <cp:revision>1</cp:revision>
  <dcterms:created xsi:type="dcterms:W3CDTF">2026-10-05T03:15:01Z</dcterms:created>
  <dcterms:modified xsi:type="dcterms:W3CDTF">2026-10-05T03:15:01Z</dcterms:modified>
</cp:coreProperties>
</file>
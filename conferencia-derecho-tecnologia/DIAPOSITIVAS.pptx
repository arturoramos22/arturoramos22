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Tres diapositivas de encuadre (tesis, mapa, deberes) y sondeo. Cronómetro visible desde el minuto 0. Anunciar la regla de confidencialidad: casos ficticios, nada de datos reales de clientes en herramientas de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Tesis: los deberes no cambiaron; cambió cómo se cumplen y cómo se prueban. Presentar los tres entregables que cada asistente se lleva. Recordatorio de 60 segundos de la lectura previa sobre la T-323 de 2024 para quien no la hizo.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sola diapositiva de marco conceptual. Pedir a mano alzada un ejemplo colombiano por cada modalidad de Lessig (ley: Ley 1581; normas: no reenviar capturas de chats; mercado: precio de la nube con servidores en Colombia; código: cifrado de extremo a extremo). Las tres capas de Gasser y Almeida se retoman en el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Hilo narrativo de toda la sesión. Cada bloque lleva la etiqueta de un deber en la esquina superior derecha.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mano alzada o con formulario por código QR. Anotar los porcentajes: se retoman en el cierre con la pregunta ¿alguien cambiaría hoy su respuesta? Cerrar con la idea de cibercompetencias (libro de Uniandes editado por María Lorena Flórez Rojas) y con el JOLT Primer: la IA ya ejecuta tareas jurídicas, pero la responsabilidad sigue siendo del abogado.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Reparto: 26 min de exposición y preguntas, 18 de video, 8 de lectura guiada, 54 de trabajo activo, 7 de pausa, 8 de cierre. Ningún bloque pasivo supera los 10 minutos. Los bloques 4 y 12 son elásticos.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Fragmento de 4 a 5 minutos de Understanding Impacts of AI on the Legal Profession (CS50 for Lawyers, Harvard) con subtítulos en español. Descargado con marcas de tiempo; no navegar en vivo. Plan B en español: Desafíos del derecho en la era de la IA (Facultad de Derecho Uniandes, 2026). Recoger solo 2 o 3 respuestas en voz alta; sin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Repartir el memorial ficticio (una página, cuatro problemas plantados), la lista de cinco puntos y las tarjetas. Minuto 0-3 consigna; 3-13 trabajo en silencio (solo aclarar la consigna); 13-15 clave proyectada y autocalificación 0-4. Regla del ejercicio: quien firma responde. Referencia real: la Corte Suprema estudió una tutela contra una decisión apoyada exclusivamente en jurisprudencia inexistente (STC17832-2025, reseñada por el Externado).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Proyectar solo al minuto 13 del ejercicio. Los números de sentencia del memorial son evidentemente inventados (letras o año imposible) para no difundir una cita falsa verosímil. Autocalificación de 0 a 4. Recoger las tarjetas con la regla de cada asistente: se consolidan en la pausa.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elástico: si el ejercicio se alargó, recortar aquí. Anotar en rotafolio las reglas propuestas: borrador del protocolo de la firma. Argumentos de la relatoría del Externado sobre la T-323: independencia judicial, debido proceso, transparencia, responsabilidad. Si hay tiempo, clip de 2-3 min de la conferencia La regulación de la IA y el Estado de Derecho (Facultad de Derecho Uniandes,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Fragmento de 6 min de la conferencia de Daniel Peña Valenzuela (Externado, 2018): contratos web click-wrap y browse-wrap y el salto al smart contract. Elegir el fragmento que contraste contrato web vs. smart contract; evitar la introducción. Puente de un minuto: la Ley 527 ya respondió validez, equivalentes funcionales y valor probatorio; lo nuevo es la ejecución automática e inmutable.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proyectada durante la lectura guiada y el Taller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Extractos de una página preparados por el facilitador; no repartir los documentos completos. 3 min lectura individual, 3 min en parejas con las tres preguntas guía, 2 min de plenaria. En la plenaria conectar (A) con el art. 247 del CGP y (B) con los remedios del derecho de obligaciones que suponen reversibilidad (nulidad, resolución, restitución), que un código inmutable no puede ejecutar por sí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Grupos de 4-5, relator y cronometrador por grupo, plantilla impresa. Circular los primeros 8 minutos respondiendo solo preguntas de comprensión. Plenaria estricta de 4 minutos: dos grupos, uno la Parte A y otro la Parte B. Fotografiar las plantillas para el paquete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Proyectar en la plenaria y marcar las diferencias con lo que produjeron los grupos. Remedio de la Parte B: incumplimiento por entrega defectuosa con pago ya ejecutado; restitución o indemnización por la vía ordinaria o arbitral, porque la inmutabilidad del código no extingue las obligaciones subyacentes (Padilla Sánchez).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minutos. Reorganizar mesas (grupos nuevos para el Taller 2), confirmar audio del Video 3, repartir plantillas de matriz y extractos traducidos de los casos de Harvard. Consolidar las tarjetas del ejercicio en un borrador de protocolo de una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Fragmento de 5 min de la conferencia de Nelson Remolina Angarita (Uniandes, 4 Foro Cloud Computing): responsable-encargado y transferencia internacional; evitar la introducción. Luego 3 min con las cinco reglas: es la chuleta del Taller 2. Confirmar en fuente primaria el texto de la Circular Externa 002 de 2024 de la SIC y el listado vigente de países con nivel adecuado. Plan B: sesión de biometría de Seminarios web 2025 del Externado o Cuarta sesión de la Mesa Multiactor sobre Regulación de IA (Externado y Uniandes).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Grupos nuevos (mezclar litigantes y asesores). Plantilla: riesgo, norma, medida o cláusula, evidencia exigible, semáforo. Primera pregunta del Toolkit ético legal de Uniandes: ¿el proyecto realmente usa IA y para qué decisiones? Pregunta incómoda al circular: ¿y si el proveedor además entrena su modelo con las historias clínicas? Resultado esperable: IA generativa condicionado con cláusulas y sin uso para entrenamiento; reconocimiento facial no, o condicionado solo si se demuestra necesidad y hay alternativa voluntaria.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Fjeld, Achten, Hilligoss, Nagy y Srikumar compararon 36 documentos de principios y hallaron ocho temas de consenso. En el taller, al menos cinco se convierten en cláusulas verificables. Resultado esperable de la matriz: IA generativa condicionado; reconocimiento facial no o condicionado.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de 3 min de Jonathan Zittrain, Openness and Oversight of Artificial Intelligence (Harvard, 2017), subtitulado. Alternativa: (Deep) Learning From the Bench (Berkman Klein). Debate: 1 min de preparación por mesa, 1 min por posición, 1 de réplica. Posición modelo: la voz puede ser dato biométrico sensible; consentimiento escrito y específico, aviso de voz sintética, marca de agua o registro, prohibición de reutilización y entrenamiento, eliminación del modelo, protocolo ante suplantación (Ley 1273 de 2009 para el fraude). Segunda pregunta: la deuda intelectual de Zittrain no es argumento para prohibir sino para exigir explicabilidad proporcional, control humano y posibilidad de impugnar. Ejemplo colombiano listo: audio en proceso laboral cuestionado por posible deepfake; enlazar con el protocolo del Taller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1: Falso; conforme al art. 247 del CGP se valoran como mensajes de datos los documentos aportados en el formato en que fueron generados, enviados o recibidos, o en otro que los reproduzca con exactitud; la simple impresión se valora según las reglas generales de los documentos. 2: cualquier tres de transparencia, responsabilidad, privacidad, no sustitución del razonamiento humano, control y supervisión humana, capacitación e idoneidad; la Corte además ordenó lineamientos para la Rama Judicial. 3: transferencia necesaria para la ejecución de un contrato entre el titular y el responsable (relación laboral), o autorización expresa e inequívoca; y bajo responsabilidad demostrada evidenciar finalidad y necesidad, instrumento que vincula a la matriz, evaluación de riesgos, medidas de seguridad y registro de evidencias (Guía GECTI).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en tres movimientos: retomar el sondeo (¿alguien cambiaría hoy su respuesta?), compromiso del lunes por escrito, y presentar el protocolo de IA consolidado con las reglas del rotafolio. Enviar el mismo día el paquete digital: plantillas, clave, extractos, protocolo y lista de fuentes. La pregunta de aplicación más exigente va por correo con retroalimentación individual.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rutas por institución. Entregar los enlaces en el paquete digital (FUENTES.md).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Catálogo completo con URL y estado de verificación en FUENTES.md. Todas las fuentes provienen de la Universidad Externado de Colombia, Harvard y la Universidad de los 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8778240" y="-1463040"/>
            <a:ext cx="4754880" cy="4754880"/>
          </a:xfrm>
          <a:prstGeom prst="ellipse">
            <a:avLst/>
          </a:prstGeom>
          <a:solidFill>
            <a:srgbClr val="0F7C90">
              <a:alpha val="30000"/>
            </a:srgbClr>
          </a:solidFill>
          <a:ln w="12700">
            <a:solidFill>
              <a:srgbClr val="0F7C90">
                <a:alpha val="30000"/>
              </a:srgbClr>
            </a:solidFill>
            <a:prstDash val="solid"/>
          </a:ln>
        </p:spPr>
      </p:sp>
      <p:sp>
        <p:nvSpPr>
          <p:cNvPr id="3" name="Shape 1"/>
          <p:cNvSpPr/>
          <p:nvPr/>
        </p:nvSpPr>
        <p:spPr>
          <a:xfrm>
            <a:off x="9966960" y="4206240"/>
            <a:ext cx="3291840" cy="3291840"/>
          </a:xfrm>
          <a:prstGeom prst="ellipse">
            <a:avLst/>
          </a:prstGeom>
          <a:solidFill>
            <a:srgbClr val="E8A33D">
              <a:alpha val="25000"/>
            </a:srgbClr>
          </a:solidFill>
          <a:ln w="12700">
            <a:solidFill>
              <a:srgbClr val="E8A33D">
                <a:alpha val="25000"/>
              </a:srgbClr>
            </a:solidFill>
            <a:prstDash val="solid"/>
          </a:ln>
        </p:spPr>
      </p:sp>
      <p:sp>
        <p:nvSpPr>
          <p:cNvPr id="4" name="Text 2"/>
          <p:cNvSpPr txBox="1"/>
          <p:nvPr/>
        </p:nvSpPr>
        <p:spPr>
          <a:xfrm>
            <a:off x="731520" y="1188720"/>
            <a:ext cx="7315200" cy="365760"/>
          </a:xfrm>
          <a:prstGeom prst="rect">
            <a:avLst/>
          </a:prstGeom>
          <a:noFill/>
          <a:ln/>
        </p:spPr>
        <p:txBody>
          <a:bodyPr wrap="square" lIns="0" tIns="0" rIns="0" bIns="0" rtlCol="0" anchor="t"/>
          <a:lstStyle/>
          <a:p>
            <a:pPr indent="0" marL="0">
              <a:buNone/>
            </a:pPr>
            <a:r>
              <a:rPr lang="en-US" sz="1400" spc="200" kern="0" dirty="0">
                <a:solidFill>
                  <a:srgbClr val="CADCFC"/>
                </a:solidFill>
                <a:latin typeface="Calibri" pitchFamily="34" charset="0"/>
                <a:ea typeface="Calibri" pitchFamily="34" charset="-122"/>
                <a:cs typeface="Calibri" pitchFamily="34" charset="-120"/>
              </a:rPr>
              <a:t>Conferencia · 120 minutos</a:t>
            </a:r>
            <a:endParaRPr lang="en-US" sz="1400" dirty="0"/>
          </a:p>
        </p:txBody>
      </p:sp>
      <p:sp>
        <p:nvSpPr>
          <p:cNvPr id="5" name="Text 3"/>
          <p:cNvSpPr txBox="1"/>
          <p:nvPr/>
        </p:nvSpPr>
        <p:spPr>
          <a:xfrm>
            <a:off x="731520" y="1645920"/>
            <a:ext cx="8412480"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Derecho y tecnología para el lunes</a:t>
            </a:r>
            <a:endParaRPr lang="en-US" sz="4800" dirty="0"/>
          </a:p>
        </p:txBody>
      </p:sp>
      <p:sp>
        <p:nvSpPr>
          <p:cNvPr id="6" name="Text 4"/>
          <p:cNvSpPr txBox="1"/>
          <p:nvPr/>
        </p:nvSpPr>
        <p:spPr>
          <a:xfrm>
            <a:off x="731520" y="3291840"/>
            <a:ext cx="7863840" cy="914400"/>
          </a:xfrm>
          <a:prstGeom prst="rect">
            <a:avLst/>
          </a:prstGeom>
          <a:noFill/>
          <a:ln/>
        </p:spPr>
        <p:txBody>
          <a:bodyPr wrap="square" lIns="0" tIns="0" rIns="0" bIns="0" rtlCol="0" anchor="t"/>
          <a:lstStyle/>
          <a:p>
            <a:pPr indent="0" marL="0">
              <a:buNone/>
            </a:pPr>
            <a:r>
              <a:rPr lang="en-US" sz="2000" dirty="0">
                <a:solidFill>
                  <a:srgbClr val="CADCFC"/>
                </a:solidFill>
                <a:latin typeface="Calibri" pitchFamily="34" charset="0"/>
                <a:ea typeface="Calibri" pitchFamily="34" charset="-122"/>
                <a:cs typeface="Calibri" pitchFamily="34" charset="-120"/>
              </a:rPr>
              <a:t>Contratos, datos personales, prueba electrónica e inteligencia artificial en la práctica del abogado colombiano</a:t>
            </a:r>
            <a:endParaRPr lang="en-US" sz="2000" dirty="0"/>
          </a:p>
        </p:txBody>
      </p:sp>
      <p:sp>
        <p:nvSpPr>
          <p:cNvPr id="7" name="Text 5"/>
          <p:cNvSpPr txBox="1"/>
          <p:nvPr/>
        </p:nvSpPr>
        <p:spPr>
          <a:xfrm>
            <a:off x="731520" y="5120640"/>
            <a:ext cx="822960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Fuentes: Universidad Externado de Colombia · Harvard (Harvard Law School, Berkman Klein Center, JOLT) · Universidad de los Andes (Facultad de Derecho, GECTI)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Qué cambia y qué no cambia para el abogado</a:t>
            </a:r>
            <a:endParaRPr lang="en-US" sz="2800" dirty="0"/>
          </a:p>
        </p:txBody>
      </p:sp>
      <p:sp>
        <p:nvSpPr>
          <p:cNvPr id="3" name="Shape 1"/>
          <p:cNvSpPr/>
          <p:nvPr/>
        </p:nvSpPr>
        <p:spPr>
          <a:xfrm>
            <a:off x="9646920" y="384048"/>
            <a:ext cx="2084832" cy="384048"/>
          </a:xfrm>
          <a:prstGeom prst="roundRect">
            <a:avLst>
              <a:gd name="adj" fmla="val 50000"/>
            </a:avLst>
          </a:prstGeom>
          <a:solidFill>
            <a:srgbClr val="1B2A41"/>
          </a:solidFill>
          <a:ln w="12700">
            <a:solidFill>
              <a:srgbClr val="1B2A41"/>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MARCO</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0-8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2</a:t>
            </a:r>
            <a:endParaRPr lang="en-US" sz="900" dirty="0"/>
          </a:p>
        </p:txBody>
      </p:sp>
      <p:sp>
        <p:nvSpPr>
          <p:cNvPr id="8" name="Shape 5"/>
          <p:cNvSpPr/>
          <p:nvPr/>
        </p:nvSpPr>
        <p:spPr>
          <a:xfrm>
            <a:off x="548640" y="1463040"/>
            <a:ext cx="5120640" cy="4389120"/>
          </a:xfrm>
          <a:prstGeom prst="roundRect">
            <a:avLst>
              <a:gd name="adj" fmla="val 2500"/>
            </a:avLst>
          </a:prstGeom>
          <a:solidFill>
            <a:srgbClr val="EAF1F6"/>
          </a:solidFill>
          <a:ln w="12700">
            <a:solidFill>
              <a:srgbClr val="EAF1F6"/>
            </a:solidFill>
            <a:prstDash val="solid"/>
          </a:ln>
        </p:spPr>
      </p:sp>
      <p:sp>
        <p:nvSpPr>
          <p:cNvPr id="9" name="Text 6"/>
          <p:cNvSpPr txBox="1"/>
          <p:nvPr/>
        </p:nvSpPr>
        <p:spPr>
          <a:xfrm>
            <a:off x="777240" y="1325880"/>
            <a:ext cx="914400" cy="1188720"/>
          </a:xfrm>
          <a:prstGeom prst="rect">
            <a:avLst/>
          </a:prstGeom>
          <a:noFill/>
          <a:ln/>
        </p:spPr>
        <p:txBody>
          <a:bodyPr wrap="square" lIns="0" tIns="0" rIns="0" bIns="0" rtlCol="0" anchor="t"/>
          <a:lstStyle/>
          <a:p>
            <a:pPr indent="0" marL="0">
              <a:buNone/>
            </a:pPr>
            <a:r>
              <a:rPr lang="en-US" sz="7200" dirty="0">
                <a:solidFill>
                  <a:srgbClr val="0F7C90"/>
                </a:solidFill>
                <a:latin typeface="Cambria" pitchFamily="34" charset="0"/>
                <a:ea typeface="Cambria" pitchFamily="34" charset="-122"/>
                <a:cs typeface="Cambria" pitchFamily="34" charset="-120"/>
              </a:rPr>
              <a:t>“</a:t>
            </a:r>
            <a:endParaRPr lang="en-US" sz="7200" dirty="0"/>
          </a:p>
        </p:txBody>
      </p:sp>
      <p:sp>
        <p:nvSpPr>
          <p:cNvPr id="10" name="Text 7"/>
          <p:cNvSpPr txBox="1"/>
          <p:nvPr/>
        </p:nvSpPr>
        <p:spPr>
          <a:xfrm>
            <a:off x="868680" y="2286000"/>
            <a:ext cx="4480560" cy="1463040"/>
          </a:xfrm>
          <a:prstGeom prst="rect">
            <a:avLst/>
          </a:prstGeom>
          <a:noFill/>
          <a:ln/>
        </p:spPr>
        <p:txBody>
          <a:bodyPr wrap="square" lIns="0" tIns="0" rIns="0" bIns="0" rtlCol="0" anchor="t"/>
          <a:lstStyle/>
          <a:p>
            <a:pPr indent="0" marL="0">
              <a:buNone/>
            </a:pPr>
            <a:r>
              <a:rPr lang="en-US" sz="2200" b="1" dirty="0">
                <a:solidFill>
                  <a:srgbClr val="1B2A41"/>
                </a:solidFill>
                <a:latin typeface="Cambria" pitchFamily="34" charset="0"/>
                <a:ea typeface="Cambria" pitchFamily="34" charset="-122"/>
                <a:cs typeface="Cambria" pitchFamily="34" charset="-120"/>
              </a:rPr>
              <a:t>Los deberes del abogado no cambiaron: diligencia, verificación, lealtad y confidencialidad.</a:t>
            </a:r>
            <a:endParaRPr lang="en-US" sz="2200" dirty="0"/>
          </a:p>
        </p:txBody>
      </p:sp>
      <p:sp>
        <p:nvSpPr>
          <p:cNvPr id="11" name="Text 8"/>
          <p:cNvSpPr txBox="1"/>
          <p:nvPr/>
        </p:nvSpPr>
        <p:spPr>
          <a:xfrm>
            <a:off x="868680" y="3931920"/>
            <a:ext cx="4480560" cy="1097280"/>
          </a:xfrm>
          <a:prstGeom prst="rect">
            <a:avLst/>
          </a:prstGeom>
          <a:noFill/>
          <a:ln/>
        </p:spPr>
        <p:txBody>
          <a:bodyPr wrap="square" lIns="0" tIns="0" rIns="0" bIns="0" rtlCol="0" anchor="t"/>
          <a:lstStyle/>
          <a:p>
            <a:pPr indent="0" marL="0">
              <a:buNone/>
            </a:pPr>
            <a:r>
              <a:rPr lang="en-US" sz="2200" i="1" dirty="0">
                <a:solidFill>
                  <a:srgbClr val="0F7C90"/>
                </a:solidFill>
                <a:latin typeface="Cambria" pitchFamily="34" charset="0"/>
                <a:ea typeface="Cambria" pitchFamily="34" charset="-122"/>
                <a:cs typeface="Cambria" pitchFamily="34" charset="-120"/>
              </a:rPr>
              <a:t>Cambió la forma en que se cumplen y la forma en que se prueban.</a:t>
            </a:r>
            <a:endParaRPr lang="en-US" sz="2200" dirty="0"/>
          </a:p>
        </p:txBody>
      </p:sp>
      <p:sp>
        <p:nvSpPr>
          <p:cNvPr id="12" name="Text 9"/>
          <p:cNvSpPr txBox="1"/>
          <p:nvPr/>
        </p:nvSpPr>
        <p:spPr>
          <a:xfrm>
            <a:off x="6126480" y="1463040"/>
            <a:ext cx="5486400" cy="457200"/>
          </a:xfrm>
          <a:prstGeom prst="rect">
            <a:avLst/>
          </a:prstGeom>
          <a:noFill/>
          <a:ln/>
        </p:spPr>
        <p:txBody>
          <a:bodyPr wrap="square" lIns="0" tIns="0" rIns="0" bIns="0" rtlCol="0" anchor="t"/>
          <a:lstStyle/>
          <a:p>
            <a:pPr indent="0" marL="0">
              <a:buNone/>
            </a:pPr>
            <a:r>
              <a:rPr lang="en-US" sz="1800" b="1" dirty="0">
                <a:solidFill>
                  <a:srgbClr val="1B2A41"/>
                </a:solidFill>
                <a:latin typeface="Calibri" pitchFamily="34" charset="0"/>
                <a:ea typeface="Calibri" pitchFamily="34" charset="-122"/>
                <a:cs typeface="Calibri" pitchFamily="34" charset="-120"/>
              </a:rPr>
              <a:t>Tres entregables para el lunes</a:t>
            </a:r>
            <a:endParaRPr lang="en-US" sz="1800" dirty="0"/>
          </a:p>
        </p:txBody>
      </p:sp>
      <p:sp>
        <p:nvSpPr>
          <p:cNvPr id="13" name="Shape 10"/>
          <p:cNvSpPr/>
          <p:nvPr/>
        </p:nvSpPr>
        <p:spPr>
          <a:xfrm>
            <a:off x="6126480" y="2057400"/>
            <a:ext cx="5486400" cy="1143000"/>
          </a:xfrm>
          <a:prstGeom prst="roundRect">
            <a:avLst>
              <a:gd name="adj" fmla="val 9600"/>
            </a:avLst>
          </a:prstGeom>
          <a:solidFill>
            <a:srgbClr val="F4F7FA"/>
          </a:solidFill>
          <a:ln w="12700">
            <a:solidFill>
              <a:srgbClr val="F4F7FA"/>
            </a:solidFill>
            <a:prstDash val="solid"/>
          </a:ln>
        </p:spPr>
      </p:sp>
      <p:sp>
        <p:nvSpPr>
          <p:cNvPr id="14" name="Shape 11"/>
          <p:cNvSpPr/>
          <p:nvPr/>
        </p:nvSpPr>
        <p:spPr>
          <a:xfrm>
            <a:off x="6309360" y="2331720"/>
            <a:ext cx="566928" cy="566928"/>
          </a:xfrm>
          <a:prstGeom prst="ellipse">
            <a:avLst/>
          </a:prstGeom>
          <a:solidFill>
            <a:srgbClr val="0F7C90"/>
          </a:solidFill>
          <a:ln w="12700">
            <a:solidFill>
              <a:srgbClr val="0F7C90"/>
            </a:solidFill>
            <a:prstDash val="solid"/>
          </a:ln>
        </p:spPr>
      </p:sp>
      <p:sp>
        <p:nvSpPr>
          <p:cNvPr id="15" name="Text 12"/>
          <p:cNvSpPr txBox="1"/>
          <p:nvPr/>
        </p:nvSpPr>
        <p:spPr>
          <a:xfrm>
            <a:off x="6309360" y="23317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6" name="Text 13"/>
          <p:cNvSpPr txBox="1"/>
          <p:nvPr/>
        </p:nvSpPr>
        <p:spPr>
          <a:xfrm>
            <a:off x="7040880" y="2194560"/>
            <a:ext cx="4434840" cy="457200"/>
          </a:xfrm>
          <a:prstGeom prst="rect">
            <a:avLst/>
          </a:prstGeom>
          <a:noFill/>
          <a:ln/>
        </p:spPr>
        <p:txBody>
          <a:bodyPr wrap="square" lIns="0" tIns="0" rIns="0" bIns="0" rtlCol="0" anchor="t"/>
          <a:lstStyle/>
          <a:p>
            <a:pPr indent="0" marL="0">
              <a:buNone/>
            </a:pPr>
            <a:r>
              <a:rPr lang="en-US" sz="1500" b="1" dirty="0">
                <a:solidFill>
                  <a:srgbClr val="1B2A41"/>
                </a:solidFill>
                <a:latin typeface="Calibri" pitchFamily="34" charset="0"/>
                <a:ea typeface="Calibri" pitchFamily="34" charset="-122"/>
                <a:cs typeface="Calibri" pitchFamily="34" charset="-120"/>
              </a:rPr>
              <a:t>Protocolo de uso y verificación de IA generativa de la firma</a:t>
            </a:r>
            <a:endParaRPr lang="en-US" sz="1500" dirty="0"/>
          </a:p>
        </p:txBody>
      </p:sp>
      <p:sp>
        <p:nvSpPr>
          <p:cNvPr id="17" name="Text 14"/>
          <p:cNvSpPr txBox="1"/>
          <p:nvPr/>
        </p:nvSpPr>
        <p:spPr>
          <a:xfrm>
            <a:off x="7040880" y="2624328"/>
            <a:ext cx="4434840" cy="54864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Se construye con las reglas que ustedes escriban en el ejercicio individual.</a:t>
            </a:r>
            <a:endParaRPr lang="en-US" sz="1200" dirty="0"/>
          </a:p>
        </p:txBody>
      </p:sp>
      <p:sp>
        <p:nvSpPr>
          <p:cNvPr id="18" name="Shape 15"/>
          <p:cNvSpPr/>
          <p:nvPr/>
        </p:nvSpPr>
        <p:spPr>
          <a:xfrm>
            <a:off x="6126480" y="3337560"/>
            <a:ext cx="5486400" cy="1143000"/>
          </a:xfrm>
          <a:prstGeom prst="roundRect">
            <a:avLst>
              <a:gd name="adj" fmla="val 9600"/>
            </a:avLst>
          </a:prstGeom>
          <a:solidFill>
            <a:srgbClr val="F4F7FA"/>
          </a:solidFill>
          <a:ln w="12700">
            <a:solidFill>
              <a:srgbClr val="F4F7FA"/>
            </a:solidFill>
            <a:prstDash val="solid"/>
          </a:ln>
        </p:spPr>
      </p:sp>
      <p:sp>
        <p:nvSpPr>
          <p:cNvPr id="19" name="Shape 16"/>
          <p:cNvSpPr/>
          <p:nvPr/>
        </p:nvSpPr>
        <p:spPr>
          <a:xfrm>
            <a:off x="6309360" y="3611880"/>
            <a:ext cx="566928" cy="566928"/>
          </a:xfrm>
          <a:prstGeom prst="ellipse">
            <a:avLst/>
          </a:prstGeom>
          <a:solidFill>
            <a:srgbClr val="0F7C90"/>
          </a:solidFill>
          <a:ln w="12700">
            <a:solidFill>
              <a:srgbClr val="0F7C90"/>
            </a:solidFill>
            <a:prstDash val="solid"/>
          </a:ln>
        </p:spPr>
      </p:sp>
      <p:sp>
        <p:nvSpPr>
          <p:cNvPr id="20" name="Text 17"/>
          <p:cNvSpPr txBox="1"/>
          <p:nvPr/>
        </p:nvSpPr>
        <p:spPr>
          <a:xfrm>
            <a:off x="6309360" y="36118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21" name="Text 18"/>
          <p:cNvSpPr txBox="1"/>
          <p:nvPr/>
        </p:nvSpPr>
        <p:spPr>
          <a:xfrm>
            <a:off x="7040880" y="3474720"/>
            <a:ext cx="4434840" cy="457200"/>
          </a:xfrm>
          <a:prstGeom prst="rect">
            <a:avLst/>
          </a:prstGeom>
          <a:noFill/>
          <a:ln/>
        </p:spPr>
        <p:txBody>
          <a:bodyPr wrap="square" lIns="0" tIns="0" rIns="0" bIns="0" rtlCol="0" anchor="t"/>
          <a:lstStyle/>
          <a:p>
            <a:pPr indent="0" marL="0">
              <a:buNone/>
            </a:pPr>
            <a:r>
              <a:rPr lang="en-US" sz="1500" b="1" dirty="0">
                <a:solidFill>
                  <a:srgbClr val="1B2A41"/>
                </a:solidFill>
                <a:latin typeface="Calibri" pitchFamily="34" charset="0"/>
                <a:ea typeface="Calibri" pitchFamily="34" charset="-122"/>
                <a:cs typeface="Calibri" pitchFamily="34" charset="-120"/>
              </a:rPr>
              <a:t>Protocolo de conservación y aportación de mensajes de datos</a:t>
            </a:r>
            <a:endParaRPr lang="en-US" sz="1500" dirty="0"/>
          </a:p>
        </p:txBody>
      </p:sp>
      <p:sp>
        <p:nvSpPr>
          <p:cNvPr id="22" name="Text 19"/>
          <p:cNvSpPr txBox="1"/>
          <p:nvPr/>
        </p:nvSpPr>
        <p:spPr>
          <a:xfrm>
            <a:off x="7040880" y="3904488"/>
            <a:ext cx="4434840" cy="54864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Seis casillas y dos cláusulas modelo para contratos con ejecución automatizada (Taller 1).</a:t>
            </a:r>
            <a:endParaRPr lang="en-US" sz="1200" dirty="0"/>
          </a:p>
        </p:txBody>
      </p:sp>
      <p:sp>
        <p:nvSpPr>
          <p:cNvPr id="23" name="Shape 20"/>
          <p:cNvSpPr/>
          <p:nvPr/>
        </p:nvSpPr>
        <p:spPr>
          <a:xfrm>
            <a:off x="6126480" y="4617720"/>
            <a:ext cx="5486400" cy="1143000"/>
          </a:xfrm>
          <a:prstGeom prst="roundRect">
            <a:avLst>
              <a:gd name="adj" fmla="val 9600"/>
            </a:avLst>
          </a:prstGeom>
          <a:solidFill>
            <a:srgbClr val="F4F7FA"/>
          </a:solidFill>
          <a:ln w="12700">
            <a:solidFill>
              <a:srgbClr val="F4F7FA"/>
            </a:solidFill>
            <a:prstDash val="solid"/>
          </a:ln>
        </p:spPr>
      </p:sp>
      <p:sp>
        <p:nvSpPr>
          <p:cNvPr id="24" name="Shape 21"/>
          <p:cNvSpPr/>
          <p:nvPr/>
        </p:nvSpPr>
        <p:spPr>
          <a:xfrm>
            <a:off x="6309360" y="4892040"/>
            <a:ext cx="566928" cy="566928"/>
          </a:xfrm>
          <a:prstGeom prst="ellipse">
            <a:avLst/>
          </a:prstGeom>
          <a:solidFill>
            <a:srgbClr val="0F7C90"/>
          </a:solidFill>
          <a:ln w="12700">
            <a:solidFill>
              <a:srgbClr val="0F7C90"/>
            </a:solidFill>
            <a:prstDash val="solid"/>
          </a:ln>
        </p:spPr>
      </p:sp>
      <p:sp>
        <p:nvSpPr>
          <p:cNvPr id="25" name="Text 22"/>
          <p:cNvSpPr txBox="1"/>
          <p:nvPr/>
        </p:nvSpPr>
        <p:spPr>
          <a:xfrm>
            <a:off x="6309360" y="48920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6" name="Text 23"/>
          <p:cNvSpPr txBox="1"/>
          <p:nvPr/>
        </p:nvSpPr>
        <p:spPr>
          <a:xfrm>
            <a:off x="7040880" y="4754880"/>
            <a:ext cx="4434840" cy="457200"/>
          </a:xfrm>
          <a:prstGeom prst="rect">
            <a:avLst/>
          </a:prstGeom>
          <a:noFill/>
          <a:ln/>
        </p:spPr>
        <p:txBody>
          <a:bodyPr wrap="square" lIns="0" tIns="0" rIns="0" bIns="0" rtlCol="0" anchor="t"/>
          <a:lstStyle/>
          <a:p>
            <a:pPr indent="0" marL="0">
              <a:buNone/>
            </a:pPr>
            <a:r>
              <a:rPr lang="en-US" sz="1500" b="1" dirty="0">
                <a:solidFill>
                  <a:srgbClr val="1B2A41"/>
                </a:solidFill>
                <a:latin typeface="Calibri" pitchFamily="34" charset="0"/>
                <a:ea typeface="Calibri" pitchFamily="34" charset="-122"/>
                <a:cs typeface="Calibri" pitchFamily="34" charset="-120"/>
              </a:rPr>
              <a:t>Matriz de due diligence de datos e IA para proveedores</a:t>
            </a:r>
            <a:endParaRPr lang="en-US" sz="1500" dirty="0"/>
          </a:p>
        </p:txBody>
      </p:sp>
      <p:sp>
        <p:nvSpPr>
          <p:cNvPr id="27" name="Text 24"/>
          <p:cNvSpPr txBox="1"/>
          <p:nvPr/>
        </p:nvSpPr>
        <p:spPr>
          <a:xfrm>
            <a:off x="7040880" y="5184648"/>
            <a:ext cx="4434840" cy="54864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Con semáforo y lista de cláusulas exigibles (Taller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El mapa: cuatro modalidades y tres capas</a:t>
            </a:r>
            <a:endParaRPr lang="en-US" sz="2800" dirty="0"/>
          </a:p>
        </p:txBody>
      </p:sp>
      <p:sp>
        <p:nvSpPr>
          <p:cNvPr id="3" name="Shape 1"/>
          <p:cNvSpPr/>
          <p:nvPr/>
        </p:nvSpPr>
        <p:spPr>
          <a:xfrm>
            <a:off x="9646920" y="384048"/>
            <a:ext cx="2084832" cy="384048"/>
          </a:xfrm>
          <a:prstGeom prst="roundRect">
            <a:avLst>
              <a:gd name="adj" fmla="val 50000"/>
            </a:avLst>
          </a:prstGeom>
          <a:solidFill>
            <a:srgbClr val="1B2A41"/>
          </a:solidFill>
          <a:ln w="12700">
            <a:solidFill>
              <a:srgbClr val="1B2A41"/>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MARCO</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0-8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3</a:t>
            </a:r>
            <a:endParaRPr lang="en-US" sz="900" dirty="0"/>
          </a:p>
        </p:txBody>
      </p:sp>
      <p:sp>
        <p:nvSpPr>
          <p:cNvPr id="8" name="Text 5"/>
          <p:cNvSpPr txBox="1"/>
          <p:nvPr/>
        </p:nvSpPr>
        <p:spPr>
          <a:xfrm>
            <a:off x="548640" y="1371600"/>
            <a:ext cx="5669280" cy="365760"/>
          </a:xfrm>
          <a:prstGeom prst="rect">
            <a:avLst/>
          </a:prstGeom>
          <a:noFill/>
          <a:ln/>
        </p:spPr>
        <p:txBody>
          <a:bodyPr wrap="square" lIns="0" tIns="0" rIns="0" bIns="0" rtlCol="0" anchor="t"/>
          <a:lstStyle/>
          <a:p>
            <a:pPr indent="0" marL="0">
              <a:buNone/>
            </a:pPr>
            <a:r>
              <a:rPr lang="en-US" sz="1500" b="1" dirty="0">
                <a:solidFill>
                  <a:srgbClr val="0F7C90"/>
                </a:solidFill>
                <a:latin typeface="Calibri" pitchFamily="34" charset="0"/>
                <a:ea typeface="Calibri" pitchFamily="34" charset="-122"/>
                <a:cs typeface="Calibri" pitchFamily="34" charset="-120"/>
              </a:rPr>
              <a:t>Lawrence Lessig · «Code Is Law» (Harvard Magazine, 2000)</a:t>
            </a:r>
            <a:endParaRPr lang="en-US" sz="1500" dirty="0"/>
          </a:p>
        </p:txBody>
      </p:sp>
      <p:sp>
        <p:nvSpPr>
          <p:cNvPr id="9" name="Text 6"/>
          <p:cNvSpPr txBox="1"/>
          <p:nvPr/>
        </p:nvSpPr>
        <p:spPr>
          <a:xfrm>
            <a:off x="548640" y="1737360"/>
            <a:ext cx="5669280" cy="54864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La arquitectura técnica regula la conducta tanto o más que la norma. Cuatro modalidades:</a:t>
            </a:r>
            <a:endParaRPr lang="en-US" sz="1300" dirty="0"/>
          </a:p>
        </p:txBody>
      </p:sp>
      <p:sp>
        <p:nvSpPr>
          <p:cNvPr id="10" name="Shape 7"/>
          <p:cNvSpPr/>
          <p:nvPr/>
        </p:nvSpPr>
        <p:spPr>
          <a:xfrm>
            <a:off x="548640" y="2377440"/>
            <a:ext cx="2697480" cy="1234440"/>
          </a:xfrm>
          <a:prstGeom prst="roundRect">
            <a:avLst>
              <a:gd name="adj" fmla="val 8889"/>
            </a:avLst>
          </a:prstGeom>
          <a:solidFill>
            <a:srgbClr val="EAF1F6"/>
          </a:solidFill>
          <a:ln w="12700">
            <a:solidFill>
              <a:srgbClr val="EAF1F6"/>
            </a:solidFill>
            <a:prstDash val="solid"/>
          </a:ln>
        </p:spPr>
      </p:sp>
      <p:sp>
        <p:nvSpPr>
          <p:cNvPr id="11" name="Text 8"/>
          <p:cNvSpPr txBox="1"/>
          <p:nvPr/>
        </p:nvSpPr>
        <p:spPr>
          <a:xfrm>
            <a:off x="731520" y="2514600"/>
            <a:ext cx="2377440" cy="41148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Ley</a:t>
            </a:r>
            <a:endParaRPr lang="en-US" sz="1600" dirty="0"/>
          </a:p>
        </p:txBody>
      </p:sp>
      <p:sp>
        <p:nvSpPr>
          <p:cNvPr id="12" name="Text 9"/>
          <p:cNvSpPr txBox="1"/>
          <p:nvPr/>
        </p:nvSpPr>
        <p:spPr>
          <a:xfrm>
            <a:off x="731520" y="2944368"/>
            <a:ext cx="2377440" cy="59436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Ej.: Ley 1581 de 2012</a:t>
            </a:r>
            <a:endParaRPr lang="en-US" sz="1200" dirty="0"/>
          </a:p>
        </p:txBody>
      </p:sp>
      <p:sp>
        <p:nvSpPr>
          <p:cNvPr id="13" name="Shape 10"/>
          <p:cNvSpPr/>
          <p:nvPr/>
        </p:nvSpPr>
        <p:spPr>
          <a:xfrm>
            <a:off x="3429000" y="2377440"/>
            <a:ext cx="2697480" cy="1234440"/>
          </a:xfrm>
          <a:prstGeom prst="roundRect">
            <a:avLst>
              <a:gd name="adj" fmla="val 8889"/>
            </a:avLst>
          </a:prstGeom>
          <a:solidFill>
            <a:srgbClr val="EAF1F6"/>
          </a:solidFill>
          <a:ln w="12700">
            <a:solidFill>
              <a:srgbClr val="EAF1F6"/>
            </a:solidFill>
            <a:prstDash val="solid"/>
          </a:ln>
        </p:spPr>
      </p:sp>
      <p:sp>
        <p:nvSpPr>
          <p:cNvPr id="14" name="Text 11"/>
          <p:cNvSpPr txBox="1"/>
          <p:nvPr/>
        </p:nvSpPr>
        <p:spPr>
          <a:xfrm>
            <a:off x="3611880" y="2514600"/>
            <a:ext cx="2377440" cy="41148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Normas sociales</a:t>
            </a:r>
            <a:endParaRPr lang="en-US" sz="1600" dirty="0"/>
          </a:p>
        </p:txBody>
      </p:sp>
      <p:sp>
        <p:nvSpPr>
          <p:cNvPr id="15" name="Text 12"/>
          <p:cNvSpPr txBox="1"/>
          <p:nvPr/>
        </p:nvSpPr>
        <p:spPr>
          <a:xfrm>
            <a:off x="3611880" y="2944368"/>
            <a:ext cx="2377440" cy="59436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Ej.: No reenviar capturas de chats privados</a:t>
            </a:r>
            <a:endParaRPr lang="en-US" sz="1200" dirty="0"/>
          </a:p>
        </p:txBody>
      </p:sp>
      <p:sp>
        <p:nvSpPr>
          <p:cNvPr id="16" name="Shape 13"/>
          <p:cNvSpPr/>
          <p:nvPr/>
        </p:nvSpPr>
        <p:spPr>
          <a:xfrm>
            <a:off x="548640" y="3794760"/>
            <a:ext cx="2697480" cy="1234440"/>
          </a:xfrm>
          <a:prstGeom prst="roundRect">
            <a:avLst>
              <a:gd name="adj" fmla="val 8889"/>
            </a:avLst>
          </a:prstGeom>
          <a:solidFill>
            <a:srgbClr val="EAF1F6"/>
          </a:solidFill>
          <a:ln w="12700">
            <a:solidFill>
              <a:srgbClr val="EAF1F6"/>
            </a:solidFill>
            <a:prstDash val="solid"/>
          </a:ln>
        </p:spPr>
      </p:sp>
      <p:sp>
        <p:nvSpPr>
          <p:cNvPr id="17" name="Text 14"/>
          <p:cNvSpPr txBox="1"/>
          <p:nvPr/>
        </p:nvSpPr>
        <p:spPr>
          <a:xfrm>
            <a:off x="731520" y="3931920"/>
            <a:ext cx="2377440" cy="41148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Mercado</a:t>
            </a:r>
            <a:endParaRPr lang="en-US" sz="1600" dirty="0"/>
          </a:p>
        </p:txBody>
      </p:sp>
      <p:sp>
        <p:nvSpPr>
          <p:cNvPr id="18" name="Text 15"/>
          <p:cNvSpPr txBox="1"/>
          <p:nvPr/>
        </p:nvSpPr>
        <p:spPr>
          <a:xfrm>
            <a:off x="731520" y="4361688"/>
            <a:ext cx="2377440" cy="59436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Ej.: Precio de la nube con servidores en Colombia</a:t>
            </a:r>
            <a:endParaRPr lang="en-US" sz="1200" dirty="0"/>
          </a:p>
        </p:txBody>
      </p:sp>
      <p:sp>
        <p:nvSpPr>
          <p:cNvPr id="19" name="Shape 16"/>
          <p:cNvSpPr/>
          <p:nvPr/>
        </p:nvSpPr>
        <p:spPr>
          <a:xfrm>
            <a:off x="3429000" y="3794760"/>
            <a:ext cx="2697480" cy="1234440"/>
          </a:xfrm>
          <a:prstGeom prst="roundRect">
            <a:avLst>
              <a:gd name="adj" fmla="val 8889"/>
            </a:avLst>
          </a:prstGeom>
          <a:solidFill>
            <a:srgbClr val="EAF1F6"/>
          </a:solidFill>
          <a:ln w="12700">
            <a:solidFill>
              <a:srgbClr val="EAF1F6"/>
            </a:solidFill>
            <a:prstDash val="solid"/>
          </a:ln>
        </p:spPr>
      </p:sp>
      <p:sp>
        <p:nvSpPr>
          <p:cNvPr id="20" name="Text 17"/>
          <p:cNvSpPr txBox="1"/>
          <p:nvPr/>
        </p:nvSpPr>
        <p:spPr>
          <a:xfrm>
            <a:off x="3611880" y="3931920"/>
            <a:ext cx="2377440" cy="41148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Arquitectura / código</a:t>
            </a:r>
            <a:endParaRPr lang="en-US" sz="1600" dirty="0"/>
          </a:p>
        </p:txBody>
      </p:sp>
      <p:sp>
        <p:nvSpPr>
          <p:cNvPr id="21" name="Text 18"/>
          <p:cNvSpPr txBox="1"/>
          <p:nvPr/>
        </p:nvSpPr>
        <p:spPr>
          <a:xfrm>
            <a:off x="3611880" y="4361688"/>
            <a:ext cx="2377440" cy="59436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Ej.: Cifrado de extremo a extremo</a:t>
            </a:r>
            <a:endParaRPr lang="en-US" sz="1200" dirty="0"/>
          </a:p>
        </p:txBody>
      </p:sp>
      <p:sp>
        <p:nvSpPr>
          <p:cNvPr id="22" name="Text 19"/>
          <p:cNvSpPr txBox="1"/>
          <p:nvPr/>
        </p:nvSpPr>
        <p:spPr>
          <a:xfrm>
            <a:off x="548640" y="5349240"/>
            <a:ext cx="5669280" cy="365760"/>
          </a:xfrm>
          <a:prstGeom prst="rect">
            <a:avLst/>
          </a:prstGeom>
          <a:noFill/>
          <a:ln/>
        </p:spPr>
        <p:txBody>
          <a:bodyPr wrap="square" lIns="0" tIns="0" rIns="0" bIns="0" rtlCol="0" anchor="t"/>
          <a:lstStyle/>
          <a:p>
            <a:pPr indent="0" marL="0">
              <a:buNone/>
            </a:pPr>
            <a:r>
              <a:rPr lang="en-US" sz="1400" i="1" dirty="0">
                <a:solidFill>
                  <a:srgbClr val="0F7C90"/>
                </a:solidFill>
                <a:latin typeface="Calibri" pitchFamily="34" charset="0"/>
                <a:ea typeface="Calibri" pitchFamily="34" charset="-122"/>
                <a:cs typeface="Calibri" pitchFamily="34" charset="-120"/>
              </a:rPr>
              <a:t>¿Un ejemplo colombiano de cada una?</a:t>
            </a:r>
            <a:endParaRPr lang="en-US" sz="1400" dirty="0"/>
          </a:p>
        </p:txBody>
      </p:sp>
      <p:sp>
        <p:nvSpPr>
          <p:cNvPr id="23" name="Text 20"/>
          <p:cNvSpPr txBox="1"/>
          <p:nvPr/>
        </p:nvSpPr>
        <p:spPr>
          <a:xfrm>
            <a:off x="6675120" y="1371600"/>
            <a:ext cx="5029200" cy="548640"/>
          </a:xfrm>
          <a:prstGeom prst="rect">
            <a:avLst/>
          </a:prstGeom>
          <a:noFill/>
          <a:ln/>
        </p:spPr>
        <p:txBody>
          <a:bodyPr wrap="square" lIns="0" tIns="0" rIns="0" bIns="0" rtlCol="0" anchor="t"/>
          <a:lstStyle/>
          <a:p>
            <a:pPr indent="0" marL="0">
              <a:buNone/>
            </a:pPr>
            <a:r>
              <a:rPr lang="en-US" sz="1500" b="1" dirty="0">
                <a:solidFill>
                  <a:srgbClr val="0F7C90"/>
                </a:solidFill>
                <a:latin typeface="Calibri" pitchFamily="34" charset="0"/>
                <a:ea typeface="Calibri" pitchFamily="34" charset="-122"/>
                <a:cs typeface="Calibri" pitchFamily="34" charset="-120"/>
              </a:rPr>
              <a:t>Urs Gasser y Virgílio Almeida · «A Layered Model for AI Governance» (Harvard, 2017)</a:t>
            </a:r>
            <a:endParaRPr lang="en-US" sz="1500" dirty="0"/>
          </a:p>
        </p:txBody>
      </p:sp>
      <p:sp>
        <p:nvSpPr>
          <p:cNvPr id="24" name="Shape 21"/>
          <p:cNvSpPr/>
          <p:nvPr/>
        </p:nvSpPr>
        <p:spPr>
          <a:xfrm>
            <a:off x="6675120" y="2377440"/>
            <a:ext cx="5029200" cy="914400"/>
          </a:xfrm>
          <a:prstGeom prst="roundRect">
            <a:avLst>
              <a:gd name="adj" fmla="val 10000"/>
            </a:avLst>
          </a:prstGeom>
          <a:solidFill>
            <a:srgbClr val="1B2A41"/>
          </a:solidFill>
          <a:ln w="12700">
            <a:solidFill>
              <a:srgbClr val="1B2A41"/>
            </a:solidFill>
            <a:prstDash val="solid"/>
          </a:ln>
        </p:spPr>
      </p:sp>
      <p:sp>
        <p:nvSpPr>
          <p:cNvPr id="25" name="Text 22"/>
          <p:cNvSpPr txBox="1"/>
          <p:nvPr/>
        </p:nvSpPr>
        <p:spPr>
          <a:xfrm>
            <a:off x="6858000" y="2487168"/>
            <a:ext cx="466344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Capa social y legal</a:t>
            </a:r>
            <a:endParaRPr lang="en-US" sz="1600" dirty="0"/>
          </a:p>
        </p:txBody>
      </p:sp>
      <p:sp>
        <p:nvSpPr>
          <p:cNvPr id="26" name="Text 23"/>
          <p:cNvSpPr txBox="1"/>
          <p:nvPr/>
        </p:nvSpPr>
        <p:spPr>
          <a:xfrm>
            <a:off x="6858000" y="2852928"/>
            <a:ext cx="4663440" cy="3657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Normas, regulación, jurisprudencia</a:t>
            </a:r>
            <a:endParaRPr lang="en-US" sz="1200" dirty="0"/>
          </a:p>
        </p:txBody>
      </p:sp>
      <p:sp>
        <p:nvSpPr>
          <p:cNvPr id="27" name="Shape 24"/>
          <p:cNvSpPr/>
          <p:nvPr/>
        </p:nvSpPr>
        <p:spPr>
          <a:xfrm>
            <a:off x="6995160" y="3474720"/>
            <a:ext cx="4389120" cy="914400"/>
          </a:xfrm>
          <a:prstGeom prst="roundRect">
            <a:avLst>
              <a:gd name="adj" fmla="val 10000"/>
            </a:avLst>
          </a:prstGeom>
          <a:solidFill>
            <a:srgbClr val="0F7C90"/>
          </a:solidFill>
          <a:ln w="12700">
            <a:solidFill>
              <a:srgbClr val="0F7C90"/>
            </a:solidFill>
            <a:prstDash val="solid"/>
          </a:ln>
        </p:spPr>
      </p:sp>
      <p:sp>
        <p:nvSpPr>
          <p:cNvPr id="28" name="Text 25"/>
          <p:cNvSpPr txBox="1"/>
          <p:nvPr/>
        </p:nvSpPr>
        <p:spPr>
          <a:xfrm>
            <a:off x="7178040" y="3584448"/>
            <a:ext cx="402336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Capa ética</a:t>
            </a:r>
            <a:endParaRPr lang="en-US" sz="1600" dirty="0"/>
          </a:p>
        </p:txBody>
      </p:sp>
      <p:sp>
        <p:nvSpPr>
          <p:cNvPr id="29" name="Text 26"/>
          <p:cNvSpPr txBox="1"/>
          <p:nvPr/>
        </p:nvSpPr>
        <p:spPr>
          <a:xfrm>
            <a:off x="7178040" y="3950208"/>
            <a:ext cx="4023360" cy="3657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Principios, criterios de legitimidad</a:t>
            </a:r>
            <a:endParaRPr lang="en-US" sz="1200" dirty="0"/>
          </a:p>
        </p:txBody>
      </p:sp>
      <p:sp>
        <p:nvSpPr>
          <p:cNvPr id="30" name="Shape 27"/>
          <p:cNvSpPr/>
          <p:nvPr/>
        </p:nvSpPr>
        <p:spPr>
          <a:xfrm>
            <a:off x="7315200" y="4572000"/>
            <a:ext cx="3749040" cy="914400"/>
          </a:xfrm>
          <a:prstGeom prst="roundRect">
            <a:avLst>
              <a:gd name="adj" fmla="val 10000"/>
            </a:avLst>
          </a:prstGeom>
          <a:solidFill>
            <a:srgbClr val="E8A33D"/>
          </a:solidFill>
          <a:ln w="12700">
            <a:solidFill>
              <a:srgbClr val="E8A33D"/>
            </a:solidFill>
            <a:prstDash val="solid"/>
          </a:ln>
        </p:spPr>
      </p:sp>
      <p:sp>
        <p:nvSpPr>
          <p:cNvPr id="31" name="Text 28"/>
          <p:cNvSpPr txBox="1"/>
          <p:nvPr/>
        </p:nvSpPr>
        <p:spPr>
          <a:xfrm>
            <a:off x="7498080" y="4681728"/>
            <a:ext cx="338328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Capa técnica</a:t>
            </a:r>
            <a:endParaRPr lang="en-US" sz="1600" dirty="0"/>
          </a:p>
        </p:txBody>
      </p:sp>
      <p:sp>
        <p:nvSpPr>
          <p:cNvPr id="32" name="Text 29"/>
          <p:cNvSpPr txBox="1"/>
          <p:nvPr/>
        </p:nvSpPr>
        <p:spPr>
          <a:xfrm>
            <a:off x="7498080" y="5047488"/>
            <a:ext cx="3383280" cy="3657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Datos, algoritmos, arquitectura del código</a:t>
            </a:r>
            <a:endParaRPr lang="en-US" sz="1200" dirty="0"/>
          </a:p>
        </p:txBody>
      </p:sp>
      <p:sp>
        <p:nvSpPr>
          <p:cNvPr id="33" name="Text 30"/>
          <p:cNvSpPr txBox="1"/>
          <p:nvPr/>
        </p:nvSpPr>
        <p:spPr>
          <a:xfrm>
            <a:off x="6675120" y="5715000"/>
            <a:ext cx="5029200" cy="548640"/>
          </a:xfrm>
          <a:prstGeom prst="rect">
            <a:avLst/>
          </a:prstGeom>
          <a:noFill/>
          <a:ln/>
        </p:spPr>
        <p:txBody>
          <a:bodyPr wrap="square" lIns="0" tIns="0" rIns="0" bIns="0" rtlCol="0" anchor="t"/>
          <a:lstStyle/>
          <a:p>
            <a:pPr indent="0" marL="0">
              <a:buNone/>
            </a:pPr>
            <a:r>
              <a:rPr lang="en-US" sz="1200" i="1" dirty="0">
                <a:solidFill>
                  <a:srgbClr val="4A5568"/>
                </a:solidFill>
                <a:latin typeface="Calibri" pitchFamily="34" charset="0"/>
                <a:ea typeface="Calibri" pitchFamily="34" charset="-122"/>
                <a:cs typeface="Calibri" pitchFamily="34" charset="-120"/>
              </a:rPr>
              <a:t>El derecho actúa sobre todo en la capa superior; muchos problemas de hoy solo se resuelven en las de abajo.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Cuatro deberes, cuatro bloques</a:t>
            </a:r>
            <a:endParaRPr lang="en-US" sz="2800" dirty="0"/>
          </a:p>
        </p:txBody>
      </p:sp>
      <p:sp>
        <p:nvSpPr>
          <p:cNvPr id="3" name="Shape 1"/>
          <p:cNvSpPr/>
          <p:nvPr/>
        </p:nvSpPr>
        <p:spPr>
          <a:xfrm>
            <a:off x="9646920" y="384048"/>
            <a:ext cx="2084832" cy="384048"/>
          </a:xfrm>
          <a:prstGeom prst="roundRect">
            <a:avLst>
              <a:gd name="adj" fmla="val 50000"/>
            </a:avLst>
          </a:prstGeom>
          <a:solidFill>
            <a:srgbClr val="1B2A41"/>
          </a:solidFill>
          <a:ln w="12700">
            <a:solidFill>
              <a:srgbClr val="1B2A41"/>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MARCO</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0-8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4</a:t>
            </a:r>
            <a:endParaRPr lang="en-US" sz="900" dirty="0"/>
          </a:p>
        </p:txBody>
      </p:sp>
      <p:sp>
        <p:nvSpPr>
          <p:cNvPr id="8" name="Shape 5"/>
          <p:cNvSpPr/>
          <p:nvPr/>
        </p:nvSpPr>
        <p:spPr>
          <a:xfrm>
            <a:off x="548640" y="1463040"/>
            <a:ext cx="2651760" cy="4572000"/>
          </a:xfrm>
          <a:prstGeom prst="roundRect">
            <a:avLst>
              <a:gd name="adj" fmla="val 4138"/>
            </a:avLst>
          </a:prstGeom>
          <a:solidFill>
            <a:srgbClr val="F4F7FA"/>
          </a:solidFill>
          <a:ln w="12700">
            <a:solidFill>
              <a:srgbClr val="F4F7FA"/>
            </a:solidFill>
            <a:prstDash val="solid"/>
          </a:ln>
        </p:spPr>
      </p:sp>
      <p:sp>
        <p:nvSpPr>
          <p:cNvPr id="9" name="Shape 6"/>
          <p:cNvSpPr/>
          <p:nvPr/>
        </p:nvSpPr>
        <p:spPr>
          <a:xfrm>
            <a:off x="1417320" y="1737360"/>
            <a:ext cx="914400" cy="914400"/>
          </a:xfrm>
          <a:prstGeom prst="ellipse">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1"/>
          <a:stretch>
            <a:fillRect/>
          </a:stretch>
        </p:blipFill>
        <p:spPr>
          <a:xfrm>
            <a:off x="1645920" y="1965960"/>
            <a:ext cx="457200" cy="457200"/>
          </a:xfrm>
          <a:prstGeom prst="rect">
            <a:avLst/>
          </a:prstGeom>
        </p:spPr>
      </p:pic>
      <p:sp>
        <p:nvSpPr>
          <p:cNvPr id="11" name="Shape 7"/>
          <p:cNvSpPr/>
          <p:nvPr/>
        </p:nvSpPr>
        <p:spPr>
          <a:xfrm>
            <a:off x="1417320" y="1737360"/>
            <a:ext cx="914400" cy="914400"/>
          </a:xfrm>
          <a:prstGeom prst="ellipse">
            <a:avLst/>
          </a:prstGeom>
          <a:solidFill>
            <a:srgbClr val="FFFFFF">
              <a:alpha val="0"/>
            </a:srgbClr>
          </a:solidFill>
          <a:ln w="25400">
            <a:solidFill>
              <a:srgbClr val="C0392B"/>
            </a:solidFill>
            <a:prstDash val="solid"/>
          </a:ln>
        </p:spPr>
      </p:sp>
      <p:sp>
        <p:nvSpPr>
          <p:cNvPr id="12" name="Text 8"/>
          <p:cNvSpPr txBox="1"/>
          <p:nvPr/>
        </p:nvSpPr>
        <p:spPr>
          <a:xfrm>
            <a:off x="731520" y="2788920"/>
            <a:ext cx="2286000" cy="457200"/>
          </a:xfrm>
          <a:prstGeom prst="rect">
            <a:avLst/>
          </a:prstGeom>
          <a:noFill/>
          <a:ln/>
        </p:spPr>
        <p:txBody>
          <a:bodyPr wrap="square" lIns="0" tIns="0" rIns="0" bIns="0" rtlCol="0" anchor="t"/>
          <a:lstStyle/>
          <a:p>
            <a:pPr algn="ctr" indent="0" marL="0">
              <a:buNone/>
            </a:pPr>
            <a:r>
              <a:rPr lang="en-US" sz="2000" b="1" dirty="0">
                <a:solidFill>
                  <a:srgbClr val="C0392B"/>
                </a:solidFill>
                <a:latin typeface="Calibri" pitchFamily="34" charset="0"/>
                <a:ea typeface="Calibri" pitchFamily="34" charset="-122"/>
                <a:cs typeface="Calibri" pitchFamily="34" charset="-120"/>
              </a:rPr>
              <a:t>Verificar</a:t>
            </a:r>
            <a:endParaRPr lang="en-US" sz="2000" dirty="0"/>
          </a:p>
        </p:txBody>
      </p:sp>
      <p:sp>
        <p:nvSpPr>
          <p:cNvPr id="13" name="Text 9"/>
          <p:cNvSpPr txBox="1"/>
          <p:nvPr/>
        </p:nvSpPr>
        <p:spPr>
          <a:xfrm>
            <a:off x="777240" y="3337560"/>
            <a:ext cx="2194560" cy="146304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¿Qué hago antes de firmar un escrito hecho con IA?</a:t>
            </a:r>
            <a:endParaRPr lang="en-US" sz="1300" dirty="0"/>
          </a:p>
        </p:txBody>
      </p:sp>
      <p:sp>
        <p:nvSpPr>
          <p:cNvPr id="14" name="Text 10"/>
          <p:cNvSpPr txBox="1"/>
          <p:nvPr/>
        </p:nvSpPr>
        <p:spPr>
          <a:xfrm>
            <a:off x="777240" y="5074920"/>
            <a:ext cx="2194560" cy="82296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Video 1 · Ejercicio individual · Preguntas</a:t>
            </a:r>
            <a:endParaRPr lang="en-US" sz="1100" dirty="0"/>
          </a:p>
        </p:txBody>
      </p:sp>
      <p:sp>
        <p:nvSpPr>
          <p:cNvPr id="15" name="Shape 11"/>
          <p:cNvSpPr/>
          <p:nvPr/>
        </p:nvSpPr>
        <p:spPr>
          <a:xfrm>
            <a:off x="3383280" y="1463040"/>
            <a:ext cx="2651760" cy="4572000"/>
          </a:xfrm>
          <a:prstGeom prst="roundRect">
            <a:avLst>
              <a:gd name="adj" fmla="val 4138"/>
            </a:avLst>
          </a:prstGeom>
          <a:solidFill>
            <a:srgbClr val="F4F7FA"/>
          </a:solidFill>
          <a:ln w="12700">
            <a:solidFill>
              <a:srgbClr val="F4F7FA"/>
            </a:solidFill>
            <a:prstDash val="solid"/>
          </a:ln>
        </p:spPr>
      </p:sp>
      <p:sp>
        <p:nvSpPr>
          <p:cNvPr id="16" name="Shape 12"/>
          <p:cNvSpPr/>
          <p:nvPr/>
        </p:nvSpPr>
        <p:spPr>
          <a:xfrm>
            <a:off x="4251960" y="1737360"/>
            <a:ext cx="914400" cy="914400"/>
          </a:xfrm>
          <a:prstGeom prst="ellipse">
            <a:avLst/>
          </a:prstGeom>
          <a:solidFill>
            <a:srgbClr val="FFFFFF"/>
          </a:solidFill>
          <a:ln w="12700">
            <a:solidFill>
              <a:srgbClr val="FFFFFF"/>
            </a:solidFill>
            <a:prstDash val="solid"/>
          </a:ln>
        </p:spPr>
      </p:sp>
      <p:pic>
        <p:nvPicPr>
          <p:cNvPr id="17" name="Image 1" descr="preencoded.png">    </p:cNvPr>
          <p:cNvPicPr>
            <a:picLocks noChangeAspect="1"/>
          </p:cNvPicPr>
          <p:nvPr/>
        </p:nvPicPr>
        <p:blipFill>
          <a:blip r:embed="rId2"/>
          <a:stretch>
            <a:fillRect/>
          </a:stretch>
        </p:blipFill>
        <p:spPr>
          <a:xfrm>
            <a:off x="4480560" y="1965960"/>
            <a:ext cx="457200" cy="457200"/>
          </a:xfrm>
          <a:prstGeom prst="rect">
            <a:avLst/>
          </a:prstGeom>
        </p:spPr>
      </p:pic>
      <p:sp>
        <p:nvSpPr>
          <p:cNvPr id="18" name="Shape 13"/>
          <p:cNvSpPr/>
          <p:nvPr/>
        </p:nvSpPr>
        <p:spPr>
          <a:xfrm>
            <a:off x="4251960" y="1737360"/>
            <a:ext cx="914400" cy="914400"/>
          </a:xfrm>
          <a:prstGeom prst="ellipse">
            <a:avLst/>
          </a:prstGeom>
          <a:solidFill>
            <a:srgbClr val="FFFFFF">
              <a:alpha val="0"/>
            </a:srgbClr>
          </a:solidFill>
          <a:ln w="25400">
            <a:solidFill>
              <a:srgbClr val="0F7C90"/>
            </a:solidFill>
            <a:prstDash val="solid"/>
          </a:ln>
        </p:spPr>
      </p:sp>
      <p:sp>
        <p:nvSpPr>
          <p:cNvPr id="19" name="Text 14"/>
          <p:cNvSpPr txBox="1"/>
          <p:nvPr/>
        </p:nvSpPr>
        <p:spPr>
          <a:xfrm>
            <a:off x="3566160" y="2788920"/>
            <a:ext cx="2286000" cy="457200"/>
          </a:xfrm>
          <a:prstGeom prst="rect">
            <a:avLst/>
          </a:prstGeom>
          <a:noFill/>
          <a:ln/>
        </p:spPr>
        <p:txBody>
          <a:bodyPr wrap="square" lIns="0" tIns="0" rIns="0" bIns="0" rtlCol="0" anchor="t"/>
          <a:lstStyle/>
          <a:p>
            <a:pPr algn="ctr" indent="0" marL="0">
              <a:buNone/>
            </a:pPr>
            <a:r>
              <a:rPr lang="en-US" sz="2000" b="1" dirty="0">
                <a:solidFill>
                  <a:srgbClr val="0F7C90"/>
                </a:solidFill>
                <a:latin typeface="Calibri" pitchFamily="34" charset="0"/>
                <a:ea typeface="Calibri" pitchFamily="34" charset="-122"/>
                <a:cs typeface="Calibri" pitchFamily="34" charset="-120"/>
              </a:rPr>
              <a:t>Demostrar</a:t>
            </a:r>
            <a:endParaRPr lang="en-US" sz="2000" dirty="0"/>
          </a:p>
        </p:txBody>
      </p:sp>
      <p:sp>
        <p:nvSpPr>
          <p:cNvPr id="20" name="Text 15"/>
          <p:cNvSpPr txBox="1"/>
          <p:nvPr/>
        </p:nvSpPr>
        <p:spPr>
          <a:xfrm>
            <a:off x="3611880" y="3337560"/>
            <a:ext cx="2194560" cy="146304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¿Cómo pruebo un contrato celebrado por WhatsApp y qué hago con un smart contract que falló?</a:t>
            </a:r>
            <a:endParaRPr lang="en-US" sz="1300" dirty="0"/>
          </a:p>
        </p:txBody>
      </p:sp>
      <p:sp>
        <p:nvSpPr>
          <p:cNvPr id="21" name="Text 16"/>
          <p:cNvSpPr txBox="1"/>
          <p:nvPr/>
        </p:nvSpPr>
        <p:spPr>
          <a:xfrm>
            <a:off x="3611880" y="5074920"/>
            <a:ext cx="2194560" cy="82296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Video 2 · Lectura guiada · Taller 1</a:t>
            </a:r>
            <a:endParaRPr lang="en-US" sz="1100" dirty="0"/>
          </a:p>
        </p:txBody>
      </p:sp>
      <p:sp>
        <p:nvSpPr>
          <p:cNvPr id="22" name="Shape 17"/>
          <p:cNvSpPr/>
          <p:nvPr/>
        </p:nvSpPr>
        <p:spPr>
          <a:xfrm>
            <a:off x="6217920" y="1463040"/>
            <a:ext cx="2651760" cy="4572000"/>
          </a:xfrm>
          <a:prstGeom prst="roundRect">
            <a:avLst>
              <a:gd name="adj" fmla="val 4138"/>
            </a:avLst>
          </a:prstGeom>
          <a:solidFill>
            <a:srgbClr val="F4F7FA"/>
          </a:solidFill>
          <a:ln w="12700">
            <a:solidFill>
              <a:srgbClr val="F4F7FA"/>
            </a:solidFill>
            <a:prstDash val="solid"/>
          </a:ln>
        </p:spPr>
      </p:sp>
      <p:sp>
        <p:nvSpPr>
          <p:cNvPr id="23" name="Shape 18"/>
          <p:cNvSpPr/>
          <p:nvPr/>
        </p:nvSpPr>
        <p:spPr>
          <a:xfrm>
            <a:off x="7086600" y="1737360"/>
            <a:ext cx="914400" cy="914400"/>
          </a:xfrm>
          <a:prstGeom prst="ellipse">
            <a:avLst/>
          </a:prstGeom>
          <a:solidFill>
            <a:srgbClr val="FFFFFF"/>
          </a:solidFill>
          <a:ln w="12700">
            <a:solidFill>
              <a:srgbClr val="FFFFFF"/>
            </a:solidFill>
            <a:prstDash val="solid"/>
          </a:ln>
        </p:spPr>
      </p:sp>
      <p:pic>
        <p:nvPicPr>
          <p:cNvPr id="24" name="Image 2" descr="preencoded.png">    </p:cNvPr>
          <p:cNvPicPr>
            <a:picLocks noChangeAspect="1"/>
          </p:cNvPicPr>
          <p:nvPr/>
        </p:nvPicPr>
        <p:blipFill>
          <a:blip r:embed="rId3"/>
          <a:stretch>
            <a:fillRect/>
          </a:stretch>
        </p:blipFill>
        <p:spPr>
          <a:xfrm>
            <a:off x="7315200" y="1965960"/>
            <a:ext cx="457200" cy="457200"/>
          </a:xfrm>
          <a:prstGeom prst="rect">
            <a:avLst/>
          </a:prstGeom>
        </p:spPr>
      </p:pic>
      <p:sp>
        <p:nvSpPr>
          <p:cNvPr id="25" name="Shape 19"/>
          <p:cNvSpPr/>
          <p:nvPr/>
        </p:nvSpPr>
        <p:spPr>
          <a:xfrm>
            <a:off x="7086600" y="1737360"/>
            <a:ext cx="914400" cy="914400"/>
          </a:xfrm>
          <a:prstGeom prst="ellipse">
            <a:avLst/>
          </a:prstGeom>
          <a:solidFill>
            <a:srgbClr val="FFFFFF">
              <a:alpha val="0"/>
            </a:srgbClr>
          </a:solidFill>
          <a:ln w="25400">
            <a:solidFill>
              <a:srgbClr val="E8A33D"/>
            </a:solidFill>
            <a:prstDash val="solid"/>
          </a:ln>
        </p:spPr>
      </p:sp>
      <p:sp>
        <p:nvSpPr>
          <p:cNvPr id="26" name="Text 20"/>
          <p:cNvSpPr txBox="1"/>
          <p:nvPr/>
        </p:nvSpPr>
        <p:spPr>
          <a:xfrm>
            <a:off x="6400800" y="2788920"/>
            <a:ext cx="2286000" cy="457200"/>
          </a:xfrm>
          <a:prstGeom prst="rect">
            <a:avLst/>
          </a:prstGeom>
          <a:noFill/>
          <a:ln/>
        </p:spPr>
        <p:txBody>
          <a:bodyPr wrap="square" lIns="0" tIns="0" rIns="0" bIns="0" rtlCol="0" anchor="t"/>
          <a:lstStyle/>
          <a:p>
            <a:pPr algn="ctr" indent="0" marL="0">
              <a:buNone/>
            </a:pPr>
            <a:r>
              <a:rPr lang="en-US" sz="2000" b="1" dirty="0">
                <a:solidFill>
                  <a:srgbClr val="E8A33D"/>
                </a:solidFill>
                <a:latin typeface="Calibri" pitchFamily="34" charset="0"/>
                <a:ea typeface="Calibri" pitchFamily="34" charset="-122"/>
                <a:cs typeface="Calibri" pitchFamily="34" charset="-120"/>
              </a:rPr>
              <a:t>Consentir</a:t>
            </a:r>
            <a:endParaRPr lang="en-US" sz="2000" dirty="0"/>
          </a:p>
        </p:txBody>
      </p:sp>
      <p:sp>
        <p:nvSpPr>
          <p:cNvPr id="27" name="Text 21"/>
          <p:cNvSpPr txBox="1"/>
          <p:nvPr/>
        </p:nvSpPr>
        <p:spPr>
          <a:xfrm>
            <a:off x="6446520" y="3337560"/>
            <a:ext cx="2194560" cy="146304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¿Qué exijo antes de que un cliente entregue datos sensibles a un proveedor de nube o de IA?</a:t>
            </a:r>
            <a:endParaRPr lang="en-US" sz="1300" dirty="0"/>
          </a:p>
        </p:txBody>
      </p:sp>
      <p:sp>
        <p:nvSpPr>
          <p:cNvPr id="28" name="Text 22"/>
          <p:cNvSpPr txBox="1"/>
          <p:nvPr/>
        </p:nvSpPr>
        <p:spPr>
          <a:xfrm>
            <a:off x="6446520" y="5074920"/>
            <a:ext cx="2194560" cy="82296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Video 3 · Taller 2</a:t>
            </a:r>
            <a:endParaRPr lang="en-US" sz="1100" dirty="0"/>
          </a:p>
        </p:txBody>
      </p:sp>
      <p:sp>
        <p:nvSpPr>
          <p:cNvPr id="29" name="Shape 23"/>
          <p:cNvSpPr/>
          <p:nvPr/>
        </p:nvSpPr>
        <p:spPr>
          <a:xfrm>
            <a:off x="9052560" y="1463040"/>
            <a:ext cx="2651760" cy="4572000"/>
          </a:xfrm>
          <a:prstGeom prst="roundRect">
            <a:avLst>
              <a:gd name="adj" fmla="val 4138"/>
            </a:avLst>
          </a:prstGeom>
          <a:solidFill>
            <a:srgbClr val="F4F7FA"/>
          </a:solidFill>
          <a:ln w="12700">
            <a:solidFill>
              <a:srgbClr val="F4F7FA"/>
            </a:solidFill>
            <a:prstDash val="solid"/>
          </a:ln>
        </p:spPr>
      </p:sp>
      <p:sp>
        <p:nvSpPr>
          <p:cNvPr id="30" name="Shape 24"/>
          <p:cNvSpPr/>
          <p:nvPr/>
        </p:nvSpPr>
        <p:spPr>
          <a:xfrm>
            <a:off x="9921240" y="1737360"/>
            <a:ext cx="914400" cy="914400"/>
          </a:xfrm>
          <a:prstGeom prst="ellipse">
            <a:avLst/>
          </a:prstGeom>
          <a:solidFill>
            <a:srgbClr val="FFFFFF"/>
          </a:solidFill>
          <a:ln w="12700">
            <a:solidFill>
              <a:srgbClr val="FFFFFF"/>
            </a:solidFill>
            <a:prstDash val="solid"/>
          </a:ln>
        </p:spPr>
      </p:sp>
      <p:pic>
        <p:nvPicPr>
          <p:cNvPr id="31" name="Image 3" descr="preencoded.png">    </p:cNvPr>
          <p:cNvPicPr>
            <a:picLocks noChangeAspect="1"/>
          </p:cNvPicPr>
          <p:nvPr/>
        </p:nvPicPr>
        <p:blipFill>
          <a:blip r:embed="rId4"/>
          <a:stretch>
            <a:fillRect/>
          </a:stretch>
        </p:blipFill>
        <p:spPr>
          <a:xfrm>
            <a:off x="10149840" y="1965960"/>
            <a:ext cx="457200" cy="457200"/>
          </a:xfrm>
          <a:prstGeom prst="rect">
            <a:avLst/>
          </a:prstGeom>
        </p:spPr>
      </p:pic>
      <p:sp>
        <p:nvSpPr>
          <p:cNvPr id="32" name="Shape 25"/>
          <p:cNvSpPr/>
          <p:nvPr/>
        </p:nvSpPr>
        <p:spPr>
          <a:xfrm>
            <a:off x="9921240" y="1737360"/>
            <a:ext cx="914400" cy="914400"/>
          </a:xfrm>
          <a:prstGeom prst="ellipse">
            <a:avLst/>
          </a:prstGeom>
          <a:solidFill>
            <a:srgbClr val="FFFFFF">
              <a:alpha val="0"/>
            </a:srgbClr>
          </a:solidFill>
          <a:ln w="25400">
            <a:solidFill>
              <a:srgbClr val="6C4AB6"/>
            </a:solidFill>
            <a:prstDash val="solid"/>
          </a:ln>
        </p:spPr>
      </p:sp>
      <p:sp>
        <p:nvSpPr>
          <p:cNvPr id="33" name="Text 26"/>
          <p:cNvSpPr txBox="1"/>
          <p:nvPr/>
        </p:nvSpPr>
        <p:spPr>
          <a:xfrm>
            <a:off x="9235440" y="2788920"/>
            <a:ext cx="2286000" cy="457200"/>
          </a:xfrm>
          <a:prstGeom prst="rect">
            <a:avLst/>
          </a:prstGeom>
          <a:noFill/>
          <a:ln/>
        </p:spPr>
        <p:txBody>
          <a:bodyPr wrap="square" lIns="0" tIns="0" rIns="0" bIns="0" rtlCol="0" anchor="t"/>
          <a:lstStyle/>
          <a:p>
            <a:pPr algn="ctr" indent="0" marL="0">
              <a:buNone/>
            </a:pPr>
            <a:r>
              <a:rPr lang="en-US" sz="2000" b="1" dirty="0">
                <a:solidFill>
                  <a:srgbClr val="6C4AB6"/>
                </a:solidFill>
                <a:latin typeface="Calibri" pitchFamily="34" charset="0"/>
                <a:ea typeface="Calibri" pitchFamily="34" charset="-122"/>
                <a:cs typeface="Calibri" pitchFamily="34" charset="-120"/>
              </a:rPr>
              <a:t>Explicar</a:t>
            </a:r>
            <a:endParaRPr lang="en-US" sz="2000" dirty="0"/>
          </a:p>
        </p:txBody>
      </p:sp>
      <p:sp>
        <p:nvSpPr>
          <p:cNvPr id="34" name="Text 27"/>
          <p:cNvSpPr txBox="1"/>
          <p:nvPr/>
        </p:nvSpPr>
        <p:spPr>
          <a:xfrm>
            <a:off x="9281160" y="3337560"/>
            <a:ext cx="2194560" cy="1463040"/>
          </a:xfrm>
          <a:prstGeom prst="rect">
            <a:avLst/>
          </a:prstGeom>
          <a:noFill/>
          <a:ln/>
        </p:spPr>
        <p:txBody>
          <a:bodyPr wrap="square" lIns="0" tIns="0" rIns="0" bIns="0" rtlCol="0" anchor="t"/>
          <a:lstStyle/>
          <a:p>
            <a:pPr algn="ctr" indent="0" marL="0">
              <a:buNone/>
            </a:pPr>
            <a:r>
              <a:rPr lang="en-US" sz="1300" dirty="0">
                <a:solidFill>
                  <a:srgbClr val="1F2937"/>
                </a:solidFill>
                <a:latin typeface="Calibri" pitchFamily="34" charset="0"/>
                <a:ea typeface="Calibri" pitchFamily="34" charset="-122"/>
                <a:cs typeface="Calibri" pitchFamily="34" charset="-120"/>
              </a:rPr>
              <a:t>¿Qué puede exigirse a una decisión automatizada y a una voz clonada?</a:t>
            </a:r>
            <a:endParaRPr lang="en-US" sz="1300" dirty="0"/>
          </a:p>
        </p:txBody>
      </p:sp>
      <p:sp>
        <p:nvSpPr>
          <p:cNvPr id="35" name="Text 28"/>
          <p:cNvSpPr txBox="1"/>
          <p:nvPr/>
        </p:nvSpPr>
        <p:spPr>
          <a:xfrm>
            <a:off x="9281160" y="5074920"/>
            <a:ext cx="2194560" cy="82296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Video 4 · Debate · Cierre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Sondeo de apertura</a:t>
            </a:r>
            <a:endParaRPr lang="en-US" sz="2800" dirty="0"/>
          </a:p>
        </p:txBody>
      </p:sp>
      <p:sp>
        <p:nvSpPr>
          <p:cNvPr id="3" name="Shape 1"/>
          <p:cNvSpPr/>
          <p:nvPr/>
        </p:nvSpPr>
        <p:spPr>
          <a:xfrm>
            <a:off x="9646920" y="384048"/>
            <a:ext cx="2084832" cy="384048"/>
          </a:xfrm>
          <a:prstGeom prst="roundRect">
            <a:avLst>
              <a:gd name="adj" fmla="val 50000"/>
            </a:avLst>
          </a:prstGeom>
          <a:solidFill>
            <a:srgbClr val="1B2A41"/>
          </a:solidFill>
          <a:ln w="12700">
            <a:solidFill>
              <a:srgbClr val="1B2A41"/>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MARCO</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0-8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5</a:t>
            </a:r>
            <a:endParaRPr lang="en-US" sz="900" dirty="0"/>
          </a:p>
        </p:txBody>
      </p:sp>
      <p:sp>
        <p:nvSpPr>
          <p:cNvPr id="8" name="Shape 5"/>
          <p:cNvSpPr/>
          <p:nvPr/>
        </p:nvSpPr>
        <p:spPr>
          <a:xfrm>
            <a:off x="548640" y="1463040"/>
            <a:ext cx="7863840" cy="1051560"/>
          </a:xfrm>
          <a:prstGeom prst="roundRect">
            <a:avLst>
              <a:gd name="adj" fmla="val 10435"/>
            </a:avLst>
          </a:prstGeom>
          <a:solidFill>
            <a:srgbClr val="F4F7FA"/>
          </a:solidFill>
          <a:ln w="12700">
            <a:solidFill>
              <a:srgbClr val="F4F7FA"/>
            </a:solidFill>
            <a:prstDash val="solid"/>
          </a:ln>
        </p:spPr>
      </p:sp>
      <p:sp>
        <p:nvSpPr>
          <p:cNvPr id="9" name="Shape 6"/>
          <p:cNvSpPr/>
          <p:nvPr/>
        </p:nvSpPr>
        <p:spPr>
          <a:xfrm>
            <a:off x="777240" y="1691640"/>
            <a:ext cx="594360" cy="594360"/>
          </a:xfrm>
          <a:prstGeom prst="ellipse">
            <a:avLst/>
          </a:prstGeom>
          <a:solidFill>
            <a:srgbClr val="1B2A41"/>
          </a:solidFill>
          <a:ln w="12700">
            <a:solidFill>
              <a:srgbClr val="1B2A41"/>
            </a:solidFill>
            <a:prstDash val="solid"/>
          </a:ln>
        </p:spPr>
      </p:sp>
      <p:sp>
        <p:nvSpPr>
          <p:cNvPr id="10" name="Text 7"/>
          <p:cNvSpPr txBox="1"/>
          <p:nvPr/>
        </p:nvSpPr>
        <p:spPr>
          <a:xfrm>
            <a:off x="777240" y="16916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1" name="Text 8"/>
          <p:cNvSpPr txBox="1"/>
          <p:nvPr/>
        </p:nvSpPr>
        <p:spPr>
          <a:xfrm>
            <a:off x="1600200" y="1600200"/>
            <a:ext cx="6583680" cy="82296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¿Quién ha usado un chatbot de IA generativa para redactar o revisar un escrito en los últimos tres meses?</a:t>
            </a:r>
            <a:endParaRPr lang="en-US" sz="1600" dirty="0"/>
          </a:p>
        </p:txBody>
      </p:sp>
      <p:sp>
        <p:nvSpPr>
          <p:cNvPr id="12" name="Shape 9"/>
          <p:cNvSpPr/>
          <p:nvPr/>
        </p:nvSpPr>
        <p:spPr>
          <a:xfrm>
            <a:off x="548640" y="2697480"/>
            <a:ext cx="7863840" cy="1051560"/>
          </a:xfrm>
          <a:prstGeom prst="roundRect">
            <a:avLst>
              <a:gd name="adj" fmla="val 10435"/>
            </a:avLst>
          </a:prstGeom>
          <a:solidFill>
            <a:srgbClr val="F4F7FA"/>
          </a:solidFill>
          <a:ln w="12700">
            <a:solidFill>
              <a:srgbClr val="F4F7FA"/>
            </a:solidFill>
            <a:prstDash val="solid"/>
          </a:ln>
        </p:spPr>
      </p:sp>
      <p:sp>
        <p:nvSpPr>
          <p:cNvPr id="13" name="Shape 10"/>
          <p:cNvSpPr/>
          <p:nvPr/>
        </p:nvSpPr>
        <p:spPr>
          <a:xfrm>
            <a:off x="777240" y="2926080"/>
            <a:ext cx="594360" cy="594360"/>
          </a:xfrm>
          <a:prstGeom prst="ellipse">
            <a:avLst/>
          </a:prstGeom>
          <a:solidFill>
            <a:srgbClr val="1B2A41"/>
          </a:solidFill>
          <a:ln w="12700">
            <a:solidFill>
              <a:srgbClr val="1B2A41"/>
            </a:solidFill>
            <a:prstDash val="solid"/>
          </a:ln>
        </p:spPr>
      </p:sp>
      <p:sp>
        <p:nvSpPr>
          <p:cNvPr id="14" name="Text 11"/>
          <p:cNvSpPr txBox="1"/>
          <p:nvPr/>
        </p:nvSpPr>
        <p:spPr>
          <a:xfrm>
            <a:off x="777240" y="29260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2"/>
          <p:cNvSpPr txBox="1"/>
          <p:nvPr/>
        </p:nvSpPr>
        <p:spPr>
          <a:xfrm>
            <a:off x="1600200" y="2834640"/>
            <a:ext cx="6583680" cy="82296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De esos, ¿quién verificó cada cita en la fuente oficial?</a:t>
            </a:r>
            <a:endParaRPr lang="en-US" sz="1600" dirty="0"/>
          </a:p>
        </p:txBody>
      </p:sp>
      <p:sp>
        <p:nvSpPr>
          <p:cNvPr id="16" name="Shape 13"/>
          <p:cNvSpPr/>
          <p:nvPr/>
        </p:nvSpPr>
        <p:spPr>
          <a:xfrm>
            <a:off x="548640" y="3931920"/>
            <a:ext cx="7863840" cy="1051560"/>
          </a:xfrm>
          <a:prstGeom prst="roundRect">
            <a:avLst>
              <a:gd name="adj" fmla="val 10435"/>
            </a:avLst>
          </a:prstGeom>
          <a:solidFill>
            <a:srgbClr val="F4F7FA"/>
          </a:solidFill>
          <a:ln w="12700">
            <a:solidFill>
              <a:srgbClr val="F4F7FA"/>
            </a:solidFill>
            <a:prstDash val="solid"/>
          </a:ln>
        </p:spPr>
      </p:sp>
      <p:sp>
        <p:nvSpPr>
          <p:cNvPr id="17" name="Shape 14"/>
          <p:cNvSpPr/>
          <p:nvPr/>
        </p:nvSpPr>
        <p:spPr>
          <a:xfrm>
            <a:off x="777240" y="4160520"/>
            <a:ext cx="594360" cy="594360"/>
          </a:xfrm>
          <a:prstGeom prst="ellipse">
            <a:avLst/>
          </a:prstGeom>
          <a:solidFill>
            <a:srgbClr val="1B2A41"/>
          </a:solidFill>
          <a:ln w="12700">
            <a:solidFill>
              <a:srgbClr val="1B2A41"/>
            </a:solidFill>
            <a:prstDash val="solid"/>
          </a:ln>
        </p:spPr>
      </p:sp>
      <p:sp>
        <p:nvSpPr>
          <p:cNvPr id="18" name="Text 15"/>
          <p:cNvSpPr txBox="1"/>
          <p:nvPr/>
        </p:nvSpPr>
        <p:spPr>
          <a:xfrm>
            <a:off x="777240" y="416052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6"/>
          <p:cNvSpPr txBox="1"/>
          <p:nvPr/>
        </p:nvSpPr>
        <p:spPr>
          <a:xfrm>
            <a:off x="1600200" y="4069080"/>
            <a:ext cx="6583680" cy="82296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¿Quién ha recibido una decisión (crédito, empleo, seguro, trámite) tomada por un sistema automatizado sin que le explicaran por qué?</a:t>
            </a:r>
            <a:endParaRPr lang="en-US" sz="1600" dirty="0"/>
          </a:p>
        </p:txBody>
      </p:sp>
      <p:sp>
        <p:nvSpPr>
          <p:cNvPr id="20" name="Shape 17"/>
          <p:cNvSpPr/>
          <p:nvPr/>
        </p:nvSpPr>
        <p:spPr>
          <a:xfrm>
            <a:off x="8778240" y="1463040"/>
            <a:ext cx="2926080" cy="3520440"/>
          </a:xfrm>
          <a:prstGeom prst="roundRect">
            <a:avLst>
              <a:gd name="adj" fmla="val 3750"/>
            </a:avLst>
          </a:prstGeom>
          <a:solidFill>
            <a:srgbClr val="1B2A41"/>
          </a:solidFill>
          <a:ln w="12700">
            <a:solidFill>
              <a:srgbClr val="1B2A41"/>
            </a:solidFill>
            <a:prstDash val="solid"/>
          </a:ln>
        </p:spPr>
      </p:sp>
      <p:sp>
        <p:nvSpPr>
          <p:cNvPr id="21" name="Shape 18"/>
          <p:cNvSpPr/>
          <p:nvPr/>
        </p:nvSpPr>
        <p:spPr>
          <a:xfrm>
            <a:off x="9784080" y="1737360"/>
            <a:ext cx="914400" cy="914400"/>
          </a:xfrm>
          <a:prstGeom prst="ellipse">
            <a:avLst/>
          </a:prstGeom>
          <a:solidFill>
            <a:srgbClr val="0F7C90"/>
          </a:solidFill>
          <a:ln w="12700">
            <a:solidFill>
              <a:srgbClr val="0F7C90"/>
            </a:solidFill>
            <a:prstDash val="solid"/>
          </a:ln>
        </p:spPr>
      </p:sp>
      <p:pic>
        <p:nvPicPr>
          <p:cNvPr id="22" name="Image 0" descr="preencoded.png">    </p:cNvPr>
          <p:cNvPicPr>
            <a:picLocks noChangeAspect="1"/>
          </p:cNvPicPr>
          <p:nvPr/>
        </p:nvPicPr>
        <p:blipFill>
          <a:blip r:embed="rId1"/>
          <a:stretch>
            <a:fillRect/>
          </a:stretch>
        </p:blipFill>
        <p:spPr>
          <a:xfrm>
            <a:off x="10012680" y="1965960"/>
            <a:ext cx="457200" cy="457200"/>
          </a:xfrm>
          <a:prstGeom prst="rect">
            <a:avLst/>
          </a:prstGeom>
        </p:spPr>
      </p:pic>
      <p:sp>
        <p:nvSpPr>
          <p:cNvPr id="23" name="Text 19"/>
          <p:cNvSpPr txBox="1"/>
          <p:nvPr/>
        </p:nvSpPr>
        <p:spPr>
          <a:xfrm>
            <a:off x="8961120" y="2788920"/>
            <a:ext cx="2560320"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Regla de la sesión</a:t>
            </a:r>
            <a:endParaRPr lang="en-US" sz="1500" dirty="0"/>
          </a:p>
        </p:txBody>
      </p:sp>
      <p:sp>
        <p:nvSpPr>
          <p:cNvPr id="24" name="Text 20"/>
          <p:cNvSpPr txBox="1"/>
          <p:nvPr/>
        </p:nvSpPr>
        <p:spPr>
          <a:xfrm>
            <a:off x="9006840" y="3200400"/>
            <a:ext cx="2468880" cy="164592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Todos los casos son ficticios. Nadie ingresa datos reales de clientes en herramientas de IA durante los ejercicios.</a:t>
            </a:r>
            <a:endParaRPr lang="en-US" sz="1200" dirty="0"/>
          </a:p>
        </p:txBody>
      </p:sp>
      <p:sp>
        <p:nvSpPr>
          <p:cNvPr id="25" name="Text 21"/>
          <p:cNvSpPr txBox="1"/>
          <p:nvPr/>
        </p:nvSpPr>
        <p:spPr>
          <a:xfrm>
            <a:off x="548640" y="5257800"/>
            <a:ext cx="7863840" cy="365760"/>
          </a:xfrm>
          <a:prstGeom prst="rect">
            <a:avLst/>
          </a:prstGeom>
          <a:noFill/>
          <a:ln/>
        </p:spPr>
        <p:txBody>
          <a:bodyPr wrap="square" lIns="0" tIns="0" rIns="0" bIns="0" rtlCol="0" anchor="t"/>
          <a:lstStyle/>
          <a:p>
            <a:pPr indent="0" marL="0">
              <a:buNone/>
            </a:pPr>
            <a:r>
              <a:rPr lang="en-US" sz="1300" i="1" dirty="0">
                <a:solidFill>
                  <a:srgbClr val="0F7C90"/>
                </a:solidFill>
                <a:latin typeface="Calibri" pitchFamily="34" charset="0"/>
                <a:ea typeface="Calibri" pitchFamily="34" charset="-122"/>
                <a:cs typeface="Calibri" pitchFamily="34" charset="-120"/>
              </a:rPr>
              <a:t>Anotamos los porcentajes: los retomamos en el cierre.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Agenda: 120 minutos</a:t>
            </a:r>
            <a:endParaRPr lang="en-US" sz="2800" dirty="0"/>
          </a:p>
        </p:txBody>
      </p:sp>
      <p:sp>
        <p:nvSpPr>
          <p:cNvPr id="3" name="Shape 1"/>
          <p:cNvSpPr/>
          <p:nvPr/>
        </p:nvSpPr>
        <p:spPr>
          <a:xfrm>
            <a:off x="9646920" y="384048"/>
            <a:ext cx="2084832" cy="384048"/>
          </a:xfrm>
          <a:prstGeom prst="roundRect">
            <a:avLst>
              <a:gd name="adj" fmla="val 50000"/>
            </a:avLst>
          </a:prstGeom>
          <a:solidFill>
            <a:srgbClr val="1B2A41"/>
          </a:solidFill>
          <a:ln w="12700">
            <a:solidFill>
              <a:srgbClr val="1B2A41"/>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MARCO</a:t>
            </a:r>
            <a:endParaRPr lang="en-US" sz="1200" dirty="0"/>
          </a:p>
        </p:txBody>
      </p:sp>
      <p:sp>
        <p:nvSpPr>
          <p:cNvPr id="5" name="Text 3"/>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005840"/>
                <a:gridCol w="6949440"/>
                <a:gridCol w="1463040"/>
                <a:gridCol w="1645920"/>
              </a:tblGrid>
              <a:tr h="3383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Minuto</a:t>
                      </a:r>
                      <a:endParaRPr lang="en-US" sz="12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Bloque</a:t>
                      </a:r>
                      <a:endParaRPr lang="en-US" sz="12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Modalidad</a:t>
                      </a:r>
                      <a:endParaRPr lang="en-US" sz="12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Deber</a:t>
                      </a:r>
                      <a:endParaRPr lang="en-US" sz="120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1B2A41"/>
                    </a:solidFill>
                  </a:tcPr>
                </a:tc>
              </a:tr>
              <a:tr h="33832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0-8</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Apertura: qué cambia y qué no; mapa Lessig / Gasser-Almeida; sondeo</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Exposición</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b="1" dirty="0">
                          <a:solidFill>
                            <a:srgbClr val="1B2A41"/>
                          </a:solidFill>
                          <a:latin typeface="Calibri" pitchFamily="34" charset="0"/>
                          <a:ea typeface="Calibri" pitchFamily="34" charset="-122"/>
                          <a:cs typeface="Calibri" pitchFamily="34" charset="-120"/>
                        </a:rPr>
                        <a:t>Marco</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r>
              <a:tr h="33832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8-14</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Video 1 · La IA en el trabajo del abogado (Harvard)</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Video</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Calibri" pitchFamily="34" charset="0"/>
                          <a:ea typeface="Calibri" pitchFamily="34" charset="-122"/>
                          <a:cs typeface="Calibri" pitchFamily="34" charset="-120"/>
                        </a:rPr>
                        <a:t>Verificar</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14-29</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Ejercicio individual · Auditoría de un escrito hecho con IA</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Ejercicio</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b="1" dirty="0">
                          <a:solidFill>
                            <a:srgbClr val="C0392B"/>
                          </a:solidFill>
                          <a:latin typeface="Calibri" pitchFamily="34" charset="0"/>
                          <a:ea typeface="Calibri" pitchFamily="34" charset="-122"/>
                          <a:cs typeface="Calibri" pitchFamily="34" charset="-120"/>
                        </a:rPr>
                        <a:t>Verificar</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r>
              <a:tr h="33832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29-35</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Puesta en común y preguntas</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Preguntas</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C0392B"/>
                          </a:solidFill>
                          <a:latin typeface="Calibri" pitchFamily="34" charset="0"/>
                          <a:ea typeface="Calibri" pitchFamily="34" charset="-122"/>
                          <a:cs typeface="Calibri" pitchFamily="34" charset="-120"/>
                        </a:rPr>
                        <a:t>Verificar</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35-41</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Video 2 · Del contrato electrónico al smart contract (Externado)</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Video</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b="1" dirty="0">
                          <a:solidFill>
                            <a:srgbClr val="0F7C90"/>
                          </a:solidFill>
                          <a:latin typeface="Calibri" pitchFamily="34" charset="0"/>
                          <a:ea typeface="Calibri" pitchFamily="34" charset="-122"/>
                          <a:cs typeface="Calibri" pitchFamily="34" charset="-120"/>
                        </a:rPr>
                        <a:t>Demostrar</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r>
              <a:tr h="33832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41-49</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Lectura guiada · Ley 527, dos décadas después</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Lectura</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F7C90"/>
                          </a:solidFill>
                          <a:latin typeface="Calibri" pitchFamily="34" charset="0"/>
                          <a:ea typeface="Calibri" pitchFamily="34" charset="-122"/>
                          <a:cs typeface="Calibri" pitchFamily="34" charset="-120"/>
                        </a:rPr>
                        <a:t>Demostrar</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49-65</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Taller 1 · Clínica de contratación y prueba electrónica</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Taller</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b="1" dirty="0">
                          <a:solidFill>
                            <a:srgbClr val="0F7C90"/>
                          </a:solidFill>
                          <a:latin typeface="Calibri" pitchFamily="34" charset="0"/>
                          <a:ea typeface="Calibri" pitchFamily="34" charset="-122"/>
                          <a:cs typeface="Calibri" pitchFamily="34" charset="-120"/>
                        </a:rPr>
                        <a:t>Demostrar</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r>
              <a:tr h="33832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65-72</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Pausa</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72-80</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Video 3 · Datos personales en la nube y en sistemas de IA (Uniandes)</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Video</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b="1" dirty="0">
                          <a:solidFill>
                            <a:srgbClr val="E8A33D"/>
                          </a:solidFill>
                          <a:latin typeface="Calibri" pitchFamily="34" charset="0"/>
                          <a:ea typeface="Calibri" pitchFamily="34" charset="-122"/>
                          <a:cs typeface="Calibri" pitchFamily="34" charset="-120"/>
                        </a:rPr>
                        <a:t>Consentir</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r>
              <a:tr h="33832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80-103</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Taller 2 · Due diligence de datos e IA para contratar un proveedor</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Taller</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E8A33D"/>
                          </a:solidFill>
                          <a:latin typeface="Calibri" pitchFamily="34" charset="0"/>
                          <a:ea typeface="Calibri" pitchFamily="34" charset="-122"/>
                          <a:cs typeface="Calibri" pitchFamily="34" charset="-120"/>
                        </a:rPr>
                        <a:t>Consentir</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103-106</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Video 4 · Apertura y supervisión de la IA (Harvard)</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Video</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b="1" dirty="0">
                          <a:solidFill>
                            <a:srgbClr val="6C4AB6"/>
                          </a:solidFill>
                          <a:latin typeface="Calibri" pitchFamily="34" charset="0"/>
                          <a:ea typeface="Calibri" pitchFamily="34" charset="-122"/>
                          <a:cs typeface="Calibri" pitchFamily="34" charset="-120"/>
                        </a:rPr>
                        <a:t>Explicar</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r>
              <a:tr h="33832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106-112</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Preguntas y debate · Voz clonada y decisiones automatizadas</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Debate</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6C4AB6"/>
                          </a:solidFill>
                          <a:latin typeface="Calibri" pitchFamily="34" charset="0"/>
                          <a:ea typeface="Calibri" pitchFamily="34" charset="-122"/>
                          <a:cs typeface="Calibri" pitchFamily="34" charset="-120"/>
                        </a:rPr>
                        <a:t>Explicar</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112-120</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Cierre · Evaluación relámpago, compromiso del lunes y rutas</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Cierre</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150" b="1" dirty="0">
                          <a:solidFill>
                            <a:srgbClr val="1B2A41"/>
                          </a:solidFill>
                          <a:latin typeface="Calibri" pitchFamily="34" charset="0"/>
                          <a:ea typeface="Calibri" pitchFamily="34" charset="-122"/>
                          <a:cs typeface="Calibri" pitchFamily="34" charset="-120"/>
                        </a:rPr>
                        <a:t>Síntesis</a:t>
                      </a:r>
                      <a:endParaRPr lang="en-US" sz="1150" dirty="0">
                        <a:latin typeface="Calibri" charset="0"/>
                        <a:ea typeface="Calibri" charset="0"/>
                        <a:cs typeface="Calibri" charset="0"/>
                      </a:endParaRPr>
                    </a:p>
                  </a:txBody>
                  <a:tcPr marL="45720" marR="45720" marT="45720" marB="45720"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Video 1 · La IA en el trabajo del abogado</a:t>
            </a:r>
            <a:endParaRPr lang="en-US" sz="2800" dirty="0"/>
          </a:p>
        </p:txBody>
      </p:sp>
      <p:sp>
        <p:nvSpPr>
          <p:cNvPr id="3" name="Shape 1"/>
          <p:cNvSpPr/>
          <p:nvPr/>
        </p:nvSpPr>
        <p:spPr>
          <a:xfrm>
            <a:off x="9646920" y="384048"/>
            <a:ext cx="2084832" cy="384048"/>
          </a:xfrm>
          <a:prstGeom prst="roundRect">
            <a:avLst>
              <a:gd name="adj" fmla="val 50000"/>
            </a:avLst>
          </a:prstGeom>
          <a:solidFill>
            <a:srgbClr val="C0392B"/>
          </a:solidFill>
          <a:ln w="12700">
            <a:solidFill>
              <a:srgbClr val="C0392B"/>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VERIFICAR</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8-14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7</a:t>
            </a:r>
            <a:endParaRPr lang="en-US" sz="900" dirty="0"/>
          </a:p>
        </p:txBody>
      </p:sp>
      <p:sp>
        <p:nvSpPr>
          <p:cNvPr id="8" name="Shape 5"/>
          <p:cNvSpPr/>
          <p:nvPr/>
        </p:nvSpPr>
        <p:spPr>
          <a:xfrm>
            <a:off x="548640" y="1463040"/>
            <a:ext cx="4937760" cy="4480560"/>
          </a:xfrm>
          <a:prstGeom prst="roundRect">
            <a:avLst>
              <a:gd name="adj" fmla="val 2449"/>
            </a:avLst>
          </a:prstGeom>
          <a:solidFill>
            <a:srgbClr val="1B2A41"/>
          </a:solidFill>
          <a:ln w="12700">
            <a:solidFill>
              <a:srgbClr val="1B2A41"/>
            </a:solidFill>
            <a:prstDash val="solid"/>
          </a:ln>
        </p:spPr>
      </p:sp>
      <p:sp>
        <p:nvSpPr>
          <p:cNvPr id="9" name="Shape 6"/>
          <p:cNvSpPr/>
          <p:nvPr/>
        </p:nvSpPr>
        <p:spPr>
          <a:xfrm>
            <a:off x="2560320" y="1828800"/>
            <a:ext cx="914400" cy="914400"/>
          </a:xfrm>
          <a:prstGeom prst="ellipse">
            <a:avLst/>
          </a:prstGeom>
          <a:solidFill>
            <a:srgbClr val="0F7C90"/>
          </a:solidFill>
          <a:ln w="12700">
            <a:solidFill>
              <a:srgbClr val="0F7C90"/>
            </a:solidFill>
            <a:prstDash val="solid"/>
          </a:ln>
        </p:spPr>
      </p:sp>
      <p:pic>
        <p:nvPicPr>
          <p:cNvPr id="10" name="Image 0" descr="preencoded.png">    </p:cNvPr>
          <p:cNvPicPr>
            <a:picLocks noChangeAspect="1"/>
          </p:cNvPicPr>
          <p:nvPr/>
        </p:nvPicPr>
        <p:blipFill>
          <a:blip r:embed="rId1"/>
          <a:stretch>
            <a:fillRect/>
          </a:stretch>
        </p:blipFill>
        <p:spPr>
          <a:xfrm>
            <a:off x="2788920" y="2057400"/>
            <a:ext cx="457200" cy="457200"/>
          </a:xfrm>
          <a:prstGeom prst="rect">
            <a:avLst/>
          </a:prstGeom>
        </p:spPr>
      </p:pic>
      <p:sp>
        <p:nvSpPr>
          <p:cNvPr id="11" name="Text 7"/>
          <p:cNvSpPr txBox="1"/>
          <p:nvPr/>
        </p:nvSpPr>
        <p:spPr>
          <a:xfrm>
            <a:off x="822960" y="2926080"/>
            <a:ext cx="4389120" cy="822960"/>
          </a:xfrm>
          <a:prstGeom prst="rect">
            <a:avLst/>
          </a:prstGeom>
          <a:noFill/>
          <a:ln/>
        </p:spPr>
        <p:txBody>
          <a:bodyPr wrap="square" lIns="0" tIns="0" rIns="0" bIns="0" rtlCol="0" anchor="t"/>
          <a:lstStyle/>
          <a:p>
            <a:pPr algn="ctr" indent="0" marL="0">
              <a:buNone/>
            </a:pPr>
            <a:r>
              <a:rPr lang="en-US" sz="1800" b="1" dirty="0">
                <a:solidFill>
                  <a:srgbClr val="FFFFFF"/>
                </a:solidFill>
                <a:latin typeface="Calibri" pitchFamily="34" charset="0"/>
                <a:ea typeface="Calibri" pitchFamily="34" charset="-122"/>
                <a:cs typeface="Calibri" pitchFamily="34" charset="-120"/>
              </a:rPr>
              <a:t>Understanding Impacts of AI on the Legal Profession</a:t>
            </a:r>
            <a:endParaRPr lang="en-US" sz="1800" dirty="0"/>
          </a:p>
        </p:txBody>
      </p:sp>
      <p:sp>
        <p:nvSpPr>
          <p:cNvPr id="12" name="Text 8"/>
          <p:cNvSpPr txBox="1"/>
          <p:nvPr/>
        </p:nvSpPr>
        <p:spPr>
          <a:xfrm>
            <a:off x="822960" y="3794760"/>
            <a:ext cx="4389120" cy="36576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CS50's Computer Science for Lawyers · Harvard</a:t>
            </a:r>
            <a:endParaRPr lang="en-US" sz="1300" dirty="0"/>
          </a:p>
        </p:txBody>
      </p:sp>
      <p:sp>
        <p:nvSpPr>
          <p:cNvPr id="13" name="Text 9"/>
          <p:cNvSpPr txBox="1"/>
          <p:nvPr/>
        </p:nvSpPr>
        <p:spPr>
          <a:xfrm>
            <a:off x="822960" y="4206240"/>
            <a:ext cx="4389120" cy="3657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Fragmento de 4-5 min · subtítulos en español</a:t>
            </a:r>
            <a:endParaRPr lang="en-US" sz="1200" dirty="0"/>
          </a:p>
        </p:txBody>
      </p:sp>
      <p:sp>
        <p:nvSpPr>
          <p:cNvPr id="14" name="Text 10"/>
          <p:cNvSpPr txBox="1"/>
          <p:nvPr/>
        </p:nvSpPr>
        <p:spPr>
          <a:xfrm>
            <a:off x="822960" y="4846320"/>
            <a:ext cx="4389120" cy="822960"/>
          </a:xfrm>
          <a:prstGeom prst="rect">
            <a:avLst/>
          </a:prstGeom>
          <a:noFill/>
          <a:ln/>
        </p:spPr>
        <p:txBody>
          <a:bodyPr wrap="square" lIns="0" tIns="0" rIns="0" bIns="0" rtlCol="0" anchor="t"/>
          <a:lstStyle/>
          <a:p>
            <a:pPr algn="ctr" indent="0" marL="0">
              <a:buNone/>
            </a:pPr>
            <a:r>
              <a:rPr lang="en-US" sz="1100" i="1" dirty="0">
                <a:solidFill>
                  <a:srgbClr val="CADCFC"/>
                </a:solidFill>
                <a:latin typeface="Calibri" pitchFamily="34" charset="0"/>
                <a:ea typeface="Calibri" pitchFamily="34" charset="-122"/>
                <a:cs typeface="Calibri" pitchFamily="34" charset="-120"/>
              </a:rPr>
              <a:t>Plan B en español: «Desafíos del derecho en la era de la IA» (Facultad de Derecho Uniandes, 2026)</a:t>
            </a:r>
            <a:endParaRPr lang="en-US" sz="1100" dirty="0"/>
          </a:p>
        </p:txBody>
      </p:sp>
      <p:sp>
        <p:nvSpPr>
          <p:cNvPr id="15" name="Text 11"/>
          <p:cNvSpPr txBox="1"/>
          <p:nvPr/>
        </p:nvSpPr>
        <p:spPr>
          <a:xfrm>
            <a:off x="5943600" y="1463040"/>
            <a:ext cx="5669280" cy="457200"/>
          </a:xfrm>
          <a:prstGeom prst="rect">
            <a:avLst/>
          </a:prstGeom>
          <a:noFill/>
          <a:ln/>
        </p:spPr>
        <p:txBody>
          <a:bodyPr wrap="square" lIns="0" tIns="0" rIns="0" bIns="0" rtlCol="0" anchor="t"/>
          <a:lstStyle/>
          <a:p>
            <a:pPr indent="0" marL="0">
              <a:buNone/>
            </a:pPr>
            <a:r>
              <a:rPr lang="en-US" sz="1800" b="1" dirty="0">
                <a:solidFill>
                  <a:srgbClr val="1B2A41"/>
                </a:solidFill>
                <a:latin typeface="Calibri" pitchFamily="34" charset="0"/>
                <a:ea typeface="Calibri" pitchFamily="34" charset="-122"/>
                <a:cs typeface="Calibri" pitchFamily="34" charset="-120"/>
              </a:rPr>
              <a:t>Visionado activo: mientras ve el video, anote</a:t>
            </a:r>
            <a:endParaRPr lang="en-US" sz="1800" dirty="0"/>
          </a:p>
        </p:txBody>
      </p:sp>
      <p:sp>
        <p:nvSpPr>
          <p:cNvPr id="16" name="Shape 12"/>
          <p:cNvSpPr/>
          <p:nvPr/>
        </p:nvSpPr>
        <p:spPr>
          <a:xfrm>
            <a:off x="5943600" y="2103120"/>
            <a:ext cx="5669280" cy="914400"/>
          </a:xfrm>
          <a:prstGeom prst="roundRect">
            <a:avLst>
              <a:gd name="adj" fmla="val 12000"/>
            </a:avLst>
          </a:prstGeom>
          <a:solidFill>
            <a:srgbClr val="F4F7FA"/>
          </a:solidFill>
          <a:ln w="12700">
            <a:solidFill>
              <a:srgbClr val="F4F7FA"/>
            </a:solidFill>
            <a:prstDash val="solid"/>
          </a:ln>
        </p:spPr>
      </p:sp>
      <p:sp>
        <p:nvSpPr>
          <p:cNvPr id="17" name="Shape 13"/>
          <p:cNvSpPr/>
          <p:nvPr/>
        </p:nvSpPr>
        <p:spPr>
          <a:xfrm>
            <a:off x="6126480" y="2286000"/>
            <a:ext cx="548640" cy="548640"/>
          </a:xfrm>
          <a:prstGeom prst="ellipse">
            <a:avLst/>
          </a:prstGeom>
          <a:solidFill>
            <a:srgbClr val="C0392B"/>
          </a:solidFill>
          <a:ln w="12700">
            <a:solidFill>
              <a:srgbClr val="C0392B"/>
            </a:solidFill>
            <a:prstDash val="solid"/>
          </a:ln>
        </p:spPr>
      </p:sp>
      <p:sp>
        <p:nvSpPr>
          <p:cNvPr id="18" name="Text 14"/>
          <p:cNvSpPr txBox="1"/>
          <p:nvPr/>
        </p:nvSpPr>
        <p:spPr>
          <a:xfrm>
            <a:off x="6126480" y="22860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9" name="Text 15"/>
          <p:cNvSpPr txBox="1"/>
          <p:nvPr/>
        </p:nvSpPr>
        <p:spPr>
          <a:xfrm>
            <a:off x="6858000" y="2194560"/>
            <a:ext cx="4617720" cy="73152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Una tarea suya que ya hace o podría hacer con IA.</a:t>
            </a:r>
            <a:endParaRPr lang="en-US" sz="1500" dirty="0"/>
          </a:p>
        </p:txBody>
      </p:sp>
      <p:sp>
        <p:nvSpPr>
          <p:cNvPr id="20" name="Shape 16"/>
          <p:cNvSpPr/>
          <p:nvPr/>
        </p:nvSpPr>
        <p:spPr>
          <a:xfrm>
            <a:off x="5943600" y="3200400"/>
            <a:ext cx="5669280" cy="914400"/>
          </a:xfrm>
          <a:prstGeom prst="roundRect">
            <a:avLst>
              <a:gd name="adj" fmla="val 12000"/>
            </a:avLst>
          </a:prstGeom>
          <a:solidFill>
            <a:srgbClr val="F4F7FA"/>
          </a:solidFill>
          <a:ln w="12700">
            <a:solidFill>
              <a:srgbClr val="F4F7FA"/>
            </a:solidFill>
            <a:prstDash val="solid"/>
          </a:ln>
        </p:spPr>
      </p:sp>
      <p:sp>
        <p:nvSpPr>
          <p:cNvPr id="21" name="Shape 17"/>
          <p:cNvSpPr/>
          <p:nvPr/>
        </p:nvSpPr>
        <p:spPr>
          <a:xfrm>
            <a:off x="6126480" y="3383280"/>
            <a:ext cx="548640" cy="548640"/>
          </a:xfrm>
          <a:prstGeom prst="ellipse">
            <a:avLst/>
          </a:prstGeom>
          <a:solidFill>
            <a:srgbClr val="C0392B"/>
          </a:solidFill>
          <a:ln w="12700">
            <a:solidFill>
              <a:srgbClr val="C0392B"/>
            </a:solidFill>
            <a:prstDash val="solid"/>
          </a:ln>
        </p:spPr>
      </p:sp>
      <p:sp>
        <p:nvSpPr>
          <p:cNvPr id="22" name="Text 18"/>
          <p:cNvSpPr txBox="1"/>
          <p:nvPr/>
        </p:nvSpPr>
        <p:spPr>
          <a:xfrm>
            <a:off x="6126480" y="33832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3" name="Text 19"/>
          <p:cNvSpPr txBox="1"/>
          <p:nvPr/>
        </p:nvSpPr>
        <p:spPr>
          <a:xfrm>
            <a:off x="6858000" y="3291840"/>
            <a:ext cx="4617720" cy="73152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Una tarea que nunca delegaría.</a:t>
            </a:r>
            <a:endParaRPr lang="en-US" sz="1500" dirty="0"/>
          </a:p>
        </p:txBody>
      </p:sp>
      <p:sp>
        <p:nvSpPr>
          <p:cNvPr id="24" name="Shape 20"/>
          <p:cNvSpPr/>
          <p:nvPr/>
        </p:nvSpPr>
        <p:spPr>
          <a:xfrm>
            <a:off x="5943600" y="4297680"/>
            <a:ext cx="5669280" cy="914400"/>
          </a:xfrm>
          <a:prstGeom prst="roundRect">
            <a:avLst>
              <a:gd name="adj" fmla="val 12000"/>
            </a:avLst>
          </a:prstGeom>
          <a:solidFill>
            <a:srgbClr val="F4F7FA"/>
          </a:solidFill>
          <a:ln w="12700">
            <a:solidFill>
              <a:srgbClr val="F4F7FA"/>
            </a:solidFill>
            <a:prstDash val="solid"/>
          </a:ln>
        </p:spPr>
      </p:sp>
      <p:sp>
        <p:nvSpPr>
          <p:cNvPr id="25" name="Shape 21"/>
          <p:cNvSpPr/>
          <p:nvPr/>
        </p:nvSpPr>
        <p:spPr>
          <a:xfrm>
            <a:off x="6126480" y="4480560"/>
            <a:ext cx="548640" cy="548640"/>
          </a:xfrm>
          <a:prstGeom prst="ellipse">
            <a:avLst/>
          </a:prstGeom>
          <a:solidFill>
            <a:srgbClr val="C0392B"/>
          </a:solidFill>
          <a:ln w="12700">
            <a:solidFill>
              <a:srgbClr val="C0392B"/>
            </a:solidFill>
            <a:prstDash val="solid"/>
          </a:ln>
        </p:spPr>
      </p:sp>
      <p:sp>
        <p:nvSpPr>
          <p:cNvPr id="26" name="Text 22"/>
          <p:cNvSpPr txBox="1"/>
          <p:nvPr/>
        </p:nvSpPr>
        <p:spPr>
          <a:xfrm>
            <a:off x="6126480" y="44805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7" name="Text 23"/>
          <p:cNvSpPr txBox="1"/>
          <p:nvPr/>
        </p:nvSpPr>
        <p:spPr>
          <a:xfrm>
            <a:off x="6858000" y="4389120"/>
            <a:ext cx="4617720" cy="73152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Una afirmación del video con la que no esté de acuerdo.</a:t>
            </a:r>
            <a:endParaRPr lang="en-US" sz="1500" dirty="0"/>
          </a:p>
        </p:txBody>
      </p:sp>
      <p:sp>
        <p:nvSpPr>
          <p:cNvPr id="28" name="Text 24"/>
          <p:cNvSpPr txBox="1"/>
          <p:nvPr/>
        </p:nvSpPr>
        <p:spPr>
          <a:xfrm>
            <a:off x="5943600" y="5486400"/>
            <a:ext cx="5669280" cy="548640"/>
          </a:xfrm>
          <a:prstGeom prst="rect">
            <a:avLst/>
          </a:prstGeom>
          <a:noFill/>
          <a:ln/>
        </p:spPr>
        <p:txBody>
          <a:bodyPr wrap="square" lIns="0" tIns="0" rIns="0" bIns="0" rtlCol="0" anchor="t"/>
          <a:lstStyle/>
          <a:p>
            <a:pPr indent="0" marL="0">
              <a:buNone/>
            </a:pPr>
            <a:r>
              <a:rPr lang="en-US" sz="1200" i="1" dirty="0">
                <a:solidFill>
                  <a:srgbClr val="4A5568"/>
                </a:solidFill>
                <a:latin typeface="Calibri" pitchFamily="34" charset="0"/>
                <a:ea typeface="Calibri" pitchFamily="34" charset="-122"/>
                <a:cs typeface="Calibri" pitchFamily="34" charset="-120"/>
              </a:rPr>
              <a:t>Al terminar: dos minutos, tres respuestas en voz alta. El debate viene después del ejercicio.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Ejercicio individual · Auditoría de un escrito hecho con IA</a:t>
            </a:r>
            <a:endParaRPr lang="en-US" sz="2400" dirty="0"/>
          </a:p>
        </p:txBody>
      </p:sp>
      <p:sp>
        <p:nvSpPr>
          <p:cNvPr id="3" name="Shape 1"/>
          <p:cNvSpPr/>
          <p:nvPr/>
        </p:nvSpPr>
        <p:spPr>
          <a:xfrm>
            <a:off x="9646920" y="384048"/>
            <a:ext cx="2084832" cy="384048"/>
          </a:xfrm>
          <a:prstGeom prst="roundRect">
            <a:avLst>
              <a:gd name="adj" fmla="val 50000"/>
            </a:avLst>
          </a:prstGeom>
          <a:solidFill>
            <a:srgbClr val="C0392B"/>
          </a:solidFill>
          <a:ln w="12700">
            <a:solidFill>
              <a:srgbClr val="C0392B"/>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VERIFICAR</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14-29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8</a:t>
            </a:r>
            <a:endParaRPr lang="en-US" sz="900" dirty="0"/>
          </a:p>
        </p:txBody>
      </p:sp>
      <p:sp>
        <p:nvSpPr>
          <p:cNvPr id="8" name="Shape 5"/>
          <p:cNvSpPr/>
          <p:nvPr/>
        </p:nvSpPr>
        <p:spPr>
          <a:xfrm>
            <a:off x="548640" y="1463040"/>
            <a:ext cx="5760720" cy="2743200"/>
          </a:xfrm>
          <a:prstGeom prst="roundRect">
            <a:avLst>
              <a:gd name="adj" fmla="val 4000"/>
            </a:avLst>
          </a:prstGeom>
          <a:solidFill>
            <a:srgbClr val="EAF1F6"/>
          </a:solidFill>
          <a:ln w="12700">
            <a:solidFill>
              <a:srgbClr val="EAF1F6"/>
            </a:solidFill>
            <a:prstDash val="solid"/>
          </a:ln>
        </p:spPr>
      </p:sp>
      <p:sp>
        <p:nvSpPr>
          <p:cNvPr id="9" name="Text 6"/>
          <p:cNvSpPr txBox="1"/>
          <p:nvPr/>
        </p:nvSpPr>
        <p:spPr>
          <a:xfrm>
            <a:off x="777240" y="1554480"/>
            <a:ext cx="5303520" cy="365760"/>
          </a:xfrm>
          <a:prstGeom prst="rect">
            <a:avLst/>
          </a:prstGeom>
          <a:noFill/>
          <a:ln/>
        </p:spPr>
        <p:txBody>
          <a:bodyPr wrap="square" lIns="0" tIns="0" rIns="0" bIns="0" rtlCol="0" anchor="t"/>
          <a:lstStyle/>
          <a:p>
            <a:pPr indent="0" marL="0">
              <a:buNone/>
            </a:pPr>
            <a:r>
              <a:rPr lang="en-US" sz="1500" b="1" dirty="0">
                <a:solidFill>
                  <a:srgbClr val="0F7C90"/>
                </a:solidFill>
                <a:latin typeface="Calibri" pitchFamily="34" charset="0"/>
                <a:ea typeface="Calibri" pitchFamily="34" charset="-122"/>
                <a:cs typeface="Calibri" pitchFamily="34" charset="-120"/>
              </a:rPr>
              <a:t>El caso</a:t>
            </a:r>
            <a:endParaRPr lang="en-US" sz="1500" dirty="0"/>
          </a:p>
        </p:txBody>
      </p:sp>
      <p:sp>
        <p:nvSpPr>
          <p:cNvPr id="10" name="Text 7"/>
          <p:cNvSpPr txBox="1"/>
          <p:nvPr/>
        </p:nvSpPr>
        <p:spPr>
          <a:xfrm>
            <a:off x="777240" y="1920240"/>
            <a:ext cx="5303520" cy="21945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Usted es el socio que debe firmar hoy, antes de las 4 p. m., un recurso de reposición de una página que un asociado redactó con ayuda de una herramienta de IA generativa. El texto cita jurisprudencia, transcribe el artículo 247 del CGP, atribuye un aparte a una corporación y trae un pie de página con «contexto que le di a la IA».</a:t>
            </a:r>
            <a:endParaRPr lang="en-US" sz="1300" dirty="0"/>
          </a:p>
        </p:txBody>
      </p:sp>
      <p:sp>
        <p:nvSpPr>
          <p:cNvPr id="11" name="Shape 8"/>
          <p:cNvSpPr/>
          <p:nvPr/>
        </p:nvSpPr>
        <p:spPr>
          <a:xfrm>
            <a:off x="548640" y="4389120"/>
            <a:ext cx="5760720" cy="1554480"/>
          </a:xfrm>
          <a:prstGeom prst="roundRect">
            <a:avLst>
              <a:gd name="adj" fmla="val 7059"/>
            </a:avLst>
          </a:prstGeom>
          <a:solidFill>
            <a:srgbClr val="1B2A41"/>
          </a:solidFill>
          <a:ln w="12700">
            <a:solidFill>
              <a:srgbClr val="1B2A41"/>
            </a:solidFill>
            <a:prstDash val="solid"/>
          </a:ln>
        </p:spPr>
      </p:sp>
      <p:sp>
        <p:nvSpPr>
          <p:cNvPr id="12" name="Text 9"/>
          <p:cNvSpPr txBox="1"/>
          <p:nvPr/>
        </p:nvSpPr>
        <p:spPr>
          <a:xfrm>
            <a:off x="777240" y="4480560"/>
            <a:ext cx="530352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Consigna</a:t>
            </a:r>
            <a:endParaRPr lang="en-US" sz="1500" dirty="0"/>
          </a:p>
        </p:txBody>
      </p:sp>
      <p:sp>
        <p:nvSpPr>
          <p:cNvPr id="13" name="Text 10"/>
          <p:cNvSpPr txBox="1"/>
          <p:nvPr/>
        </p:nvSpPr>
        <p:spPr>
          <a:xfrm>
            <a:off x="777240" y="4846320"/>
            <a:ext cx="5303520" cy="100584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Marque todo lo que no firmaría, clasifique cada hallazgo y escriba la acción correctiva. Al final, una regla para el protocolo de la firma en la tarjeta.</a:t>
            </a:r>
            <a:endParaRPr lang="en-US" sz="1300" dirty="0"/>
          </a:p>
        </p:txBody>
      </p:sp>
      <p:sp>
        <p:nvSpPr>
          <p:cNvPr id="14" name="Text 11"/>
          <p:cNvSpPr txBox="1"/>
          <p:nvPr/>
        </p:nvSpPr>
        <p:spPr>
          <a:xfrm>
            <a:off x="6766560" y="1463040"/>
            <a:ext cx="4937760" cy="457200"/>
          </a:xfrm>
          <a:prstGeom prst="rect">
            <a:avLst/>
          </a:prstGeom>
          <a:noFill/>
          <a:ln/>
        </p:spPr>
        <p:txBody>
          <a:bodyPr wrap="square" lIns="0" tIns="0" rIns="0" bIns="0" rtlCol="0" anchor="t"/>
          <a:lstStyle/>
          <a:p>
            <a:pPr indent="0" marL="0">
              <a:buNone/>
            </a:pPr>
            <a:r>
              <a:rPr lang="en-US" sz="1700" b="1" dirty="0">
                <a:solidFill>
                  <a:srgbClr val="1B2A41"/>
                </a:solidFill>
                <a:latin typeface="Calibri" pitchFamily="34" charset="0"/>
                <a:ea typeface="Calibri" pitchFamily="34" charset="-122"/>
                <a:cs typeface="Calibri" pitchFamily="34" charset="-120"/>
              </a:rPr>
              <a:t>Lista de verificación de cinco puntos</a:t>
            </a:r>
            <a:endParaRPr lang="en-US" sz="1700" dirty="0"/>
          </a:p>
        </p:txBody>
      </p:sp>
      <p:sp>
        <p:nvSpPr>
          <p:cNvPr id="15" name="Shape 12"/>
          <p:cNvSpPr/>
          <p:nvPr/>
        </p:nvSpPr>
        <p:spPr>
          <a:xfrm>
            <a:off x="6766560" y="2084832"/>
            <a:ext cx="457200" cy="457200"/>
          </a:xfrm>
          <a:prstGeom prst="ellipse">
            <a:avLst/>
          </a:prstGeom>
          <a:solidFill>
            <a:srgbClr val="C0392B"/>
          </a:solidFill>
          <a:ln w="12700">
            <a:solidFill>
              <a:srgbClr val="C0392B"/>
            </a:solidFill>
            <a:prstDash val="solid"/>
          </a:ln>
        </p:spPr>
      </p:sp>
      <p:sp>
        <p:nvSpPr>
          <p:cNvPr id="16" name="Text 13"/>
          <p:cNvSpPr txBox="1"/>
          <p:nvPr/>
        </p:nvSpPr>
        <p:spPr>
          <a:xfrm>
            <a:off x="6766560" y="20848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7" name="Text 14"/>
          <p:cNvSpPr txBox="1"/>
          <p:nvPr/>
        </p:nvSpPr>
        <p:spPr>
          <a:xfrm>
            <a:off x="7360920" y="2011680"/>
            <a:ext cx="4297680" cy="603504"/>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Existencia y vigencia de la fuente</a:t>
            </a:r>
            <a:endParaRPr lang="en-US" sz="1500" dirty="0"/>
          </a:p>
        </p:txBody>
      </p:sp>
      <p:sp>
        <p:nvSpPr>
          <p:cNvPr id="18" name="Shape 15"/>
          <p:cNvSpPr/>
          <p:nvPr/>
        </p:nvSpPr>
        <p:spPr>
          <a:xfrm>
            <a:off x="6766560" y="2688336"/>
            <a:ext cx="457200" cy="457200"/>
          </a:xfrm>
          <a:prstGeom prst="ellipse">
            <a:avLst/>
          </a:prstGeom>
          <a:solidFill>
            <a:srgbClr val="C0392B"/>
          </a:solidFill>
          <a:ln w="12700">
            <a:solidFill>
              <a:srgbClr val="C0392B"/>
            </a:solidFill>
            <a:prstDash val="solid"/>
          </a:ln>
        </p:spPr>
      </p:sp>
      <p:sp>
        <p:nvSpPr>
          <p:cNvPr id="19" name="Text 16"/>
          <p:cNvSpPr txBox="1"/>
          <p:nvPr/>
        </p:nvSpPr>
        <p:spPr>
          <a:xfrm>
            <a:off x="6766560" y="26883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0" name="Text 17"/>
          <p:cNvSpPr txBox="1"/>
          <p:nvPr/>
        </p:nvSpPr>
        <p:spPr>
          <a:xfrm>
            <a:off x="7360920" y="2615184"/>
            <a:ext cx="4297680" cy="603504"/>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Fidelidad de la cita</a:t>
            </a:r>
            <a:endParaRPr lang="en-US" sz="1500" dirty="0"/>
          </a:p>
        </p:txBody>
      </p:sp>
      <p:sp>
        <p:nvSpPr>
          <p:cNvPr id="21" name="Shape 18"/>
          <p:cNvSpPr/>
          <p:nvPr/>
        </p:nvSpPr>
        <p:spPr>
          <a:xfrm>
            <a:off x="6766560" y="3291840"/>
            <a:ext cx="457200" cy="457200"/>
          </a:xfrm>
          <a:prstGeom prst="ellipse">
            <a:avLst/>
          </a:prstGeom>
          <a:solidFill>
            <a:srgbClr val="C0392B"/>
          </a:solidFill>
          <a:ln w="12700">
            <a:solidFill>
              <a:srgbClr val="C0392B"/>
            </a:solidFill>
            <a:prstDash val="solid"/>
          </a:ln>
        </p:spPr>
      </p:sp>
      <p:sp>
        <p:nvSpPr>
          <p:cNvPr id="22" name="Text 19"/>
          <p:cNvSpPr txBox="1"/>
          <p:nvPr/>
        </p:nvSpPr>
        <p:spPr>
          <a:xfrm>
            <a:off x="6766560" y="32918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0"/>
          <p:cNvSpPr txBox="1"/>
          <p:nvPr/>
        </p:nvSpPr>
        <p:spPr>
          <a:xfrm>
            <a:off x="7360920" y="3218688"/>
            <a:ext cx="4297680" cy="603504"/>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Pertinencia</a:t>
            </a:r>
            <a:endParaRPr lang="en-US" sz="1500" dirty="0"/>
          </a:p>
        </p:txBody>
      </p:sp>
      <p:sp>
        <p:nvSpPr>
          <p:cNvPr id="24" name="Shape 21"/>
          <p:cNvSpPr/>
          <p:nvPr/>
        </p:nvSpPr>
        <p:spPr>
          <a:xfrm>
            <a:off x="6766560" y="3895344"/>
            <a:ext cx="457200" cy="457200"/>
          </a:xfrm>
          <a:prstGeom prst="ellipse">
            <a:avLst/>
          </a:prstGeom>
          <a:solidFill>
            <a:srgbClr val="C0392B"/>
          </a:solidFill>
          <a:ln w="12700">
            <a:solidFill>
              <a:srgbClr val="C0392B"/>
            </a:solidFill>
            <a:prstDash val="solid"/>
          </a:ln>
        </p:spPr>
      </p:sp>
      <p:sp>
        <p:nvSpPr>
          <p:cNvPr id="25" name="Text 22"/>
          <p:cNvSpPr txBox="1"/>
          <p:nvPr/>
        </p:nvSpPr>
        <p:spPr>
          <a:xfrm>
            <a:off x="6766560" y="38953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txBox="1"/>
          <p:nvPr/>
        </p:nvSpPr>
        <p:spPr>
          <a:xfrm>
            <a:off x="7360920" y="3822192"/>
            <a:ext cx="4297680" cy="603504"/>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Confidencialidad y datos personales</a:t>
            </a:r>
            <a:endParaRPr lang="en-US" sz="1500" dirty="0"/>
          </a:p>
        </p:txBody>
      </p:sp>
      <p:sp>
        <p:nvSpPr>
          <p:cNvPr id="27" name="Shape 24"/>
          <p:cNvSpPr/>
          <p:nvPr/>
        </p:nvSpPr>
        <p:spPr>
          <a:xfrm>
            <a:off x="6766560" y="4498848"/>
            <a:ext cx="457200" cy="457200"/>
          </a:xfrm>
          <a:prstGeom prst="ellipse">
            <a:avLst/>
          </a:prstGeom>
          <a:solidFill>
            <a:srgbClr val="C0392B"/>
          </a:solidFill>
          <a:ln w="12700">
            <a:solidFill>
              <a:srgbClr val="C0392B"/>
            </a:solidFill>
            <a:prstDash val="solid"/>
          </a:ln>
        </p:spPr>
      </p:sp>
      <p:sp>
        <p:nvSpPr>
          <p:cNvPr id="28" name="Text 25"/>
          <p:cNvSpPr txBox="1"/>
          <p:nvPr/>
        </p:nvSpPr>
        <p:spPr>
          <a:xfrm>
            <a:off x="6766560" y="44988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6"/>
          <p:cNvSpPr txBox="1"/>
          <p:nvPr/>
        </p:nvSpPr>
        <p:spPr>
          <a:xfrm>
            <a:off x="7360920" y="4425696"/>
            <a:ext cx="4297680" cy="603504"/>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Trazabilidad y firma responsable</a:t>
            </a:r>
            <a:endParaRPr lang="en-US" sz="1500" dirty="0"/>
          </a:p>
        </p:txBody>
      </p:sp>
      <p:sp>
        <p:nvSpPr>
          <p:cNvPr id="30" name="Shape 27"/>
          <p:cNvSpPr/>
          <p:nvPr/>
        </p:nvSpPr>
        <p:spPr>
          <a:xfrm>
            <a:off x="6766560" y="5166360"/>
            <a:ext cx="4937760" cy="777240"/>
          </a:xfrm>
          <a:prstGeom prst="roundRect">
            <a:avLst>
              <a:gd name="adj" fmla="val 14118"/>
            </a:avLst>
          </a:prstGeom>
          <a:solidFill>
            <a:srgbClr val="F4F7FA"/>
          </a:solidFill>
          <a:ln w="12700">
            <a:solidFill>
              <a:srgbClr val="F4F7FA"/>
            </a:solidFill>
            <a:prstDash val="solid"/>
          </a:ln>
        </p:spPr>
      </p:sp>
      <p:sp>
        <p:nvSpPr>
          <p:cNvPr id="31" name="Text 28"/>
          <p:cNvSpPr txBox="1"/>
          <p:nvPr/>
        </p:nvSpPr>
        <p:spPr>
          <a:xfrm>
            <a:off x="6949440" y="5230368"/>
            <a:ext cx="4572000" cy="64008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3 min consigna · 10 min trabajo individual en silencio · 2 min clave y autocalificación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Clave del ejercicio: cuatro hallazgos</a:t>
            </a:r>
            <a:endParaRPr lang="en-US" sz="2800" dirty="0"/>
          </a:p>
        </p:txBody>
      </p:sp>
      <p:sp>
        <p:nvSpPr>
          <p:cNvPr id="3" name="Shape 1"/>
          <p:cNvSpPr/>
          <p:nvPr/>
        </p:nvSpPr>
        <p:spPr>
          <a:xfrm>
            <a:off x="9646920" y="384048"/>
            <a:ext cx="2084832" cy="384048"/>
          </a:xfrm>
          <a:prstGeom prst="roundRect">
            <a:avLst>
              <a:gd name="adj" fmla="val 50000"/>
            </a:avLst>
          </a:prstGeom>
          <a:solidFill>
            <a:srgbClr val="C0392B"/>
          </a:solidFill>
          <a:ln w="12700">
            <a:solidFill>
              <a:srgbClr val="C0392B"/>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VERIFICAR</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27-29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9</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572000"/>
                <a:gridCol w="2103120"/>
                <a:gridCol w="438912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Hallazgo</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C039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Clasificación</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C039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Acción correctiva</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C0392B"/>
                    </a:solidFill>
                  </a:tcPr>
                </a:tc>
              </a:tr>
              <a:tr h="86868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Sentencia de la Corte Suprema con número, fecha y ponente que no existen</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Fuente inexistente</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Buscarla en la relatoría oficial; si no aparece, eliminar o sustituir</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r>
              <a:tr h="86868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«La impresión en papel del mensaje de datos tiene el mismo valor probatorio que el original» (art. 247 CGP)</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Cita distorsionada</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Texto exacto: la simple impresión se valora conforme a las reglas generales de los documentos</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r h="86868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Aparte de la Sentencia T-323 de 2024 atribuido a la Corte Suprema</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Fuente equivocada</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Reatribuir a la Corte Constitucional y verificar el aparte en contexto</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4F7FA"/>
                    </a:solidFill>
                  </a:tcPr>
                </a:tc>
              </a:tr>
              <a:tr h="86868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Diagnóstico médico del cliente en pie de página: «contexto que le di a la IA»</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Confidencialidad y datos sensibles</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Retirar; revisar en qué herramienta se ingresó y con qué configuración de privacidad</a:t>
                      </a:r>
                      <a:endParaRPr lang="en-US" sz="1300" dirty="0">
                        <a:latin typeface="Calibri" charset="0"/>
                        <a:ea typeface="Calibri" charset="0"/>
                        <a:cs typeface="Calibri" charset="0"/>
                      </a:endParaRPr>
                    </a:p>
                  </a:txBody>
                  <a:tcPr marL="73152" marR="73152" marT="73152" marB="73152" anchor="ctr">
                    <a:lnL w="6350" cap="flat" cmpd="sng" algn="ctr">
                      <a:solidFill>
                        <a:srgbClr val="D9E1EA"/>
                      </a:solidFill>
                      <a:prstDash val="solid"/>
                      <a:round/>
                      <a:headEnd type="none" w="med" len="med"/>
                      <a:tailEnd type="none" w="med" len="med"/>
                    </a:lnL>
                    <a:lnR w="6350" cap="flat" cmpd="sng" algn="ctr">
                      <a:solidFill>
                        <a:srgbClr val="D9E1EA"/>
                      </a:solidFill>
                      <a:prstDash val="solid"/>
                      <a:round/>
                      <a:headEnd type="none" w="med" len="med"/>
                      <a:tailEnd type="none" w="med" len="med"/>
                    </a:lnR>
                    <a:lnT w="6350" cap="flat" cmpd="sng" algn="ctr">
                      <a:solidFill>
                        <a:srgbClr val="D9E1EA"/>
                      </a:solidFill>
                      <a:prstDash val="solid"/>
                      <a:round/>
                      <a:headEnd type="none" w="med" len="med"/>
                      <a:tailEnd type="none" w="med" len="med"/>
                    </a:lnT>
                    <a:lnB w="6350" cap="flat" cmpd="sng" algn="ctr">
                      <a:solidFill>
                        <a:srgbClr val="D9E1EA"/>
                      </a:solidFill>
                      <a:prstDash val="solid"/>
                      <a:round/>
                      <a:headEnd type="none" w="med" len="med"/>
                      <a:tailEnd type="none" w="med" len="med"/>
                    </a:lnB>
                    <a:solidFill>
                      <a:srgbClr val="FFFFFF"/>
                    </a:solidFill>
                  </a:tcPr>
                </a:tc>
              </a:tr>
            </a:tbl>
          </a:graphicData>
        </a:graphic>
      </p:graphicFrame>
      <p:sp>
        <p:nvSpPr>
          <p:cNvPr id="9" name="Shape 5"/>
          <p:cNvSpPr/>
          <p:nvPr/>
        </p:nvSpPr>
        <p:spPr>
          <a:xfrm>
            <a:off x="548640" y="5486400"/>
            <a:ext cx="11064240" cy="685800"/>
          </a:xfrm>
          <a:prstGeom prst="roundRect">
            <a:avLst>
              <a:gd name="adj" fmla="val 16000"/>
            </a:avLst>
          </a:prstGeom>
          <a:solidFill>
            <a:srgbClr val="1B2A41"/>
          </a:solidFill>
          <a:ln w="12700">
            <a:solidFill>
              <a:srgbClr val="1B2A41"/>
            </a:solidFill>
            <a:prstDash val="solid"/>
          </a:ln>
        </p:spPr>
      </p:sp>
      <p:sp>
        <p:nvSpPr>
          <p:cNvPr id="10" name="Text 6"/>
          <p:cNvSpPr txBox="1"/>
          <p:nvPr/>
        </p:nvSpPr>
        <p:spPr>
          <a:xfrm>
            <a:off x="731520" y="5532120"/>
            <a:ext cx="1069848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Quien firma responde.  ·  Autocalifíquese de 0 a 4 y escriba en la tarjeta UNA regla para el protocolo de la firma.</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Puesta en común · ¿Debe revelarse el uso de IA en un escrito judicial?</a:t>
            </a:r>
            <a:endParaRPr lang="en-US" sz="2400" dirty="0"/>
          </a:p>
        </p:txBody>
      </p:sp>
      <p:sp>
        <p:nvSpPr>
          <p:cNvPr id="3" name="Shape 1"/>
          <p:cNvSpPr/>
          <p:nvPr/>
        </p:nvSpPr>
        <p:spPr>
          <a:xfrm>
            <a:off x="9646920" y="384048"/>
            <a:ext cx="2084832" cy="384048"/>
          </a:xfrm>
          <a:prstGeom prst="roundRect">
            <a:avLst>
              <a:gd name="adj" fmla="val 50000"/>
            </a:avLst>
          </a:prstGeom>
          <a:solidFill>
            <a:srgbClr val="C0392B"/>
          </a:solidFill>
          <a:ln w="12700">
            <a:solidFill>
              <a:srgbClr val="C0392B"/>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VERIFICAR</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29-35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10</a:t>
            </a:r>
            <a:endParaRPr lang="en-US" sz="900" dirty="0"/>
          </a:p>
        </p:txBody>
      </p:sp>
      <p:sp>
        <p:nvSpPr>
          <p:cNvPr id="8" name="Shape 5"/>
          <p:cNvSpPr/>
          <p:nvPr/>
        </p:nvSpPr>
        <p:spPr>
          <a:xfrm>
            <a:off x="548640" y="1371600"/>
            <a:ext cx="3566160" cy="2926080"/>
          </a:xfrm>
          <a:prstGeom prst="roundRect">
            <a:avLst>
              <a:gd name="adj" fmla="val 3750"/>
            </a:avLst>
          </a:prstGeom>
          <a:solidFill>
            <a:srgbClr val="EAF1F6"/>
          </a:solidFill>
          <a:ln w="12700">
            <a:solidFill>
              <a:srgbClr val="EAF1F6"/>
            </a:solidFill>
            <a:prstDash val="solid"/>
          </a:ln>
        </p:spPr>
      </p:sp>
      <p:sp>
        <p:nvSpPr>
          <p:cNvPr id="9" name="Text 6"/>
          <p:cNvSpPr txBox="1"/>
          <p:nvPr/>
        </p:nvSpPr>
        <p:spPr>
          <a:xfrm>
            <a:off x="731520" y="1463040"/>
            <a:ext cx="3200400" cy="365760"/>
          </a:xfrm>
          <a:prstGeom prst="rect">
            <a:avLst/>
          </a:prstGeom>
          <a:noFill/>
          <a:ln/>
        </p:spPr>
        <p:txBody>
          <a:bodyPr wrap="square" lIns="0" tIns="0" rIns="0" bIns="0" rtlCol="0" anchor="t"/>
          <a:lstStyle/>
          <a:p>
            <a:pPr indent="0" marL="0">
              <a:buNone/>
            </a:pPr>
            <a:r>
              <a:rPr lang="en-US" sz="1600" b="1" dirty="0">
                <a:solidFill>
                  <a:srgbClr val="2E8B57"/>
                </a:solidFill>
                <a:latin typeface="Calibri" pitchFamily="34" charset="0"/>
                <a:ea typeface="Calibri" pitchFamily="34" charset="-122"/>
                <a:cs typeface="Calibri" pitchFamily="34" charset="-120"/>
              </a:rPr>
              <a:t>A favor</a:t>
            </a:r>
            <a:endParaRPr lang="en-US" sz="1600" dirty="0"/>
          </a:p>
        </p:txBody>
      </p:sp>
      <p:sp>
        <p:nvSpPr>
          <p:cNvPr id="10" name="Text 7"/>
          <p:cNvSpPr txBox="1"/>
          <p:nvPr/>
        </p:nvSpPr>
        <p:spPr>
          <a:xfrm>
            <a:off x="731520" y="1874520"/>
            <a:ext cx="3200400" cy="22860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La T-323 de 2024 exige transparencia al juez; la lealtad procesal justifica el mismo estándar para las partes. Las providencias STC17832-2025 y AC739-2026 muestran que las citas inexistentes ya tienen consecuencias.</a:t>
            </a:r>
            <a:endParaRPr lang="en-US" sz="1250" dirty="0"/>
          </a:p>
        </p:txBody>
      </p:sp>
      <p:sp>
        <p:nvSpPr>
          <p:cNvPr id="11" name="Shape 8"/>
          <p:cNvSpPr/>
          <p:nvPr/>
        </p:nvSpPr>
        <p:spPr>
          <a:xfrm>
            <a:off x="4297680" y="1371600"/>
            <a:ext cx="3566160" cy="2926080"/>
          </a:xfrm>
          <a:prstGeom prst="roundRect">
            <a:avLst>
              <a:gd name="adj" fmla="val 3750"/>
            </a:avLst>
          </a:prstGeom>
          <a:solidFill>
            <a:srgbClr val="EAF1F6"/>
          </a:solidFill>
          <a:ln w="12700">
            <a:solidFill>
              <a:srgbClr val="EAF1F6"/>
            </a:solidFill>
            <a:prstDash val="solid"/>
          </a:ln>
        </p:spPr>
      </p:sp>
      <p:sp>
        <p:nvSpPr>
          <p:cNvPr id="12" name="Text 9"/>
          <p:cNvSpPr txBox="1"/>
          <p:nvPr/>
        </p:nvSpPr>
        <p:spPr>
          <a:xfrm>
            <a:off x="4480560" y="1463040"/>
            <a:ext cx="3200400" cy="365760"/>
          </a:xfrm>
          <a:prstGeom prst="rect">
            <a:avLst/>
          </a:prstGeom>
          <a:noFill/>
          <a:ln/>
        </p:spPr>
        <p:txBody>
          <a:bodyPr wrap="square" lIns="0" tIns="0" rIns="0" bIns="0" rtlCol="0" anchor="t"/>
          <a:lstStyle/>
          <a:p>
            <a:pPr indent="0" marL="0">
              <a:buNone/>
            </a:pPr>
            <a:r>
              <a:rPr lang="en-US" sz="1600" b="1" dirty="0">
                <a:solidFill>
                  <a:srgbClr val="C0392B"/>
                </a:solidFill>
                <a:latin typeface="Calibri" pitchFamily="34" charset="0"/>
                <a:ea typeface="Calibri" pitchFamily="34" charset="-122"/>
                <a:cs typeface="Calibri" pitchFamily="34" charset="-120"/>
              </a:rPr>
              <a:t>En contra</a:t>
            </a:r>
            <a:endParaRPr lang="en-US" sz="1600" dirty="0"/>
          </a:p>
        </p:txBody>
      </p:sp>
      <p:sp>
        <p:nvSpPr>
          <p:cNvPr id="13" name="Text 10"/>
          <p:cNvSpPr txBox="1"/>
          <p:nvPr/>
        </p:nvSpPr>
        <p:spPr>
          <a:xfrm>
            <a:off x="4480560" y="1874520"/>
            <a:ext cx="3200400" cy="22860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La IA es una herramienta como el procesador de texto o la base de datos. Lo jurídicamente relevante es la verificación y la responsabilidad de quien firma, no la herramienta.</a:t>
            </a:r>
            <a:endParaRPr lang="en-US" sz="1250" dirty="0"/>
          </a:p>
        </p:txBody>
      </p:sp>
      <p:sp>
        <p:nvSpPr>
          <p:cNvPr id="14" name="Shape 11"/>
          <p:cNvSpPr/>
          <p:nvPr/>
        </p:nvSpPr>
        <p:spPr>
          <a:xfrm>
            <a:off x="8046720" y="1371600"/>
            <a:ext cx="3566160" cy="2926080"/>
          </a:xfrm>
          <a:prstGeom prst="roundRect">
            <a:avLst>
              <a:gd name="adj" fmla="val 3750"/>
            </a:avLst>
          </a:prstGeom>
          <a:solidFill>
            <a:srgbClr val="1B2A41"/>
          </a:solidFill>
          <a:ln w="12700">
            <a:solidFill>
              <a:srgbClr val="1B2A41"/>
            </a:solidFill>
            <a:prstDash val="solid"/>
          </a:ln>
        </p:spPr>
      </p:sp>
      <p:sp>
        <p:nvSpPr>
          <p:cNvPr id="15" name="Text 12"/>
          <p:cNvSpPr txBox="1"/>
          <p:nvPr/>
        </p:nvSpPr>
        <p:spPr>
          <a:xfrm>
            <a:off x="8229600" y="1463040"/>
            <a:ext cx="3200400" cy="365760"/>
          </a:xfrm>
          <a:prstGeom prst="rect">
            <a:avLst/>
          </a:prstGeom>
          <a:noFill/>
          <a:ln/>
        </p:spPr>
        <p:txBody>
          <a:bodyPr wrap="square" lIns="0" tIns="0" rIns="0" bIns="0" rtlCol="0" anchor="t"/>
          <a:lstStyle/>
          <a:p>
            <a:pPr indent="0" marL="0">
              <a:buNone/>
            </a:pPr>
            <a:r>
              <a:rPr lang="en-US" sz="1600" b="1" dirty="0">
                <a:solidFill>
                  <a:srgbClr val="E8A33D"/>
                </a:solidFill>
                <a:latin typeface="Calibri" pitchFamily="34" charset="0"/>
                <a:ea typeface="Calibri" pitchFamily="34" charset="-122"/>
                <a:cs typeface="Calibri" pitchFamily="34" charset="-120"/>
              </a:rPr>
              <a:t>Posición modelo</a:t>
            </a:r>
            <a:endParaRPr lang="en-US" sz="1600" dirty="0"/>
          </a:p>
        </p:txBody>
      </p:sp>
      <p:sp>
        <p:nvSpPr>
          <p:cNvPr id="16" name="Text 13"/>
          <p:cNvSpPr txBox="1"/>
          <p:nvPr/>
        </p:nvSpPr>
        <p:spPr>
          <a:xfrm>
            <a:off x="8229600" y="1874520"/>
            <a:ext cx="3200400" cy="22860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Revelar cuando la IA aporte contenido sustantivo (citas, argumentos) o cuando el juez o el reglamento lo exijan. En todo caso: verificar, documentar y responder por la firma.</a:t>
            </a:r>
            <a:endParaRPr lang="en-US" sz="1250" dirty="0"/>
          </a:p>
        </p:txBody>
      </p:sp>
      <p:sp>
        <p:nvSpPr>
          <p:cNvPr id="17" name="Text 14"/>
          <p:cNvSpPr txBox="1"/>
          <p:nvPr/>
        </p:nvSpPr>
        <p:spPr>
          <a:xfrm>
            <a:off x="548640" y="4526280"/>
            <a:ext cx="10972800" cy="41148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Mínimo de tres pasos antes de radicar cualquier escrito</a:t>
            </a:r>
            <a:endParaRPr lang="en-US" sz="1600" dirty="0"/>
          </a:p>
        </p:txBody>
      </p:sp>
      <p:sp>
        <p:nvSpPr>
          <p:cNvPr id="18" name="Shape 15"/>
          <p:cNvSpPr/>
          <p:nvPr/>
        </p:nvSpPr>
        <p:spPr>
          <a:xfrm>
            <a:off x="548640" y="5029200"/>
            <a:ext cx="502920" cy="502920"/>
          </a:xfrm>
          <a:prstGeom prst="ellipse">
            <a:avLst/>
          </a:prstGeom>
          <a:solidFill>
            <a:srgbClr val="C0392B"/>
          </a:solidFill>
          <a:ln w="12700">
            <a:solidFill>
              <a:srgbClr val="C0392B"/>
            </a:solidFill>
            <a:prstDash val="solid"/>
          </a:ln>
        </p:spPr>
      </p:sp>
      <p:sp>
        <p:nvSpPr>
          <p:cNvPr id="19" name="Text 16"/>
          <p:cNvSpPr txBox="1"/>
          <p:nvPr/>
        </p:nvSpPr>
        <p:spPr>
          <a:xfrm>
            <a:off x="548640" y="5029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0" name="Text 17"/>
          <p:cNvSpPr txBox="1"/>
          <p:nvPr/>
        </p:nvSpPr>
        <p:spPr>
          <a:xfrm>
            <a:off x="1143000" y="4983480"/>
            <a:ext cx="3017520" cy="10972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Localizar cada providencia en la relatoría oficial: número, fecha, sala y ponente. Si no aparece, se elimina.</a:t>
            </a:r>
            <a:endParaRPr lang="en-US" sz="1200" dirty="0"/>
          </a:p>
        </p:txBody>
      </p:sp>
      <p:sp>
        <p:nvSpPr>
          <p:cNvPr id="21" name="Shape 18"/>
          <p:cNvSpPr/>
          <p:nvPr/>
        </p:nvSpPr>
        <p:spPr>
          <a:xfrm>
            <a:off x="4297680" y="5029200"/>
            <a:ext cx="502920" cy="502920"/>
          </a:xfrm>
          <a:prstGeom prst="ellipse">
            <a:avLst/>
          </a:prstGeom>
          <a:solidFill>
            <a:srgbClr val="C0392B"/>
          </a:solidFill>
          <a:ln w="12700">
            <a:solidFill>
              <a:srgbClr val="C0392B"/>
            </a:solidFill>
            <a:prstDash val="solid"/>
          </a:ln>
        </p:spPr>
      </p:sp>
      <p:sp>
        <p:nvSpPr>
          <p:cNvPr id="22" name="Text 19"/>
          <p:cNvSpPr txBox="1"/>
          <p:nvPr/>
        </p:nvSpPr>
        <p:spPr>
          <a:xfrm>
            <a:off x="4297680" y="5029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3" name="Text 20"/>
          <p:cNvSpPr txBox="1"/>
          <p:nvPr/>
        </p:nvSpPr>
        <p:spPr>
          <a:xfrm>
            <a:off x="4892040" y="4983480"/>
            <a:ext cx="3017520" cy="10972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Leer el aparte en su contexto y confirmar que dice lo que se afirma y que sigue vigente.</a:t>
            </a:r>
            <a:endParaRPr lang="en-US" sz="1200" dirty="0"/>
          </a:p>
        </p:txBody>
      </p:sp>
      <p:sp>
        <p:nvSpPr>
          <p:cNvPr id="24" name="Shape 21"/>
          <p:cNvSpPr/>
          <p:nvPr/>
        </p:nvSpPr>
        <p:spPr>
          <a:xfrm>
            <a:off x="8046720" y="5029200"/>
            <a:ext cx="502920" cy="502920"/>
          </a:xfrm>
          <a:prstGeom prst="ellipse">
            <a:avLst/>
          </a:prstGeom>
          <a:solidFill>
            <a:srgbClr val="C0392B"/>
          </a:solidFill>
          <a:ln w="12700">
            <a:solidFill>
              <a:srgbClr val="C0392B"/>
            </a:solidFill>
            <a:prstDash val="solid"/>
          </a:ln>
        </p:spPr>
      </p:sp>
      <p:sp>
        <p:nvSpPr>
          <p:cNvPr id="25" name="Text 22"/>
          <p:cNvSpPr txBox="1"/>
          <p:nvPr/>
        </p:nvSpPr>
        <p:spPr>
          <a:xfrm>
            <a:off x="8046720" y="5029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3"/>
          <p:cNvSpPr txBox="1"/>
          <p:nvPr/>
        </p:nvSpPr>
        <p:spPr>
          <a:xfrm>
            <a:off x="8641080" y="4983480"/>
            <a:ext cx="3017520" cy="10972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Dejar registro (quién, cuándo, herramienta, correcciones) y firma del responsable.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Video 2 · Del contrato electrónico al smart contract</a:t>
            </a:r>
            <a:endParaRPr lang="en-US" sz="2400" dirty="0"/>
          </a:p>
        </p:txBody>
      </p:sp>
      <p:sp>
        <p:nvSpPr>
          <p:cNvPr id="3" name="Shape 1"/>
          <p:cNvSpPr/>
          <p:nvPr/>
        </p:nvSpPr>
        <p:spPr>
          <a:xfrm>
            <a:off x="9646920" y="384048"/>
            <a:ext cx="2084832" cy="384048"/>
          </a:xfrm>
          <a:prstGeom prst="roundRect">
            <a:avLst>
              <a:gd name="adj" fmla="val 50000"/>
            </a:avLst>
          </a:prstGeom>
          <a:solidFill>
            <a:srgbClr val="0F7C90"/>
          </a:solidFill>
          <a:ln w="12700">
            <a:solidFill>
              <a:srgbClr val="0F7C90"/>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DEMOSTRAR</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35-41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11</a:t>
            </a:r>
            <a:endParaRPr lang="en-US" sz="900" dirty="0"/>
          </a:p>
        </p:txBody>
      </p:sp>
      <p:sp>
        <p:nvSpPr>
          <p:cNvPr id="8" name="Shape 5"/>
          <p:cNvSpPr/>
          <p:nvPr/>
        </p:nvSpPr>
        <p:spPr>
          <a:xfrm>
            <a:off x="548640" y="1463040"/>
            <a:ext cx="4937760" cy="4480560"/>
          </a:xfrm>
          <a:prstGeom prst="roundRect">
            <a:avLst>
              <a:gd name="adj" fmla="val 2449"/>
            </a:avLst>
          </a:prstGeom>
          <a:solidFill>
            <a:srgbClr val="1B2A41"/>
          </a:solidFill>
          <a:ln w="12700">
            <a:solidFill>
              <a:srgbClr val="1B2A41"/>
            </a:solidFill>
            <a:prstDash val="solid"/>
          </a:ln>
        </p:spPr>
      </p:sp>
      <p:sp>
        <p:nvSpPr>
          <p:cNvPr id="9" name="Shape 6"/>
          <p:cNvSpPr/>
          <p:nvPr/>
        </p:nvSpPr>
        <p:spPr>
          <a:xfrm>
            <a:off x="2560320" y="1828800"/>
            <a:ext cx="914400" cy="914400"/>
          </a:xfrm>
          <a:prstGeom prst="ellipse">
            <a:avLst/>
          </a:prstGeom>
          <a:solidFill>
            <a:srgbClr val="0F7C90"/>
          </a:solidFill>
          <a:ln w="12700">
            <a:solidFill>
              <a:srgbClr val="0F7C90"/>
            </a:solidFill>
            <a:prstDash val="solid"/>
          </a:ln>
        </p:spPr>
      </p:sp>
      <p:pic>
        <p:nvPicPr>
          <p:cNvPr id="10" name="Image 0" descr="preencoded.png">    </p:cNvPr>
          <p:cNvPicPr>
            <a:picLocks noChangeAspect="1"/>
          </p:cNvPicPr>
          <p:nvPr/>
        </p:nvPicPr>
        <p:blipFill>
          <a:blip r:embed="rId1"/>
          <a:stretch>
            <a:fillRect/>
          </a:stretch>
        </p:blipFill>
        <p:spPr>
          <a:xfrm>
            <a:off x="2788920" y="2057400"/>
            <a:ext cx="457200" cy="457200"/>
          </a:xfrm>
          <a:prstGeom prst="rect">
            <a:avLst/>
          </a:prstGeom>
        </p:spPr>
      </p:pic>
      <p:sp>
        <p:nvSpPr>
          <p:cNvPr id="11" name="Text 7"/>
          <p:cNvSpPr txBox="1"/>
          <p:nvPr/>
        </p:nvSpPr>
        <p:spPr>
          <a:xfrm>
            <a:off x="822960" y="2926080"/>
            <a:ext cx="4389120" cy="914400"/>
          </a:xfrm>
          <a:prstGeom prst="rect">
            <a:avLst/>
          </a:prstGeom>
          <a:noFill/>
          <a:ln/>
        </p:spPr>
        <p:txBody>
          <a:bodyPr wrap="square" lIns="0" tIns="0" rIns="0" bIns="0" rtlCol="0" anchor="t"/>
          <a:lstStyle/>
          <a:p>
            <a:pPr algn="ctr" indent="0" marL="0">
              <a:buNone/>
            </a:pPr>
            <a:r>
              <a:rPr lang="en-US" sz="1700" b="1" dirty="0">
                <a:solidFill>
                  <a:srgbClr val="FFFFFF"/>
                </a:solidFill>
                <a:latin typeface="Calibri" pitchFamily="34" charset="0"/>
                <a:ea typeface="Calibri" pitchFamily="34" charset="-122"/>
                <a:cs typeface="Calibri" pitchFamily="34" charset="-120"/>
              </a:rPr>
              <a:t>Del contrato electrónico a los smart contracts: perspectivas y prospectiva</a:t>
            </a:r>
            <a:endParaRPr lang="en-US" sz="1700" dirty="0"/>
          </a:p>
        </p:txBody>
      </p:sp>
      <p:sp>
        <p:nvSpPr>
          <p:cNvPr id="12" name="Text 8"/>
          <p:cNvSpPr txBox="1"/>
          <p:nvPr/>
        </p:nvSpPr>
        <p:spPr>
          <a:xfrm>
            <a:off x="822960" y="3886200"/>
            <a:ext cx="4389120" cy="45720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Daniel Peña Valenzuela · Universidad Externado de Colombia</a:t>
            </a:r>
            <a:endParaRPr lang="en-US" sz="1300" dirty="0"/>
          </a:p>
        </p:txBody>
      </p:sp>
      <p:sp>
        <p:nvSpPr>
          <p:cNvPr id="13" name="Text 9"/>
          <p:cNvSpPr txBox="1"/>
          <p:nvPr/>
        </p:nvSpPr>
        <p:spPr>
          <a:xfrm>
            <a:off x="822960" y="4343400"/>
            <a:ext cx="4389120" cy="3657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Fragmento de 6 min</a:t>
            </a:r>
            <a:endParaRPr lang="en-US" sz="1200" dirty="0"/>
          </a:p>
        </p:txBody>
      </p:sp>
      <p:sp>
        <p:nvSpPr>
          <p:cNvPr id="14" name="Text 10"/>
          <p:cNvSpPr txBox="1"/>
          <p:nvPr/>
        </p:nvSpPr>
        <p:spPr>
          <a:xfrm>
            <a:off x="5943600" y="1463040"/>
            <a:ext cx="5669280" cy="457200"/>
          </a:xfrm>
          <a:prstGeom prst="rect">
            <a:avLst/>
          </a:prstGeom>
          <a:noFill/>
          <a:ln/>
        </p:spPr>
        <p:txBody>
          <a:bodyPr wrap="square" lIns="0" tIns="0" rIns="0" bIns="0" rtlCol="0" anchor="t"/>
          <a:lstStyle/>
          <a:p>
            <a:pPr indent="0" marL="0">
              <a:buNone/>
            </a:pPr>
            <a:r>
              <a:rPr lang="en-US" sz="1800" b="1" dirty="0">
                <a:solidFill>
                  <a:srgbClr val="1B2A41"/>
                </a:solidFill>
                <a:latin typeface="Calibri" pitchFamily="34" charset="0"/>
                <a:ea typeface="Calibri" pitchFamily="34" charset="-122"/>
                <a:cs typeface="Calibri" pitchFamily="34" charset="-120"/>
              </a:rPr>
              <a:t>Roles de escucha</a:t>
            </a:r>
            <a:endParaRPr lang="en-US" sz="1800" dirty="0"/>
          </a:p>
        </p:txBody>
      </p:sp>
      <p:sp>
        <p:nvSpPr>
          <p:cNvPr id="15" name="Shape 11"/>
          <p:cNvSpPr/>
          <p:nvPr/>
        </p:nvSpPr>
        <p:spPr>
          <a:xfrm>
            <a:off x="5943600" y="2011680"/>
            <a:ext cx="2743200" cy="1737360"/>
          </a:xfrm>
          <a:prstGeom prst="roundRect">
            <a:avLst>
              <a:gd name="adj" fmla="val 6316"/>
            </a:avLst>
          </a:prstGeom>
          <a:solidFill>
            <a:srgbClr val="EAF1F6"/>
          </a:solidFill>
          <a:ln w="12700">
            <a:solidFill>
              <a:srgbClr val="EAF1F6"/>
            </a:solidFill>
            <a:prstDash val="solid"/>
          </a:ln>
        </p:spPr>
      </p:sp>
      <p:sp>
        <p:nvSpPr>
          <p:cNvPr id="16" name="Text 12"/>
          <p:cNvSpPr txBox="1"/>
          <p:nvPr/>
        </p:nvSpPr>
        <p:spPr>
          <a:xfrm>
            <a:off x="6126480" y="2103120"/>
            <a:ext cx="2377440" cy="365760"/>
          </a:xfrm>
          <a:prstGeom prst="rect">
            <a:avLst/>
          </a:prstGeom>
          <a:noFill/>
          <a:ln/>
        </p:spPr>
        <p:txBody>
          <a:bodyPr wrap="square" lIns="0" tIns="0" rIns="0" bIns="0" rtlCol="0" anchor="t"/>
          <a:lstStyle/>
          <a:p>
            <a:pPr indent="0" marL="0">
              <a:buNone/>
            </a:pPr>
            <a:r>
              <a:rPr lang="en-US" sz="1200" dirty="0">
                <a:solidFill>
                  <a:srgbClr val="7A8699"/>
                </a:solidFill>
                <a:latin typeface="Calibri" pitchFamily="34" charset="0"/>
                <a:ea typeface="Calibri" pitchFamily="34" charset="-122"/>
                <a:cs typeface="Calibri" pitchFamily="34" charset="-120"/>
              </a:rPr>
              <a:t>Mitad izquierda de la sala</a:t>
            </a:r>
            <a:endParaRPr lang="en-US" sz="1200" dirty="0"/>
          </a:p>
        </p:txBody>
      </p:sp>
      <p:sp>
        <p:nvSpPr>
          <p:cNvPr id="17" name="Text 13"/>
          <p:cNvSpPr txBox="1"/>
          <p:nvPr/>
        </p:nvSpPr>
        <p:spPr>
          <a:xfrm>
            <a:off x="6126480" y="2423160"/>
            <a:ext cx="2377440" cy="548640"/>
          </a:xfrm>
          <a:prstGeom prst="rect">
            <a:avLst/>
          </a:prstGeom>
          <a:noFill/>
          <a:ln/>
        </p:spPr>
        <p:txBody>
          <a:bodyPr wrap="square" lIns="0" tIns="0" rIns="0" bIns="0" rtlCol="0" anchor="t"/>
          <a:lstStyle/>
          <a:p>
            <a:pPr indent="0" marL="0">
              <a:buNone/>
            </a:pPr>
            <a:r>
              <a:rPr lang="en-US" sz="1700" b="1" dirty="0">
                <a:solidFill>
                  <a:srgbClr val="0F7C90"/>
                </a:solidFill>
                <a:latin typeface="Calibri" pitchFamily="34" charset="0"/>
                <a:ea typeface="Calibri" pitchFamily="34" charset="-122"/>
                <a:cs typeface="Calibri" pitchFamily="34" charset="-120"/>
              </a:rPr>
              <a:t>Abogado de la empresa</a:t>
            </a:r>
            <a:endParaRPr lang="en-US" sz="1700" dirty="0"/>
          </a:p>
        </p:txBody>
      </p:sp>
      <p:sp>
        <p:nvSpPr>
          <p:cNvPr id="18" name="Text 14"/>
          <p:cNvSpPr txBox="1"/>
          <p:nvPr/>
        </p:nvSpPr>
        <p:spPr>
          <a:xfrm>
            <a:off x="6126480" y="2926080"/>
            <a:ext cx="237744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¿Qué le conviene automatizar y qué riesgo asume?</a:t>
            </a:r>
            <a:endParaRPr lang="en-US" sz="1200" dirty="0"/>
          </a:p>
        </p:txBody>
      </p:sp>
      <p:sp>
        <p:nvSpPr>
          <p:cNvPr id="19" name="Shape 15"/>
          <p:cNvSpPr/>
          <p:nvPr/>
        </p:nvSpPr>
        <p:spPr>
          <a:xfrm>
            <a:off x="8869680" y="2011680"/>
            <a:ext cx="2743200" cy="1737360"/>
          </a:xfrm>
          <a:prstGeom prst="roundRect">
            <a:avLst>
              <a:gd name="adj" fmla="val 6316"/>
            </a:avLst>
          </a:prstGeom>
          <a:solidFill>
            <a:srgbClr val="EAF1F6"/>
          </a:solidFill>
          <a:ln w="12700">
            <a:solidFill>
              <a:srgbClr val="EAF1F6"/>
            </a:solidFill>
            <a:prstDash val="solid"/>
          </a:ln>
        </p:spPr>
      </p:sp>
      <p:sp>
        <p:nvSpPr>
          <p:cNvPr id="20" name="Text 16"/>
          <p:cNvSpPr txBox="1"/>
          <p:nvPr/>
        </p:nvSpPr>
        <p:spPr>
          <a:xfrm>
            <a:off x="9052560" y="2103120"/>
            <a:ext cx="2377440" cy="365760"/>
          </a:xfrm>
          <a:prstGeom prst="rect">
            <a:avLst/>
          </a:prstGeom>
          <a:noFill/>
          <a:ln/>
        </p:spPr>
        <p:txBody>
          <a:bodyPr wrap="square" lIns="0" tIns="0" rIns="0" bIns="0" rtlCol="0" anchor="t"/>
          <a:lstStyle/>
          <a:p>
            <a:pPr indent="0" marL="0">
              <a:buNone/>
            </a:pPr>
            <a:r>
              <a:rPr lang="en-US" sz="1200" dirty="0">
                <a:solidFill>
                  <a:srgbClr val="7A8699"/>
                </a:solidFill>
                <a:latin typeface="Calibri" pitchFamily="34" charset="0"/>
                <a:ea typeface="Calibri" pitchFamily="34" charset="-122"/>
                <a:cs typeface="Calibri" pitchFamily="34" charset="-120"/>
              </a:rPr>
              <a:t>Mitad derecha de la sala</a:t>
            </a:r>
            <a:endParaRPr lang="en-US" sz="1200" dirty="0"/>
          </a:p>
        </p:txBody>
      </p:sp>
      <p:sp>
        <p:nvSpPr>
          <p:cNvPr id="21" name="Text 17"/>
          <p:cNvSpPr txBox="1"/>
          <p:nvPr/>
        </p:nvSpPr>
        <p:spPr>
          <a:xfrm>
            <a:off x="9052560" y="2423160"/>
            <a:ext cx="2377440" cy="548640"/>
          </a:xfrm>
          <a:prstGeom prst="rect">
            <a:avLst/>
          </a:prstGeom>
          <a:noFill/>
          <a:ln/>
        </p:spPr>
        <p:txBody>
          <a:bodyPr wrap="square" lIns="0" tIns="0" rIns="0" bIns="0" rtlCol="0" anchor="t"/>
          <a:lstStyle/>
          <a:p>
            <a:pPr indent="0" marL="0">
              <a:buNone/>
            </a:pPr>
            <a:r>
              <a:rPr lang="en-US" sz="1700" b="1" dirty="0">
                <a:solidFill>
                  <a:srgbClr val="E8A33D"/>
                </a:solidFill>
                <a:latin typeface="Calibri" pitchFamily="34" charset="0"/>
                <a:ea typeface="Calibri" pitchFamily="34" charset="-122"/>
                <a:cs typeface="Calibri" pitchFamily="34" charset="-120"/>
              </a:rPr>
              <a:t>Abogado del consumidor</a:t>
            </a:r>
            <a:endParaRPr lang="en-US" sz="1700" dirty="0"/>
          </a:p>
        </p:txBody>
      </p:sp>
      <p:sp>
        <p:nvSpPr>
          <p:cNvPr id="22" name="Text 18"/>
          <p:cNvSpPr txBox="1"/>
          <p:nvPr/>
        </p:nvSpPr>
        <p:spPr>
          <a:xfrm>
            <a:off x="9052560" y="2926080"/>
            <a:ext cx="2377440" cy="73152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¿Dónde quedó el consentimiento y cómo se prueba?</a:t>
            </a:r>
            <a:endParaRPr lang="en-US" sz="1200" dirty="0"/>
          </a:p>
        </p:txBody>
      </p:sp>
      <p:sp>
        <p:nvSpPr>
          <p:cNvPr id="23" name="Shape 19"/>
          <p:cNvSpPr/>
          <p:nvPr/>
        </p:nvSpPr>
        <p:spPr>
          <a:xfrm>
            <a:off x="5943600" y="4023360"/>
            <a:ext cx="5669280" cy="1920240"/>
          </a:xfrm>
          <a:prstGeom prst="roundRect">
            <a:avLst>
              <a:gd name="adj" fmla="val 5714"/>
            </a:avLst>
          </a:prstGeom>
          <a:solidFill>
            <a:srgbClr val="F4F7FA"/>
          </a:solidFill>
          <a:ln w="12700">
            <a:solidFill>
              <a:srgbClr val="F4F7FA"/>
            </a:solidFill>
            <a:prstDash val="solid"/>
          </a:ln>
        </p:spPr>
      </p:sp>
      <p:sp>
        <p:nvSpPr>
          <p:cNvPr id="24" name="Text 20"/>
          <p:cNvSpPr txBox="1"/>
          <p:nvPr/>
        </p:nvSpPr>
        <p:spPr>
          <a:xfrm>
            <a:off x="6126480" y="4114800"/>
            <a:ext cx="5303520" cy="36576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Puente del facilitador</a:t>
            </a:r>
            <a:endParaRPr lang="en-US" sz="1400" dirty="0"/>
          </a:p>
        </p:txBody>
      </p:sp>
      <p:sp>
        <p:nvSpPr>
          <p:cNvPr id="25" name="Text 21"/>
          <p:cNvSpPr txBox="1"/>
          <p:nvPr/>
        </p:nvSpPr>
        <p:spPr>
          <a:xfrm>
            <a:off x="6126480" y="4480560"/>
            <a:ext cx="5303520" cy="13716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La Ley 527 de 1999 ya respondió tres preguntas: validez del mensaje de datos, equivalentes funcionales y valor probatorio. Lo nuevo del smart contract es la ejecución automática e inmutable.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Chuleta · Ley 527 de 1999 y artículo 247 del CGP</a:t>
            </a:r>
            <a:endParaRPr lang="en-US" sz="2800" dirty="0"/>
          </a:p>
        </p:txBody>
      </p:sp>
      <p:sp>
        <p:nvSpPr>
          <p:cNvPr id="3" name="Shape 1"/>
          <p:cNvSpPr/>
          <p:nvPr/>
        </p:nvSpPr>
        <p:spPr>
          <a:xfrm>
            <a:off x="9646920" y="384048"/>
            <a:ext cx="2084832" cy="384048"/>
          </a:xfrm>
          <a:prstGeom prst="roundRect">
            <a:avLst>
              <a:gd name="adj" fmla="val 50000"/>
            </a:avLst>
          </a:prstGeom>
          <a:solidFill>
            <a:srgbClr val="0F7C90"/>
          </a:solidFill>
          <a:ln w="12700">
            <a:solidFill>
              <a:srgbClr val="0F7C90"/>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DEMOSTRAR</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41-65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12</a:t>
            </a:r>
            <a:endParaRPr lang="en-US" sz="900" dirty="0"/>
          </a:p>
        </p:txBody>
      </p:sp>
      <p:sp>
        <p:nvSpPr>
          <p:cNvPr id="8" name="Shape 5"/>
          <p:cNvSpPr/>
          <p:nvPr/>
        </p:nvSpPr>
        <p:spPr>
          <a:xfrm>
            <a:off x="548640" y="1371600"/>
            <a:ext cx="2651760" cy="1554480"/>
          </a:xfrm>
          <a:prstGeom prst="roundRect">
            <a:avLst>
              <a:gd name="adj" fmla="val 7059"/>
            </a:avLst>
          </a:prstGeom>
          <a:solidFill>
            <a:srgbClr val="EAF1F6"/>
          </a:solidFill>
          <a:ln w="12700">
            <a:solidFill>
              <a:srgbClr val="EAF1F6"/>
            </a:solidFill>
            <a:prstDash val="solid"/>
          </a:ln>
        </p:spPr>
      </p:sp>
      <p:sp>
        <p:nvSpPr>
          <p:cNvPr id="9" name="Text 6"/>
          <p:cNvSpPr txBox="1"/>
          <p:nvPr/>
        </p:nvSpPr>
        <p:spPr>
          <a:xfrm>
            <a:off x="713232" y="1481328"/>
            <a:ext cx="2286000" cy="365760"/>
          </a:xfrm>
          <a:prstGeom prst="rect">
            <a:avLst/>
          </a:prstGeom>
          <a:noFill/>
          <a:ln/>
        </p:spPr>
        <p:txBody>
          <a:bodyPr wrap="square" lIns="0" tIns="0" rIns="0" bIns="0" rtlCol="0" anchor="t"/>
          <a:lstStyle/>
          <a:p>
            <a:pPr indent="0" marL="0">
              <a:buNone/>
            </a:pPr>
            <a:r>
              <a:rPr lang="en-US" sz="1600" b="1" dirty="0">
                <a:solidFill>
                  <a:srgbClr val="0F7C90"/>
                </a:solidFill>
                <a:latin typeface="Calibri" pitchFamily="34" charset="0"/>
                <a:ea typeface="Calibri" pitchFamily="34" charset="-122"/>
                <a:cs typeface="Calibri" pitchFamily="34" charset="-120"/>
              </a:rPr>
              <a:t>Art. 5</a:t>
            </a:r>
            <a:endParaRPr lang="en-US" sz="1600" dirty="0"/>
          </a:p>
        </p:txBody>
      </p:sp>
      <p:sp>
        <p:nvSpPr>
          <p:cNvPr id="10" name="Text 7"/>
          <p:cNvSpPr txBox="1"/>
          <p:nvPr/>
        </p:nvSpPr>
        <p:spPr>
          <a:xfrm>
            <a:off x="713232" y="1847088"/>
            <a:ext cx="2331720" cy="10515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Reconocimiento jurídico: no se niegan efectos por estar en forma de mensaje de datos</a:t>
            </a:r>
            <a:endParaRPr lang="en-US" sz="1150" dirty="0"/>
          </a:p>
        </p:txBody>
      </p:sp>
      <p:sp>
        <p:nvSpPr>
          <p:cNvPr id="11" name="Shape 8"/>
          <p:cNvSpPr/>
          <p:nvPr/>
        </p:nvSpPr>
        <p:spPr>
          <a:xfrm>
            <a:off x="3364992" y="1371600"/>
            <a:ext cx="2651760" cy="1554480"/>
          </a:xfrm>
          <a:prstGeom prst="roundRect">
            <a:avLst>
              <a:gd name="adj" fmla="val 7059"/>
            </a:avLst>
          </a:prstGeom>
          <a:solidFill>
            <a:srgbClr val="EAF1F6"/>
          </a:solidFill>
          <a:ln w="12700">
            <a:solidFill>
              <a:srgbClr val="EAF1F6"/>
            </a:solidFill>
            <a:prstDash val="solid"/>
          </a:ln>
        </p:spPr>
      </p:sp>
      <p:sp>
        <p:nvSpPr>
          <p:cNvPr id="12" name="Text 9"/>
          <p:cNvSpPr txBox="1"/>
          <p:nvPr/>
        </p:nvSpPr>
        <p:spPr>
          <a:xfrm>
            <a:off x="3529584" y="1481328"/>
            <a:ext cx="2286000" cy="365760"/>
          </a:xfrm>
          <a:prstGeom prst="rect">
            <a:avLst/>
          </a:prstGeom>
          <a:noFill/>
          <a:ln/>
        </p:spPr>
        <p:txBody>
          <a:bodyPr wrap="square" lIns="0" tIns="0" rIns="0" bIns="0" rtlCol="0" anchor="t"/>
          <a:lstStyle/>
          <a:p>
            <a:pPr indent="0" marL="0">
              <a:buNone/>
            </a:pPr>
            <a:r>
              <a:rPr lang="en-US" sz="1600" b="1" dirty="0">
                <a:solidFill>
                  <a:srgbClr val="0F7C90"/>
                </a:solidFill>
                <a:latin typeface="Calibri" pitchFamily="34" charset="0"/>
                <a:ea typeface="Calibri" pitchFamily="34" charset="-122"/>
                <a:cs typeface="Calibri" pitchFamily="34" charset="-120"/>
              </a:rPr>
              <a:t>Art. 6</a:t>
            </a:r>
            <a:endParaRPr lang="en-US" sz="1600" dirty="0"/>
          </a:p>
        </p:txBody>
      </p:sp>
      <p:sp>
        <p:nvSpPr>
          <p:cNvPr id="13" name="Text 10"/>
          <p:cNvSpPr txBox="1"/>
          <p:nvPr/>
        </p:nvSpPr>
        <p:spPr>
          <a:xfrm>
            <a:off x="3529584" y="1847088"/>
            <a:ext cx="2331720" cy="10515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Escrito: información accesible para su posterior consulta</a:t>
            </a:r>
            <a:endParaRPr lang="en-US" sz="1150" dirty="0"/>
          </a:p>
        </p:txBody>
      </p:sp>
      <p:sp>
        <p:nvSpPr>
          <p:cNvPr id="14" name="Shape 11"/>
          <p:cNvSpPr/>
          <p:nvPr/>
        </p:nvSpPr>
        <p:spPr>
          <a:xfrm>
            <a:off x="6181344" y="1371600"/>
            <a:ext cx="2651760" cy="1554480"/>
          </a:xfrm>
          <a:prstGeom prst="roundRect">
            <a:avLst>
              <a:gd name="adj" fmla="val 7059"/>
            </a:avLst>
          </a:prstGeom>
          <a:solidFill>
            <a:srgbClr val="EAF1F6"/>
          </a:solidFill>
          <a:ln w="12700">
            <a:solidFill>
              <a:srgbClr val="EAF1F6"/>
            </a:solidFill>
            <a:prstDash val="solid"/>
          </a:ln>
        </p:spPr>
      </p:sp>
      <p:sp>
        <p:nvSpPr>
          <p:cNvPr id="15" name="Text 12"/>
          <p:cNvSpPr txBox="1"/>
          <p:nvPr/>
        </p:nvSpPr>
        <p:spPr>
          <a:xfrm>
            <a:off x="6345936" y="1481328"/>
            <a:ext cx="2286000" cy="365760"/>
          </a:xfrm>
          <a:prstGeom prst="rect">
            <a:avLst/>
          </a:prstGeom>
          <a:noFill/>
          <a:ln/>
        </p:spPr>
        <p:txBody>
          <a:bodyPr wrap="square" lIns="0" tIns="0" rIns="0" bIns="0" rtlCol="0" anchor="t"/>
          <a:lstStyle/>
          <a:p>
            <a:pPr indent="0" marL="0">
              <a:buNone/>
            </a:pPr>
            <a:r>
              <a:rPr lang="en-US" sz="1600" b="1" dirty="0">
                <a:solidFill>
                  <a:srgbClr val="0F7C90"/>
                </a:solidFill>
                <a:latin typeface="Calibri" pitchFamily="34" charset="0"/>
                <a:ea typeface="Calibri" pitchFamily="34" charset="-122"/>
                <a:cs typeface="Calibri" pitchFamily="34" charset="-120"/>
              </a:rPr>
              <a:t>Art. 7</a:t>
            </a:r>
            <a:endParaRPr lang="en-US" sz="1600" dirty="0"/>
          </a:p>
        </p:txBody>
      </p:sp>
      <p:sp>
        <p:nvSpPr>
          <p:cNvPr id="16" name="Text 13"/>
          <p:cNvSpPr txBox="1"/>
          <p:nvPr/>
        </p:nvSpPr>
        <p:spPr>
          <a:xfrm>
            <a:off x="6345936" y="1847088"/>
            <a:ext cx="2331720" cy="10515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Firma: método confiable y apropiado para identificar al iniciador y aprobar el contenido</a:t>
            </a:r>
            <a:endParaRPr lang="en-US" sz="1150" dirty="0"/>
          </a:p>
        </p:txBody>
      </p:sp>
      <p:sp>
        <p:nvSpPr>
          <p:cNvPr id="17" name="Shape 14"/>
          <p:cNvSpPr/>
          <p:nvPr/>
        </p:nvSpPr>
        <p:spPr>
          <a:xfrm>
            <a:off x="8997696" y="1371600"/>
            <a:ext cx="2651760" cy="1554480"/>
          </a:xfrm>
          <a:prstGeom prst="roundRect">
            <a:avLst>
              <a:gd name="adj" fmla="val 7059"/>
            </a:avLst>
          </a:prstGeom>
          <a:solidFill>
            <a:srgbClr val="EAF1F6"/>
          </a:solidFill>
          <a:ln w="12700">
            <a:solidFill>
              <a:srgbClr val="EAF1F6"/>
            </a:solidFill>
            <a:prstDash val="solid"/>
          </a:ln>
        </p:spPr>
      </p:sp>
      <p:sp>
        <p:nvSpPr>
          <p:cNvPr id="18" name="Text 15"/>
          <p:cNvSpPr txBox="1"/>
          <p:nvPr/>
        </p:nvSpPr>
        <p:spPr>
          <a:xfrm>
            <a:off x="9162288" y="1481328"/>
            <a:ext cx="2286000" cy="365760"/>
          </a:xfrm>
          <a:prstGeom prst="rect">
            <a:avLst/>
          </a:prstGeom>
          <a:noFill/>
          <a:ln/>
        </p:spPr>
        <p:txBody>
          <a:bodyPr wrap="square" lIns="0" tIns="0" rIns="0" bIns="0" rtlCol="0" anchor="t"/>
          <a:lstStyle/>
          <a:p>
            <a:pPr indent="0" marL="0">
              <a:buNone/>
            </a:pPr>
            <a:r>
              <a:rPr lang="en-US" sz="1600" b="1" dirty="0">
                <a:solidFill>
                  <a:srgbClr val="0F7C90"/>
                </a:solidFill>
                <a:latin typeface="Calibri" pitchFamily="34" charset="0"/>
                <a:ea typeface="Calibri" pitchFamily="34" charset="-122"/>
                <a:cs typeface="Calibri" pitchFamily="34" charset="-120"/>
              </a:rPr>
              <a:t>Art. 8</a:t>
            </a:r>
            <a:endParaRPr lang="en-US" sz="1600" dirty="0"/>
          </a:p>
        </p:txBody>
      </p:sp>
      <p:sp>
        <p:nvSpPr>
          <p:cNvPr id="19" name="Text 16"/>
          <p:cNvSpPr txBox="1"/>
          <p:nvPr/>
        </p:nvSpPr>
        <p:spPr>
          <a:xfrm>
            <a:off x="9162288" y="1847088"/>
            <a:ext cx="2331720" cy="10515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Original: garantía confiable de integridad desde su generación</a:t>
            </a:r>
            <a:endParaRPr lang="en-US" sz="1150" dirty="0"/>
          </a:p>
        </p:txBody>
      </p:sp>
      <p:sp>
        <p:nvSpPr>
          <p:cNvPr id="20" name="Shape 17"/>
          <p:cNvSpPr/>
          <p:nvPr/>
        </p:nvSpPr>
        <p:spPr>
          <a:xfrm>
            <a:off x="548640" y="3063240"/>
            <a:ext cx="2651760" cy="1554480"/>
          </a:xfrm>
          <a:prstGeom prst="roundRect">
            <a:avLst>
              <a:gd name="adj" fmla="val 7059"/>
            </a:avLst>
          </a:prstGeom>
          <a:solidFill>
            <a:srgbClr val="EAF1F6"/>
          </a:solidFill>
          <a:ln w="12700">
            <a:solidFill>
              <a:srgbClr val="EAF1F6"/>
            </a:solidFill>
            <a:prstDash val="solid"/>
          </a:ln>
        </p:spPr>
      </p:sp>
      <p:sp>
        <p:nvSpPr>
          <p:cNvPr id="21" name="Text 18"/>
          <p:cNvSpPr txBox="1"/>
          <p:nvPr/>
        </p:nvSpPr>
        <p:spPr>
          <a:xfrm>
            <a:off x="713232" y="3172968"/>
            <a:ext cx="2286000" cy="365760"/>
          </a:xfrm>
          <a:prstGeom prst="rect">
            <a:avLst/>
          </a:prstGeom>
          <a:noFill/>
          <a:ln/>
        </p:spPr>
        <p:txBody>
          <a:bodyPr wrap="square" lIns="0" tIns="0" rIns="0" bIns="0" rtlCol="0" anchor="t"/>
          <a:lstStyle/>
          <a:p>
            <a:pPr indent="0" marL="0">
              <a:buNone/>
            </a:pPr>
            <a:r>
              <a:rPr lang="en-US" sz="1600" b="1" dirty="0">
                <a:solidFill>
                  <a:srgbClr val="0F7C90"/>
                </a:solidFill>
                <a:latin typeface="Calibri" pitchFamily="34" charset="0"/>
                <a:ea typeface="Calibri" pitchFamily="34" charset="-122"/>
                <a:cs typeface="Calibri" pitchFamily="34" charset="-120"/>
              </a:rPr>
              <a:t>Art. 10</a:t>
            </a:r>
            <a:endParaRPr lang="en-US" sz="1600" dirty="0"/>
          </a:p>
        </p:txBody>
      </p:sp>
      <p:sp>
        <p:nvSpPr>
          <p:cNvPr id="22" name="Text 19"/>
          <p:cNvSpPr txBox="1"/>
          <p:nvPr/>
        </p:nvSpPr>
        <p:spPr>
          <a:xfrm>
            <a:off x="713232" y="3538728"/>
            <a:ext cx="2331720" cy="10515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Admisibilidad y fuerza probatoria de los mensajes de datos</a:t>
            </a:r>
            <a:endParaRPr lang="en-US" sz="1150" dirty="0"/>
          </a:p>
        </p:txBody>
      </p:sp>
      <p:sp>
        <p:nvSpPr>
          <p:cNvPr id="23" name="Shape 20"/>
          <p:cNvSpPr/>
          <p:nvPr/>
        </p:nvSpPr>
        <p:spPr>
          <a:xfrm>
            <a:off x="3364992" y="3063240"/>
            <a:ext cx="2651760" cy="1554480"/>
          </a:xfrm>
          <a:prstGeom prst="roundRect">
            <a:avLst>
              <a:gd name="adj" fmla="val 7059"/>
            </a:avLst>
          </a:prstGeom>
          <a:solidFill>
            <a:srgbClr val="EAF1F6"/>
          </a:solidFill>
          <a:ln w="12700">
            <a:solidFill>
              <a:srgbClr val="EAF1F6"/>
            </a:solidFill>
            <a:prstDash val="solid"/>
          </a:ln>
        </p:spPr>
      </p:sp>
      <p:sp>
        <p:nvSpPr>
          <p:cNvPr id="24" name="Text 21"/>
          <p:cNvSpPr txBox="1"/>
          <p:nvPr/>
        </p:nvSpPr>
        <p:spPr>
          <a:xfrm>
            <a:off x="3529584" y="3172968"/>
            <a:ext cx="2286000" cy="365760"/>
          </a:xfrm>
          <a:prstGeom prst="rect">
            <a:avLst/>
          </a:prstGeom>
          <a:noFill/>
          <a:ln/>
        </p:spPr>
        <p:txBody>
          <a:bodyPr wrap="square" lIns="0" tIns="0" rIns="0" bIns="0" rtlCol="0" anchor="t"/>
          <a:lstStyle/>
          <a:p>
            <a:pPr indent="0" marL="0">
              <a:buNone/>
            </a:pPr>
            <a:r>
              <a:rPr lang="en-US" sz="1600" b="1" dirty="0">
                <a:solidFill>
                  <a:srgbClr val="0F7C90"/>
                </a:solidFill>
                <a:latin typeface="Calibri" pitchFamily="34" charset="0"/>
                <a:ea typeface="Calibri" pitchFamily="34" charset="-122"/>
                <a:cs typeface="Calibri" pitchFamily="34" charset="-120"/>
              </a:rPr>
              <a:t>Art. 11</a:t>
            </a:r>
            <a:endParaRPr lang="en-US" sz="1600" dirty="0"/>
          </a:p>
        </p:txBody>
      </p:sp>
      <p:sp>
        <p:nvSpPr>
          <p:cNvPr id="25" name="Text 22"/>
          <p:cNvSpPr txBox="1"/>
          <p:nvPr/>
        </p:nvSpPr>
        <p:spPr>
          <a:xfrm>
            <a:off x="3529584" y="3538728"/>
            <a:ext cx="2331720" cy="10515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Criterios de valoración: confiabilidad de generación, conservación e identificación del iniciador</a:t>
            </a:r>
            <a:endParaRPr lang="en-US" sz="1150" dirty="0"/>
          </a:p>
        </p:txBody>
      </p:sp>
      <p:sp>
        <p:nvSpPr>
          <p:cNvPr id="26" name="Shape 23"/>
          <p:cNvSpPr/>
          <p:nvPr/>
        </p:nvSpPr>
        <p:spPr>
          <a:xfrm>
            <a:off x="6181344" y="3063240"/>
            <a:ext cx="2651760" cy="1554480"/>
          </a:xfrm>
          <a:prstGeom prst="roundRect">
            <a:avLst>
              <a:gd name="adj" fmla="val 7059"/>
            </a:avLst>
          </a:prstGeom>
          <a:solidFill>
            <a:srgbClr val="EAF1F6"/>
          </a:solidFill>
          <a:ln w="12700">
            <a:solidFill>
              <a:srgbClr val="EAF1F6"/>
            </a:solidFill>
            <a:prstDash val="solid"/>
          </a:ln>
        </p:spPr>
      </p:sp>
      <p:sp>
        <p:nvSpPr>
          <p:cNvPr id="27" name="Text 24"/>
          <p:cNvSpPr txBox="1"/>
          <p:nvPr/>
        </p:nvSpPr>
        <p:spPr>
          <a:xfrm>
            <a:off x="6345936" y="3172968"/>
            <a:ext cx="2286000" cy="365760"/>
          </a:xfrm>
          <a:prstGeom prst="rect">
            <a:avLst/>
          </a:prstGeom>
          <a:noFill/>
          <a:ln/>
        </p:spPr>
        <p:txBody>
          <a:bodyPr wrap="square" lIns="0" tIns="0" rIns="0" bIns="0" rtlCol="0" anchor="t"/>
          <a:lstStyle/>
          <a:p>
            <a:pPr indent="0" marL="0">
              <a:buNone/>
            </a:pPr>
            <a:r>
              <a:rPr lang="en-US" sz="1600" b="1" dirty="0">
                <a:solidFill>
                  <a:srgbClr val="0F7C90"/>
                </a:solidFill>
                <a:latin typeface="Calibri" pitchFamily="34" charset="0"/>
                <a:ea typeface="Calibri" pitchFamily="34" charset="-122"/>
                <a:cs typeface="Calibri" pitchFamily="34" charset="-120"/>
              </a:rPr>
              <a:t>Art. 12</a:t>
            </a:r>
            <a:endParaRPr lang="en-US" sz="1600" dirty="0"/>
          </a:p>
        </p:txBody>
      </p:sp>
      <p:sp>
        <p:nvSpPr>
          <p:cNvPr id="28" name="Text 25"/>
          <p:cNvSpPr txBox="1"/>
          <p:nvPr/>
        </p:nvSpPr>
        <p:spPr>
          <a:xfrm>
            <a:off x="6345936" y="3538728"/>
            <a:ext cx="2331720" cy="10515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Conservación: accesible, en el formato original o uno que lo reproduzca con exactitud</a:t>
            </a:r>
            <a:endParaRPr lang="en-US" sz="1150" dirty="0"/>
          </a:p>
        </p:txBody>
      </p:sp>
      <p:sp>
        <p:nvSpPr>
          <p:cNvPr id="29" name="Shape 26"/>
          <p:cNvSpPr/>
          <p:nvPr/>
        </p:nvSpPr>
        <p:spPr>
          <a:xfrm>
            <a:off x="8997696" y="3063240"/>
            <a:ext cx="2651760" cy="1554480"/>
          </a:xfrm>
          <a:prstGeom prst="roundRect">
            <a:avLst>
              <a:gd name="adj" fmla="val 7059"/>
            </a:avLst>
          </a:prstGeom>
          <a:solidFill>
            <a:srgbClr val="EAF1F6"/>
          </a:solidFill>
          <a:ln w="12700">
            <a:solidFill>
              <a:srgbClr val="EAF1F6"/>
            </a:solidFill>
            <a:prstDash val="solid"/>
          </a:ln>
        </p:spPr>
      </p:sp>
      <p:sp>
        <p:nvSpPr>
          <p:cNvPr id="30" name="Text 27"/>
          <p:cNvSpPr txBox="1"/>
          <p:nvPr/>
        </p:nvSpPr>
        <p:spPr>
          <a:xfrm>
            <a:off x="9162288" y="3172968"/>
            <a:ext cx="2286000" cy="365760"/>
          </a:xfrm>
          <a:prstGeom prst="rect">
            <a:avLst/>
          </a:prstGeom>
          <a:noFill/>
          <a:ln/>
        </p:spPr>
        <p:txBody>
          <a:bodyPr wrap="square" lIns="0" tIns="0" rIns="0" bIns="0" rtlCol="0" anchor="t"/>
          <a:lstStyle/>
          <a:p>
            <a:pPr indent="0" marL="0">
              <a:buNone/>
            </a:pPr>
            <a:r>
              <a:rPr lang="en-US" sz="1600" b="1" dirty="0">
                <a:solidFill>
                  <a:srgbClr val="0F7C90"/>
                </a:solidFill>
                <a:latin typeface="Calibri" pitchFamily="34" charset="0"/>
                <a:ea typeface="Calibri" pitchFamily="34" charset="-122"/>
                <a:cs typeface="Calibri" pitchFamily="34" charset="-120"/>
              </a:rPr>
              <a:t>Art. 14</a:t>
            </a:r>
            <a:endParaRPr lang="en-US" sz="1600" dirty="0"/>
          </a:p>
        </p:txBody>
      </p:sp>
      <p:sp>
        <p:nvSpPr>
          <p:cNvPr id="31" name="Text 28"/>
          <p:cNvSpPr txBox="1"/>
          <p:nvPr/>
        </p:nvSpPr>
        <p:spPr>
          <a:xfrm>
            <a:off x="9162288" y="3538728"/>
            <a:ext cx="2331720" cy="105156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Formación y validez de los contratos mediante mensajes de datos</a:t>
            </a:r>
            <a:endParaRPr lang="en-US" sz="1150" dirty="0"/>
          </a:p>
        </p:txBody>
      </p:sp>
      <p:sp>
        <p:nvSpPr>
          <p:cNvPr id="32" name="Shape 29"/>
          <p:cNvSpPr/>
          <p:nvPr/>
        </p:nvSpPr>
        <p:spPr>
          <a:xfrm>
            <a:off x="548640" y="4846320"/>
            <a:ext cx="11064240" cy="1188720"/>
          </a:xfrm>
          <a:prstGeom prst="roundRect">
            <a:avLst>
              <a:gd name="adj" fmla="val 9231"/>
            </a:avLst>
          </a:prstGeom>
          <a:solidFill>
            <a:srgbClr val="1B2A41"/>
          </a:solidFill>
          <a:ln w="12700">
            <a:solidFill>
              <a:srgbClr val="1B2A41"/>
            </a:solidFill>
            <a:prstDash val="solid"/>
          </a:ln>
        </p:spPr>
      </p:sp>
      <p:sp>
        <p:nvSpPr>
          <p:cNvPr id="33" name="Text 30"/>
          <p:cNvSpPr txBox="1"/>
          <p:nvPr/>
        </p:nvSpPr>
        <p:spPr>
          <a:xfrm>
            <a:off x="777240" y="4937760"/>
            <a:ext cx="2011680" cy="457200"/>
          </a:xfrm>
          <a:prstGeom prst="rect">
            <a:avLst/>
          </a:prstGeom>
          <a:noFill/>
          <a:ln/>
        </p:spPr>
        <p:txBody>
          <a:bodyPr wrap="square" lIns="0" tIns="0" rIns="0" bIns="0" rtlCol="0" anchor="t"/>
          <a:lstStyle/>
          <a:p>
            <a:pPr indent="0" marL="0">
              <a:buNone/>
            </a:pPr>
            <a:r>
              <a:rPr lang="en-US" sz="1800" b="1" dirty="0">
                <a:solidFill>
                  <a:srgbClr val="E8A33D"/>
                </a:solidFill>
                <a:latin typeface="Calibri" pitchFamily="34" charset="0"/>
                <a:ea typeface="Calibri" pitchFamily="34" charset="-122"/>
                <a:cs typeface="Calibri" pitchFamily="34" charset="-120"/>
              </a:rPr>
              <a:t>Art. 247 CGP</a:t>
            </a:r>
            <a:endParaRPr lang="en-US" sz="1800" dirty="0"/>
          </a:p>
        </p:txBody>
      </p:sp>
      <p:sp>
        <p:nvSpPr>
          <p:cNvPr id="34" name="Text 31"/>
          <p:cNvSpPr txBox="1"/>
          <p:nvPr/>
        </p:nvSpPr>
        <p:spPr>
          <a:xfrm>
            <a:off x="2743200" y="4919472"/>
            <a:ext cx="868680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Se valoran como mensajes de datos los documentos aportados en el mismo formato en que fueron generados, enviados o recibidos, o en otro que los reproduzca con exactitud. La simple impresión en papel se valora conforme a las reglas generales de los documentos.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Lectura guiada · Ley 527, dos décadas después</a:t>
            </a:r>
            <a:endParaRPr lang="en-US" sz="2800" dirty="0"/>
          </a:p>
        </p:txBody>
      </p:sp>
      <p:sp>
        <p:nvSpPr>
          <p:cNvPr id="3" name="Shape 1"/>
          <p:cNvSpPr/>
          <p:nvPr/>
        </p:nvSpPr>
        <p:spPr>
          <a:xfrm>
            <a:off x="9646920" y="384048"/>
            <a:ext cx="2084832" cy="384048"/>
          </a:xfrm>
          <a:prstGeom prst="roundRect">
            <a:avLst>
              <a:gd name="adj" fmla="val 50000"/>
            </a:avLst>
          </a:prstGeom>
          <a:solidFill>
            <a:srgbClr val="0F7C90"/>
          </a:solidFill>
          <a:ln w="12700">
            <a:solidFill>
              <a:srgbClr val="0F7C90"/>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DEMOSTRAR</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41-49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13</a:t>
            </a:r>
            <a:endParaRPr lang="en-US" sz="900" dirty="0"/>
          </a:p>
        </p:txBody>
      </p:sp>
      <p:sp>
        <p:nvSpPr>
          <p:cNvPr id="8" name="Shape 5"/>
          <p:cNvSpPr/>
          <p:nvPr/>
        </p:nvSpPr>
        <p:spPr>
          <a:xfrm>
            <a:off x="548640" y="1371600"/>
            <a:ext cx="5394960" cy="2011680"/>
          </a:xfrm>
          <a:prstGeom prst="roundRect">
            <a:avLst>
              <a:gd name="adj" fmla="val 5455"/>
            </a:avLst>
          </a:prstGeom>
          <a:solidFill>
            <a:srgbClr val="EAF1F6"/>
          </a:solidFill>
          <a:ln w="12700">
            <a:solidFill>
              <a:srgbClr val="EAF1F6"/>
            </a:solidFill>
            <a:prstDash val="solid"/>
          </a:ln>
        </p:spPr>
      </p:sp>
      <p:sp>
        <p:nvSpPr>
          <p:cNvPr id="9" name="Text 6"/>
          <p:cNvSpPr txBox="1"/>
          <p:nvPr/>
        </p:nvSpPr>
        <p:spPr>
          <a:xfrm>
            <a:off x="731520" y="1463040"/>
            <a:ext cx="5029200" cy="365760"/>
          </a:xfrm>
          <a:prstGeom prst="rect">
            <a:avLst/>
          </a:prstGeom>
          <a:noFill/>
          <a:ln/>
        </p:spPr>
        <p:txBody>
          <a:bodyPr wrap="square" lIns="0" tIns="0" rIns="0" bIns="0" rtlCol="0" anchor="t"/>
          <a:lstStyle/>
          <a:p>
            <a:pPr indent="0" marL="0">
              <a:buNone/>
            </a:pPr>
            <a:r>
              <a:rPr lang="en-US" sz="1300" b="1" dirty="0">
                <a:solidFill>
                  <a:srgbClr val="0F7C90"/>
                </a:solidFill>
                <a:latin typeface="Calibri" pitchFamily="34" charset="0"/>
                <a:ea typeface="Calibri" pitchFamily="34" charset="-122"/>
                <a:cs typeface="Calibri" pitchFamily="34" charset="-120"/>
              </a:rPr>
              <a:t>Extracto A</a:t>
            </a:r>
            <a:endParaRPr lang="en-US" sz="1300" dirty="0"/>
          </a:p>
        </p:txBody>
      </p:sp>
      <p:sp>
        <p:nvSpPr>
          <p:cNvPr id="10" name="Text 7"/>
          <p:cNvSpPr txBox="1"/>
          <p:nvPr/>
        </p:nvSpPr>
        <p:spPr>
          <a:xfrm>
            <a:off x="731520" y="1828800"/>
            <a:ext cx="5029200" cy="14630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Memorias del I Foro «Ley 527 de 1999: dos décadas después» (Observatics, Externado; foro coorganizado con la Universidad de los Andes, 2019). Equivalencia funcional, firma electrónica y valor probatorio del mensaje de datos.</a:t>
            </a:r>
            <a:endParaRPr lang="en-US" sz="1250" dirty="0"/>
          </a:p>
        </p:txBody>
      </p:sp>
      <p:sp>
        <p:nvSpPr>
          <p:cNvPr id="11" name="Shape 8"/>
          <p:cNvSpPr/>
          <p:nvPr/>
        </p:nvSpPr>
        <p:spPr>
          <a:xfrm>
            <a:off x="6217920" y="1371600"/>
            <a:ext cx="5394960" cy="2011680"/>
          </a:xfrm>
          <a:prstGeom prst="roundRect">
            <a:avLst>
              <a:gd name="adj" fmla="val 5455"/>
            </a:avLst>
          </a:prstGeom>
          <a:solidFill>
            <a:srgbClr val="EAF1F6"/>
          </a:solidFill>
          <a:ln w="12700">
            <a:solidFill>
              <a:srgbClr val="EAF1F6"/>
            </a:solidFill>
            <a:prstDash val="solid"/>
          </a:ln>
        </p:spPr>
      </p:sp>
      <p:sp>
        <p:nvSpPr>
          <p:cNvPr id="12" name="Text 9"/>
          <p:cNvSpPr txBox="1"/>
          <p:nvPr/>
        </p:nvSpPr>
        <p:spPr>
          <a:xfrm>
            <a:off x="6400800" y="1463040"/>
            <a:ext cx="5029200" cy="365760"/>
          </a:xfrm>
          <a:prstGeom prst="rect">
            <a:avLst/>
          </a:prstGeom>
          <a:noFill/>
          <a:ln/>
        </p:spPr>
        <p:txBody>
          <a:bodyPr wrap="square" lIns="0" tIns="0" rIns="0" bIns="0" rtlCol="0" anchor="t"/>
          <a:lstStyle/>
          <a:p>
            <a:pPr indent="0" marL="0">
              <a:buNone/>
            </a:pPr>
            <a:r>
              <a:rPr lang="en-US" sz="1300" b="1" dirty="0">
                <a:solidFill>
                  <a:srgbClr val="0F7C90"/>
                </a:solidFill>
                <a:latin typeface="Calibri" pitchFamily="34" charset="0"/>
                <a:ea typeface="Calibri" pitchFamily="34" charset="-122"/>
                <a:cs typeface="Calibri" pitchFamily="34" charset="-120"/>
              </a:rPr>
              <a:t>Extracto B</a:t>
            </a:r>
            <a:endParaRPr lang="en-US" sz="1300" dirty="0"/>
          </a:p>
        </p:txBody>
      </p:sp>
      <p:sp>
        <p:nvSpPr>
          <p:cNvPr id="13" name="Text 10"/>
          <p:cNvSpPr txBox="1"/>
          <p:nvPr/>
        </p:nvSpPr>
        <p:spPr>
          <a:xfrm>
            <a:off x="6400800" y="1828800"/>
            <a:ext cx="5029200" cy="14630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Jorge Padilla Sánchez, «Blockchain y contratos inteligentes: aproximación a sus problemáticas y retos jurídicos», Revista de Derecho Privado n.º 39 (Externado, 2020). Inmutabilidad, desintermediación y errores de programación irreversibles.</a:t>
            </a:r>
            <a:endParaRPr lang="en-US" sz="1250" dirty="0"/>
          </a:p>
        </p:txBody>
      </p:sp>
      <p:sp>
        <p:nvSpPr>
          <p:cNvPr id="14" name="Text 11"/>
          <p:cNvSpPr txBox="1"/>
          <p:nvPr/>
        </p:nvSpPr>
        <p:spPr>
          <a:xfrm>
            <a:off x="548640" y="3611880"/>
            <a:ext cx="7315200" cy="411480"/>
          </a:xfrm>
          <a:prstGeom prst="rect">
            <a:avLst/>
          </a:prstGeom>
          <a:noFill/>
          <a:ln/>
        </p:spPr>
        <p:txBody>
          <a:bodyPr wrap="square" lIns="0" tIns="0" rIns="0" bIns="0" rtlCol="0" anchor="t"/>
          <a:lstStyle/>
          <a:p>
            <a:pPr indent="0" marL="0">
              <a:buNone/>
            </a:pPr>
            <a:r>
              <a:rPr lang="en-US" sz="1700" b="1" dirty="0">
                <a:solidFill>
                  <a:srgbClr val="1B2A41"/>
                </a:solidFill>
                <a:latin typeface="Calibri" pitchFamily="34" charset="0"/>
                <a:ea typeface="Calibri" pitchFamily="34" charset="-122"/>
                <a:cs typeface="Calibri" pitchFamily="34" charset="-120"/>
              </a:rPr>
              <a:t>Tres preguntas guía (en parejas)</a:t>
            </a:r>
            <a:endParaRPr lang="en-US" sz="1700" dirty="0"/>
          </a:p>
        </p:txBody>
      </p:sp>
      <p:sp>
        <p:nvSpPr>
          <p:cNvPr id="15" name="Shape 12"/>
          <p:cNvSpPr/>
          <p:nvPr/>
        </p:nvSpPr>
        <p:spPr>
          <a:xfrm>
            <a:off x="548640" y="4114800"/>
            <a:ext cx="3566160" cy="1234440"/>
          </a:xfrm>
          <a:prstGeom prst="roundRect">
            <a:avLst>
              <a:gd name="adj" fmla="val 8889"/>
            </a:avLst>
          </a:prstGeom>
          <a:solidFill>
            <a:srgbClr val="F4F7FA"/>
          </a:solidFill>
          <a:ln w="12700">
            <a:solidFill>
              <a:srgbClr val="F4F7FA"/>
            </a:solidFill>
            <a:prstDash val="solid"/>
          </a:ln>
        </p:spPr>
      </p:sp>
      <p:sp>
        <p:nvSpPr>
          <p:cNvPr id="16" name="Shape 13"/>
          <p:cNvSpPr/>
          <p:nvPr/>
        </p:nvSpPr>
        <p:spPr>
          <a:xfrm>
            <a:off x="731520" y="4297680"/>
            <a:ext cx="457200" cy="457200"/>
          </a:xfrm>
          <a:prstGeom prst="ellipse">
            <a:avLst/>
          </a:prstGeom>
          <a:solidFill>
            <a:srgbClr val="0F7C90"/>
          </a:solidFill>
          <a:ln w="12700">
            <a:solidFill>
              <a:srgbClr val="0F7C90"/>
            </a:solidFill>
            <a:prstDash val="solid"/>
          </a:ln>
        </p:spPr>
      </p:sp>
      <p:sp>
        <p:nvSpPr>
          <p:cNvPr id="17" name="Text 14"/>
          <p:cNvSpPr txBox="1"/>
          <p:nvPr/>
        </p:nvSpPr>
        <p:spPr>
          <a:xfrm>
            <a:off x="731520" y="4297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1325880" y="4206240"/>
            <a:ext cx="2651760" cy="10515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¿Qué equivalentes funcionales reconoce la ley?</a:t>
            </a:r>
            <a:endParaRPr lang="en-US" sz="1300" dirty="0"/>
          </a:p>
        </p:txBody>
      </p:sp>
      <p:sp>
        <p:nvSpPr>
          <p:cNvPr id="19" name="Shape 16"/>
          <p:cNvSpPr/>
          <p:nvPr/>
        </p:nvSpPr>
        <p:spPr>
          <a:xfrm>
            <a:off x="4297680" y="4114800"/>
            <a:ext cx="3566160" cy="1234440"/>
          </a:xfrm>
          <a:prstGeom prst="roundRect">
            <a:avLst>
              <a:gd name="adj" fmla="val 8889"/>
            </a:avLst>
          </a:prstGeom>
          <a:solidFill>
            <a:srgbClr val="F4F7FA"/>
          </a:solidFill>
          <a:ln w="12700">
            <a:solidFill>
              <a:srgbClr val="F4F7FA"/>
            </a:solidFill>
            <a:prstDash val="solid"/>
          </a:ln>
        </p:spPr>
      </p:sp>
      <p:sp>
        <p:nvSpPr>
          <p:cNvPr id="20" name="Shape 17"/>
          <p:cNvSpPr/>
          <p:nvPr/>
        </p:nvSpPr>
        <p:spPr>
          <a:xfrm>
            <a:off x="4480560" y="4297680"/>
            <a:ext cx="457200" cy="457200"/>
          </a:xfrm>
          <a:prstGeom prst="ellipse">
            <a:avLst/>
          </a:prstGeom>
          <a:solidFill>
            <a:srgbClr val="0F7C90"/>
          </a:solidFill>
          <a:ln w="12700">
            <a:solidFill>
              <a:srgbClr val="0F7C90"/>
            </a:solidFill>
            <a:prstDash val="solid"/>
          </a:ln>
        </p:spPr>
      </p:sp>
      <p:sp>
        <p:nvSpPr>
          <p:cNvPr id="21" name="Text 18"/>
          <p:cNvSpPr txBox="1"/>
          <p:nvPr/>
        </p:nvSpPr>
        <p:spPr>
          <a:xfrm>
            <a:off x="4480560" y="4297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2" name="Text 19"/>
          <p:cNvSpPr txBox="1"/>
          <p:nvPr/>
        </p:nvSpPr>
        <p:spPr>
          <a:xfrm>
            <a:off x="5074920" y="4206240"/>
            <a:ext cx="2651760" cy="10515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¿Por qué la impresión en papel no es el mensaje de datos?</a:t>
            </a:r>
            <a:endParaRPr lang="en-US" sz="1300" dirty="0"/>
          </a:p>
        </p:txBody>
      </p:sp>
      <p:sp>
        <p:nvSpPr>
          <p:cNvPr id="23" name="Shape 20"/>
          <p:cNvSpPr/>
          <p:nvPr/>
        </p:nvSpPr>
        <p:spPr>
          <a:xfrm>
            <a:off x="8046720" y="4114800"/>
            <a:ext cx="3566160" cy="1234440"/>
          </a:xfrm>
          <a:prstGeom prst="roundRect">
            <a:avLst>
              <a:gd name="adj" fmla="val 8889"/>
            </a:avLst>
          </a:prstGeom>
          <a:solidFill>
            <a:srgbClr val="F4F7FA"/>
          </a:solidFill>
          <a:ln w="12700">
            <a:solidFill>
              <a:srgbClr val="F4F7FA"/>
            </a:solidFill>
            <a:prstDash val="solid"/>
          </a:ln>
        </p:spPr>
      </p:sp>
      <p:sp>
        <p:nvSpPr>
          <p:cNvPr id="24" name="Shape 21"/>
          <p:cNvSpPr/>
          <p:nvPr/>
        </p:nvSpPr>
        <p:spPr>
          <a:xfrm>
            <a:off x="8229600" y="4297680"/>
            <a:ext cx="457200" cy="457200"/>
          </a:xfrm>
          <a:prstGeom prst="ellipse">
            <a:avLst/>
          </a:prstGeom>
          <a:solidFill>
            <a:srgbClr val="0F7C90"/>
          </a:solidFill>
          <a:ln w="12700">
            <a:solidFill>
              <a:srgbClr val="0F7C90"/>
            </a:solidFill>
            <a:prstDash val="solid"/>
          </a:ln>
        </p:spPr>
      </p:sp>
      <p:sp>
        <p:nvSpPr>
          <p:cNvPr id="25" name="Text 22"/>
          <p:cNvSpPr txBox="1"/>
          <p:nvPr/>
        </p:nvSpPr>
        <p:spPr>
          <a:xfrm>
            <a:off x="8229600" y="4297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Text 23"/>
          <p:cNvSpPr txBox="1"/>
          <p:nvPr/>
        </p:nvSpPr>
        <p:spPr>
          <a:xfrm>
            <a:off x="8823960" y="4206240"/>
            <a:ext cx="2651760" cy="10515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¿Por qué la inmutabilidad, que es una ventaja técnica, es un problema jurídico?</a:t>
            </a:r>
            <a:endParaRPr lang="en-US" sz="1300" dirty="0"/>
          </a:p>
        </p:txBody>
      </p:sp>
      <p:sp>
        <p:nvSpPr>
          <p:cNvPr id="27" name="Text 24"/>
          <p:cNvSpPr txBox="1"/>
          <p:nvPr/>
        </p:nvSpPr>
        <p:spPr>
          <a:xfrm>
            <a:off x="548640" y="5577840"/>
            <a:ext cx="10972800" cy="365760"/>
          </a:xfrm>
          <a:prstGeom prst="rect">
            <a:avLst/>
          </a:prstGeom>
          <a:noFill/>
          <a:ln/>
        </p:spPr>
        <p:txBody>
          <a:bodyPr wrap="square" lIns="0" tIns="0" rIns="0" bIns="0" rtlCol="0" anchor="t"/>
          <a:lstStyle/>
          <a:p>
            <a:pPr indent="0" marL="0">
              <a:buNone/>
            </a:pPr>
            <a:r>
              <a:rPr lang="en-US" sz="1300" i="1" dirty="0">
                <a:solidFill>
                  <a:srgbClr val="4A5568"/>
                </a:solidFill>
                <a:latin typeface="Calibri" pitchFamily="34" charset="0"/>
                <a:ea typeface="Calibri" pitchFamily="34" charset="-122"/>
                <a:cs typeface="Calibri" pitchFamily="34" charset="-120"/>
              </a:rPr>
              <a:t>3 min lectura individual  ·  3 min en parejas  ·  2 min plenaria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Taller 1 · Clínica de contratación y prueba electrónica</a:t>
            </a:r>
            <a:endParaRPr lang="en-US" sz="2400" dirty="0"/>
          </a:p>
        </p:txBody>
      </p:sp>
      <p:sp>
        <p:nvSpPr>
          <p:cNvPr id="3" name="Shape 1"/>
          <p:cNvSpPr/>
          <p:nvPr/>
        </p:nvSpPr>
        <p:spPr>
          <a:xfrm>
            <a:off x="9646920" y="384048"/>
            <a:ext cx="2084832" cy="384048"/>
          </a:xfrm>
          <a:prstGeom prst="roundRect">
            <a:avLst>
              <a:gd name="adj" fmla="val 50000"/>
            </a:avLst>
          </a:prstGeom>
          <a:solidFill>
            <a:srgbClr val="0F7C90"/>
          </a:solidFill>
          <a:ln w="12700">
            <a:solidFill>
              <a:srgbClr val="0F7C90"/>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DEMOSTRAR</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49-65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14</a:t>
            </a:r>
            <a:endParaRPr lang="en-US" sz="900" dirty="0"/>
          </a:p>
        </p:txBody>
      </p:sp>
      <p:sp>
        <p:nvSpPr>
          <p:cNvPr id="8" name="Shape 5"/>
          <p:cNvSpPr/>
          <p:nvPr/>
        </p:nvSpPr>
        <p:spPr>
          <a:xfrm>
            <a:off x="548640" y="1371600"/>
            <a:ext cx="6766560" cy="4663440"/>
          </a:xfrm>
          <a:prstGeom prst="roundRect">
            <a:avLst>
              <a:gd name="adj" fmla="val 2353"/>
            </a:avLst>
          </a:prstGeom>
          <a:solidFill>
            <a:srgbClr val="EAF1F6"/>
          </a:solidFill>
          <a:ln w="12700">
            <a:solidFill>
              <a:srgbClr val="EAF1F6"/>
            </a:solidFill>
            <a:prstDash val="solid"/>
          </a:ln>
        </p:spPr>
      </p:sp>
      <p:sp>
        <p:nvSpPr>
          <p:cNvPr id="9" name="Text 6"/>
          <p:cNvSpPr txBox="1"/>
          <p:nvPr/>
        </p:nvSpPr>
        <p:spPr>
          <a:xfrm>
            <a:off x="777240" y="1463040"/>
            <a:ext cx="6400800" cy="411480"/>
          </a:xfrm>
          <a:prstGeom prst="rect">
            <a:avLst/>
          </a:prstGeom>
          <a:noFill/>
          <a:ln/>
        </p:spPr>
        <p:txBody>
          <a:bodyPr wrap="square" lIns="0" tIns="0" rIns="0" bIns="0" rtlCol="0" anchor="t"/>
          <a:lstStyle/>
          <a:p>
            <a:pPr indent="0" marL="0">
              <a:buNone/>
            </a:pPr>
            <a:r>
              <a:rPr lang="en-US" sz="1700" b="1" dirty="0">
                <a:solidFill>
                  <a:srgbClr val="1B2A41"/>
                </a:solidFill>
                <a:latin typeface="Calibri" pitchFamily="34" charset="0"/>
                <a:ea typeface="Calibri" pitchFamily="34" charset="-122"/>
                <a:cs typeface="Calibri" pitchFamily="34" charset="-120"/>
              </a:rPr>
              <a:t>Distribuidora Andina S.A.S.</a:t>
            </a:r>
            <a:endParaRPr lang="en-US" sz="1700" dirty="0"/>
          </a:p>
        </p:txBody>
      </p:sp>
      <p:sp>
        <p:nvSpPr>
          <p:cNvPr id="10" name="Text 7"/>
          <p:cNvSpPr txBox="1"/>
          <p:nvPr/>
        </p:nvSpPr>
        <p:spPr>
          <a:xfrm>
            <a:off x="777240" y="1920240"/>
            <a:ext cx="6400800" cy="320040"/>
          </a:xfrm>
          <a:prstGeom prst="rect">
            <a:avLst/>
          </a:prstGeom>
          <a:noFill/>
          <a:ln/>
        </p:spPr>
        <p:txBody>
          <a:bodyPr wrap="square" lIns="0" tIns="0" rIns="0" bIns="0" rtlCol="0" anchor="t"/>
          <a:lstStyle/>
          <a:p>
            <a:pPr indent="0" marL="0">
              <a:buNone/>
            </a:pPr>
            <a:r>
              <a:rPr lang="en-US" sz="1300" b="1" dirty="0">
                <a:solidFill>
                  <a:srgbClr val="0F7C90"/>
                </a:solidFill>
                <a:latin typeface="Calibri" pitchFamily="34" charset="0"/>
                <a:ea typeface="Calibri" pitchFamily="34" charset="-122"/>
                <a:cs typeface="Calibri" pitchFamily="34" charset="-120"/>
              </a:rPr>
              <a:t>Parte A</a:t>
            </a:r>
            <a:endParaRPr lang="en-US" sz="1300" dirty="0"/>
          </a:p>
        </p:txBody>
      </p:sp>
      <p:sp>
        <p:nvSpPr>
          <p:cNvPr id="11" name="Text 8"/>
          <p:cNvSpPr txBox="1"/>
          <p:nvPr/>
        </p:nvSpPr>
        <p:spPr>
          <a:xfrm>
            <a:off x="777240" y="2240280"/>
            <a:ext cx="6309360" cy="173736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Negoció por WhatsApp y correo la compra de 500 unidades. El proveedor envió una orden en PDF sin firma; el gerente respondió por WhatsApp «listo, de acuerdo, despachen el lunes» y envió una nota de voz confirmando precio y fecha. El proveedor no despachó y hoy niega que haya contrato. ¿Hubo contrato? ¿Cómo asegura y aporta la prueba?</a:t>
            </a:r>
            <a:endParaRPr lang="en-US" sz="1250" dirty="0"/>
          </a:p>
        </p:txBody>
      </p:sp>
      <p:sp>
        <p:nvSpPr>
          <p:cNvPr id="12" name="Text 9"/>
          <p:cNvSpPr txBox="1"/>
          <p:nvPr/>
        </p:nvSpPr>
        <p:spPr>
          <a:xfrm>
            <a:off x="777240" y="3977640"/>
            <a:ext cx="6400800" cy="320040"/>
          </a:xfrm>
          <a:prstGeom prst="rect">
            <a:avLst/>
          </a:prstGeom>
          <a:noFill/>
          <a:ln/>
        </p:spPr>
        <p:txBody>
          <a:bodyPr wrap="square" lIns="0" tIns="0" rIns="0" bIns="0" rtlCol="0" anchor="t"/>
          <a:lstStyle/>
          <a:p>
            <a:pPr indent="0" marL="0">
              <a:buNone/>
            </a:pPr>
            <a:r>
              <a:rPr lang="en-US" sz="1300" b="1" dirty="0">
                <a:solidFill>
                  <a:srgbClr val="0F7C90"/>
                </a:solidFill>
                <a:latin typeface="Calibri" pitchFamily="34" charset="0"/>
                <a:ea typeface="Calibri" pitchFamily="34" charset="-122"/>
                <a:cs typeface="Calibri" pitchFamily="34" charset="-120"/>
              </a:rPr>
              <a:t>Parte B</a:t>
            </a:r>
            <a:endParaRPr lang="en-US" sz="1300" dirty="0"/>
          </a:p>
        </p:txBody>
      </p:sp>
      <p:sp>
        <p:nvSpPr>
          <p:cNvPr id="13" name="Text 10"/>
          <p:cNvSpPr txBox="1"/>
          <p:nvPr/>
        </p:nvSpPr>
        <p:spPr>
          <a:xfrm>
            <a:off x="777240" y="4297680"/>
            <a:ext cx="6309360" cy="169164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En otro negocio, Andina usó un smart contract que liberaba el pago cuando un sensor confirmaba la entrega. El sensor confirmó, el pago se ejecutó y la mercancía llegó defectuosa. El código no prevé reversión. ¿Qué remedio tiene Andina y cuál de las dos cláusulas modelo habría exigido primero?</a:t>
            </a:r>
            <a:endParaRPr lang="en-US" sz="1250" dirty="0"/>
          </a:p>
        </p:txBody>
      </p:sp>
      <p:sp>
        <p:nvSpPr>
          <p:cNvPr id="14" name="Shape 11"/>
          <p:cNvSpPr/>
          <p:nvPr/>
        </p:nvSpPr>
        <p:spPr>
          <a:xfrm>
            <a:off x="7863840" y="1371600"/>
            <a:ext cx="822960" cy="822960"/>
          </a:xfrm>
          <a:prstGeom prst="ellipse">
            <a:avLst/>
          </a:prstGeom>
          <a:solidFill>
            <a:srgbClr val="0F7C90"/>
          </a:solidFill>
          <a:ln w="12700">
            <a:solidFill>
              <a:srgbClr val="0F7C90"/>
            </a:solidFill>
            <a:prstDash val="solid"/>
          </a:ln>
        </p:spPr>
      </p:sp>
      <p:pic>
        <p:nvPicPr>
          <p:cNvPr id="15" name="Image 0" descr="preencoded.png">    </p:cNvPr>
          <p:cNvPicPr>
            <a:picLocks noChangeAspect="1"/>
          </p:cNvPicPr>
          <p:nvPr/>
        </p:nvPicPr>
        <p:blipFill>
          <a:blip r:embed="rId1"/>
          <a:stretch>
            <a:fillRect/>
          </a:stretch>
        </p:blipFill>
        <p:spPr>
          <a:xfrm>
            <a:off x="8069580" y="1577340"/>
            <a:ext cx="411480" cy="411480"/>
          </a:xfrm>
          <a:prstGeom prst="rect">
            <a:avLst/>
          </a:prstGeom>
        </p:spPr>
      </p:pic>
      <p:sp>
        <p:nvSpPr>
          <p:cNvPr id="16" name="Text 12"/>
          <p:cNvSpPr txBox="1"/>
          <p:nvPr/>
        </p:nvSpPr>
        <p:spPr>
          <a:xfrm>
            <a:off x="8823960" y="1417320"/>
            <a:ext cx="2926080" cy="731520"/>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Grupos de 4 a 5 · relator y cronometrador</a:t>
            </a:r>
            <a:endParaRPr lang="en-US" sz="1300" dirty="0"/>
          </a:p>
        </p:txBody>
      </p:sp>
      <p:sp>
        <p:nvSpPr>
          <p:cNvPr id="17" name="Shape 13"/>
          <p:cNvSpPr/>
          <p:nvPr/>
        </p:nvSpPr>
        <p:spPr>
          <a:xfrm>
            <a:off x="7863840" y="2377440"/>
            <a:ext cx="3840480" cy="804672"/>
          </a:xfrm>
          <a:prstGeom prst="roundRect">
            <a:avLst>
              <a:gd name="adj" fmla="val 13636"/>
            </a:avLst>
          </a:prstGeom>
          <a:solidFill>
            <a:srgbClr val="F4F7FA"/>
          </a:solidFill>
          <a:ln w="12700">
            <a:solidFill>
              <a:srgbClr val="F4F7FA"/>
            </a:solidFill>
            <a:prstDash val="solid"/>
          </a:ln>
        </p:spPr>
      </p:sp>
      <p:sp>
        <p:nvSpPr>
          <p:cNvPr id="18" name="Text 14"/>
          <p:cNvSpPr txBox="1"/>
          <p:nvPr/>
        </p:nvSpPr>
        <p:spPr>
          <a:xfrm>
            <a:off x="8001000" y="2432304"/>
            <a:ext cx="1097280" cy="685800"/>
          </a:xfrm>
          <a:prstGeom prst="rect">
            <a:avLst/>
          </a:prstGeom>
          <a:noFill/>
          <a:ln/>
        </p:spPr>
        <p:txBody>
          <a:bodyPr wrap="square" lIns="0" tIns="0" rIns="0" bIns="0" rtlCol="0" anchor="ctr"/>
          <a:lstStyle/>
          <a:p>
            <a:pPr indent="0" marL="0">
              <a:buNone/>
            </a:pPr>
            <a:r>
              <a:rPr lang="en-US" sz="1300" b="1" dirty="0">
                <a:solidFill>
                  <a:srgbClr val="0F7C90"/>
                </a:solidFill>
                <a:latin typeface="Calibri" pitchFamily="34" charset="0"/>
                <a:ea typeface="Calibri" pitchFamily="34" charset="-122"/>
                <a:cs typeface="Calibri" pitchFamily="34" charset="-120"/>
              </a:rPr>
              <a:t>0-2 min</a:t>
            </a:r>
            <a:endParaRPr lang="en-US" sz="1300" dirty="0"/>
          </a:p>
        </p:txBody>
      </p:sp>
      <p:sp>
        <p:nvSpPr>
          <p:cNvPr id="19" name="Text 15"/>
          <p:cNvSpPr txBox="1"/>
          <p:nvPr/>
        </p:nvSpPr>
        <p:spPr>
          <a:xfrm>
            <a:off x="9098280" y="2432304"/>
            <a:ext cx="2514600" cy="6858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Lectura individual del caso con la chuleta proyectada</a:t>
            </a:r>
            <a:endParaRPr lang="en-US" sz="1150" dirty="0"/>
          </a:p>
        </p:txBody>
      </p:sp>
      <p:sp>
        <p:nvSpPr>
          <p:cNvPr id="20" name="Shape 16"/>
          <p:cNvSpPr/>
          <p:nvPr/>
        </p:nvSpPr>
        <p:spPr>
          <a:xfrm>
            <a:off x="7863840" y="3291840"/>
            <a:ext cx="3840480" cy="804672"/>
          </a:xfrm>
          <a:prstGeom prst="roundRect">
            <a:avLst>
              <a:gd name="adj" fmla="val 13636"/>
            </a:avLst>
          </a:prstGeom>
          <a:solidFill>
            <a:srgbClr val="F4F7FA"/>
          </a:solidFill>
          <a:ln w="12700">
            <a:solidFill>
              <a:srgbClr val="F4F7FA"/>
            </a:solidFill>
            <a:prstDash val="solid"/>
          </a:ln>
        </p:spPr>
      </p:sp>
      <p:sp>
        <p:nvSpPr>
          <p:cNvPr id="21" name="Text 17"/>
          <p:cNvSpPr txBox="1"/>
          <p:nvPr/>
        </p:nvSpPr>
        <p:spPr>
          <a:xfrm>
            <a:off x="8001000" y="3346704"/>
            <a:ext cx="1097280" cy="685800"/>
          </a:xfrm>
          <a:prstGeom prst="rect">
            <a:avLst/>
          </a:prstGeom>
          <a:noFill/>
          <a:ln/>
        </p:spPr>
        <p:txBody>
          <a:bodyPr wrap="square" lIns="0" tIns="0" rIns="0" bIns="0" rtlCol="0" anchor="ctr"/>
          <a:lstStyle/>
          <a:p>
            <a:pPr indent="0" marL="0">
              <a:buNone/>
            </a:pPr>
            <a:r>
              <a:rPr lang="en-US" sz="1300" b="1" dirty="0">
                <a:solidFill>
                  <a:srgbClr val="0F7C90"/>
                </a:solidFill>
                <a:latin typeface="Calibri" pitchFamily="34" charset="0"/>
                <a:ea typeface="Calibri" pitchFamily="34" charset="-122"/>
                <a:cs typeface="Calibri" pitchFamily="34" charset="-120"/>
              </a:rPr>
              <a:t>2-8 min</a:t>
            </a:r>
            <a:endParaRPr lang="en-US" sz="1300" dirty="0"/>
          </a:p>
        </p:txBody>
      </p:sp>
      <p:sp>
        <p:nvSpPr>
          <p:cNvPr id="22" name="Text 18"/>
          <p:cNvSpPr txBox="1"/>
          <p:nvPr/>
        </p:nvSpPr>
        <p:spPr>
          <a:xfrm>
            <a:off x="9098280" y="3346704"/>
            <a:ext cx="2514600" cy="6858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Parte A: ¿hubo contrato? Llenar el protocolo de seis casillas</a:t>
            </a:r>
            <a:endParaRPr lang="en-US" sz="1150" dirty="0"/>
          </a:p>
        </p:txBody>
      </p:sp>
      <p:sp>
        <p:nvSpPr>
          <p:cNvPr id="23" name="Shape 19"/>
          <p:cNvSpPr/>
          <p:nvPr/>
        </p:nvSpPr>
        <p:spPr>
          <a:xfrm>
            <a:off x="7863840" y="4206240"/>
            <a:ext cx="3840480" cy="804672"/>
          </a:xfrm>
          <a:prstGeom prst="roundRect">
            <a:avLst>
              <a:gd name="adj" fmla="val 13636"/>
            </a:avLst>
          </a:prstGeom>
          <a:solidFill>
            <a:srgbClr val="F4F7FA"/>
          </a:solidFill>
          <a:ln w="12700">
            <a:solidFill>
              <a:srgbClr val="F4F7FA"/>
            </a:solidFill>
            <a:prstDash val="solid"/>
          </a:ln>
        </p:spPr>
      </p:sp>
      <p:sp>
        <p:nvSpPr>
          <p:cNvPr id="24" name="Text 20"/>
          <p:cNvSpPr txBox="1"/>
          <p:nvPr/>
        </p:nvSpPr>
        <p:spPr>
          <a:xfrm>
            <a:off x="8001000" y="4261104"/>
            <a:ext cx="1097280" cy="685800"/>
          </a:xfrm>
          <a:prstGeom prst="rect">
            <a:avLst/>
          </a:prstGeom>
          <a:noFill/>
          <a:ln/>
        </p:spPr>
        <p:txBody>
          <a:bodyPr wrap="square" lIns="0" tIns="0" rIns="0" bIns="0" rtlCol="0" anchor="ctr"/>
          <a:lstStyle/>
          <a:p>
            <a:pPr indent="0" marL="0">
              <a:buNone/>
            </a:pPr>
            <a:r>
              <a:rPr lang="en-US" sz="1300" b="1" dirty="0">
                <a:solidFill>
                  <a:srgbClr val="0F7C90"/>
                </a:solidFill>
                <a:latin typeface="Calibri" pitchFamily="34" charset="0"/>
                <a:ea typeface="Calibri" pitchFamily="34" charset="-122"/>
                <a:cs typeface="Calibri" pitchFamily="34" charset="-120"/>
              </a:rPr>
              <a:t>8-12 min</a:t>
            </a:r>
            <a:endParaRPr lang="en-US" sz="1300" dirty="0"/>
          </a:p>
        </p:txBody>
      </p:sp>
      <p:sp>
        <p:nvSpPr>
          <p:cNvPr id="25" name="Text 21"/>
          <p:cNvSpPr txBox="1"/>
          <p:nvPr/>
        </p:nvSpPr>
        <p:spPr>
          <a:xfrm>
            <a:off x="9098280" y="4261104"/>
            <a:ext cx="2514600" cy="6858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Parte B: remedio y elección justificada de una cláusula modelo</a:t>
            </a:r>
            <a:endParaRPr lang="en-US" sz="1150" dirty="0"/>
          </a:p>
        </p:txBody>
      </p:sp>
      <p:sp>
        <p:nvSpPr>
          <p:cNvPr id="26" name="Shape 22"/>
          <p:cNvSpPr/>
          <p:nvPr/>
        </p:nvSpPr>
        <p:spPr>
          <a:xfrm>
            <a:off x="7863840" y="5120640"/>
            <a:ext cx="3840480" cy="804672"/>
          </a:xfrm>
          <a:prstGeom prst="roundRect">
            <a:avLst>
              <a:gd name="adj" fmla="val 13636"/>
            </a:avLst>
          </a:prstGeom>
          <a:solidFill>
            <a:srgbClr val="F4F7FA"/>
          </a:solidFill>
          <a:ln w="12700">
            <a:solidFill>
              <a:srgbClr val="F4F7FA"/>
            </a:solidFill>
            <a:prstDash val="solid"/>
          </a:ln>
        </p:spPr>
      </p:sp>
      <p:sp>
        <p:nvSpPr>
          <p:cNvPr id="27" name="Text 23"/>
          <p:cNvSpPr txBox="1"/>
          <p:nvPr/>
        </p:nvSpPr>
        <p:spPr>
          <a:xfrm>
            <a:off x="8001000" y="5175504"/>
            <a:ext cx="1097280" cy="685800"/>
          </a:xfrm>
          <a:prstGeom prst="rect">
            <a:avLst/>
          </a:prstGeom>
          <a:noFill/>
          <a:ln/>
        </p:spPr>
        <p:txBody>
          <a:bodyPr wrap="square" lIns="0" tIns="0" rIns="0" bIns="0" rtlCol="0" anchor="ctr"/>
          <a:lstStyle/>
          <a:p>
            <a:pPr indent="0" marL="0">
              <a:buNone/>
            </a:pPr>
            <a:r>
              <a:rPr lang="en-US" sz="1300" b="1" dirty="0">
                <a:solidFill>
                  <a:srgbClr val="0F7C90"/>
                </a:solidFill>
                <a:latin typeface="Calibri" pitchFamily="34" charset="0"/>
                <a:ea typeface="Calibri" pitchFamily="34" charset="-122"/>
                <a:cs typeface="Calibri" pitchFamily="34" charset="-120"/>
              </a:rPr>
              <a:t>12-16 min</a:t>
            </a:r>
            <a:endParaRPr lang="en-US" sz="1300" dirty="0"/>
          </a:p>
        </p:txBody>
      </p:sp>
      <p:sp>
        <p:nvSpPr>
          <p:cNvPr id="28" name="Text 24"/>
          <p:cNvSpPr txBox="1"/>
          <p:nvPr/>
        </p:nvSpPr>
        <p:spPr>
          <a:xfrm>
            <a:off x="9098280" y="5175504"/>
            <a:ext cx="2514600" cy="68580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Plenaria: dos grupos, un minuto cada uno; plantilla modelo</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Taller 1 · Plantilla modelo del facilitador</a:t>
            </a:r>
            <a:endParaRPr lang="en-US" sz="2800" dirty="0"/>
          </a:p>
        </p:txBody>
      </p:sp>
      <p:sp>
        <p:nvSpPr>
          <p:cNvPr id="3" name="Shape 1"/>
          <p:cNvSpPr/>
          <p:nvPr/>
        </p:nvSpPr>
        <p:spPr>
          <a:xfrm>
            <a:off x="9646920" y="384048"/>
            <a:ext cx="2084832" cy="384048"/>
          </a:xfrm>
          <a:prstGeom prst="roundRect">
            <a:avLst>
              <a:gd name="adj" fmla="val 50000"/>
            </a:avLst>
          </a:prstGeom>
          <a:solidFill>
            <a:srgbClr val="0F7C90"/>
          </a:solidFill>
          <a:ln w="12700">
            <a:solidFill>
              <a:srgbClr val="0F7C90"/>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DEMOSTRAR</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61-65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15</a:t>
            </a:r>
            <a:endParaRPr lang="en-US" sz="900" dirty="0"/>
          </a:p>
        </p:txBody>
      </p:sp>
      <p:sp>
        <p:nvSpPr>
          <p:cNvPr id="8" name="Text 5"/>
          <p:cNvSpPr txBox="1"/>
          <p:nvPr/>
        </p:nvSpPr>
        <p:spPr>
          <a:xfrm>
            <a:off x="548640" y="1371600"/>
            <a:ext cx="6400800" cy="41148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Protocolo de conservación y aportación (seis casillas)</a:t>
            </a:r>
            <a:endParaRPr lang="en-US" sz="1600" dirty="0"/>
          </a:p>
        </p:txBody>
      </p:sp>
      <p:sp>
        <p:nvSpPr>
          <p:cNvPr id="9" name="Shape 6"/>
          <p:cNvSpPr/>
          <p:nvPr/>
        </p:nvSpPr>
        <p:spPr>
          <a:xfrm>
            <a:off x="548640" y="1965960"/>
            <a:ext cx="457200" cy="457200"/>
          </a:xfrm>
          <a:prstGeom prst="ellipse">
            <a:avLst/>
          </a:prstGeom>
          <a:solidFill>
            <a:srgbClr val="0F7C90"/>
          </a:solidFill>
          <a:ln w="12700">
            <a:solidFill>
              <a:srgbClr val="0F7C90"/>
            </a:solidFill>
            <a:prstDash val="solid"/>
          </a:ln>
        </p:spPr>
      </p:sp>
      <p:sp>
        <p:nvSpPr>
          <p:cNvPr id="10" name="Text 7"/>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1143000" y="1874520"/>
            <a:ext cx="5669280" cy="6400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Conservar el dispositivo original; no borrar el chat</a:t>
            </a:r>
            <a:endParaRPr lang="en-US" sz="1250" dirty="0"/>
          </a:p>
        </p:txBody>
      </p:sp>
      <p:sp>
        <p:nvSpPr>
          <p:cNvPr id="12" name="Shape 9"/>
          <p:cNvSpPr/>
          <p:nvPr/>
        </p:nvSpPr>
        <p:spPr>
          <a:xfrm>
            <a:off x="548640" y="2642616"/>
            <a:ext cx="457200" cy="457200"/>
          </a:xfrm>
          <a:prstGeom prst="ellipse">
            <a:avLst/>
          </a:prstGeom>
          <a:solidFill>
            <a:srgbClr val="0F7C90"/>
          </a:solidFill>
          <a:ln w="12700">
            <a:solidFill>
              <a:srgbClr val="0F7C90"/>
            </a:solidFill>
            <a:prstDash val="solid"/>
          </a:ln>
        </p:spPr>
      </p:sp>
      <p:sp>
        <p:nvSpPr>
          <p:cNvPr id="13" name="Text 10"/>
          <p:cNvSpPr txBox="1"/>
          <p:nvPr/>
        </p:nvSpPr>
        <p:spPr>
          <a:xfrm>
            <a:off x="548640" y="26426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1143000" y="2551176"/>
            <a:ext cx="5669280" cy="6400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Exportar la conversación completa con metadatos y adjuntos</a:t>
            </a:r>
            <a:endParaRPr lang="en-US" sz="1250" dirty="0"/>
          </a:p>
        </p:txBody>
      </p:sp>
      <p:sp>
        <p:nvSpPr>
          <p:cNvPr id="15" name="Shape 12"/>
          <p:cNvSpPr/>
          <p:nvPr/>
        </p:nvSpPr>
        <p:spPr>
          <a:xfrm>
            <a:off x="548640" y="3319272"/>
            <a:ext cx="457200" cy="457200"/>
          </a:xfrm>
          <a:prstGeom prst="ellipse">
            <a:avLst/>
          </a:prstGeom>
          <a:solidFill>
            <a:srgbClr val="0F7C90"/>
          </a:solidFill>
          <a:ln w="12700">
            <a:solidFill>
              <a:srgbClr val="0F7C90"/>
            </a:solidFill>
            <a:prstDash val="solid"/>
          </a:ln>
        </p:spPr>
      </p:sp>
      <p:sp>
        <p:nvSpPr>
          <p:cNvPr id="16" name="Text 13"/>
          <p:cNvSpPr txBox="1"/>
          <p:nvPr/>
        </p:nvSpPr>
        <p:spPr>
          <a:xfrm>
            <a:off x="548640" y="33192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txBox="1"/>
          <p:nvPr/>
        </p:nvSpPr>
        <p:spPr>
          <a:xfrm>
            <a:off x="1143000" y="3227832"/>
            <a:ext cx="5669280" cy="6400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Calcular y registrar el hash de los archivos exportados</a:t>
            </a:r>
            <a:endParaRPr lang="en-US" sz="1250" dirty="0"/>
          </a:p>
        </p:txBody>
      </p:sp>
      <p:sp>
        <p:nvSpPr>
          <p:cNvPr id="18" name="Shape 15"/>
          <p:cNvSpPr/>
          <p:nvPr/>
        </p:nvSpPr>
        <p:spPr>
          <a:xfrm>
            <a:off x="548640" y="3995928"/>
            <a:ext cx="457200" cy="457200"/>
          </a:xfrm>
          <a:prstGeom prst="ellipse">
            <a:avLst/>
          </a:prstGeom>
          <a:solidFill>
            <a:srgbClr val="0F7C90"/>
          </a:solidFill>
          <a:ln w="12700">
            <a:solidFill>
              <a:srgbClr val="0F7C90"/>
            </a:solidFill>
            <a:prstDash val="solid"/>
          </a:ln>
        </p:spPr>
      </p:sp>
      <p:sp>
        <p:nvSpPr>
          <p:cNvPr id="19" name="Text 16"/>
          <p:cNvSpPr txBox="1"/>
          <p:nvPr/>
        </p:nvSpPr>
        <p:spPr>
          <a:xfrm>
            <a:off x="548640" y="39959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txBox="1"/>
          <p:nvPr/>
        </p:nvSpPr>
        <p:spPr>
          <a:xfrm>
            <a:off x="1143000" y="3904488"/>
            <a:ext cx="5669280" cy="6400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Documentar la extracción: acta, certificación notarial o informe pericial según la cuantía</a:t>
            </a:r>
            <a:endParaRPr lang="en-US" sz="1250" dirty="0"/>
          </a:p>
        </p:txBody>
      </p:sp>
      <p:sp>
        <p:nvSpPr>
          <p:cNvPr id="21" name="Shape 18"/>
          <p:cNvSpPr/>
          <p:nvPr/>
        </p:nvSpPr>
        <p:spPr>
          <a:xfrm>
            <a:off x="548640" y="4672584"/>
            <a:ext cx="457200" cy="457200"/>
          </a:xfrm>
          <a:prstGeom prst="ellipse">
            <a:avLst/>
          </a:prstGeom>
          <a:solidFill>
            <a:srgbClr val="0F7C90"/>
          </a:solidFill>
          <a:ln w="12700">
            <a:solidFill>
              <a:srgbClr val="0F7C90"/>
            </a:solidFill>
            <a:prstDash val="solid"/>
          </a:ln>
        </p:spPr>
      </p:sp>
      <p:sp>
        <p:nvSpPr>
          <p:cNvPr id="22" name="Text 19"/>
          <p:cNvSpPr txBox="1"/>
          <p:nvPr/>
        </p:nvSpPr>
        <p:spPr>
          <a:xfrm>
            <a:off x="548640" y="46725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0"/>
          <p:cNvSpPr txBox="1"/>
          <p:nvPr/>
        </p:nvSpPr>
        <p:spPr>
          <a:xfrm>
            <a:off x="1143000" y="4581144"/>
            <a:ext cx="5669280" cy="6400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Aportar en el formato original o en uno que lo reproduzca con exactitud (art. 247 CGP); nunca solo la impresión</a:t>
            </a:r>
            <a:endParaRPr lang="en-US" sz="1250" dirty="0"/>
          </a:p>
        </p:txBody>
      </p:sp>
      <p:sp>
        <p:nvSpPr>
          <p:cNvPr id="24" name="Shape 21"/>
          <p:cNvSpPr/>
          <p:nvPr/>
        </p:nvSpPr>
        <p:spPr>
          <a:xfrm>
            <a:off x="548640" y="5349240"/>
            <a:ext cx="457200" cy="457200"/>
          </a:xfrm>
          <a:prstGeom prst="ellipse">
            <a:avLst/>
          </a:prstGeom>
          <a:solidFill>
            <a:srgbClr val="0F7C90"/>
          </a:solidFill>
          <a:ln w="12700">
            <a:solidFill>
              <a:srgbClr val="0F7C90"/>
            </a:solidFill>
            <a:prstDash val="solid"/>
          </a:ln>
        </p:spPr>
      </p:sp>
      <p:sp>
        <p:nvSpPr>
          <p:cNvPr id="25" name="Text 22"/>
          <p:cNvSpPr txBox="1"/>
          <p:nvPr/>
        </p:nvSpPr>
        <p:spPr>
          <a:xfrm>
            <a:off x="548640" y="5349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3"/>
          <p:cNvSpPr txBox="1"/>
          <p:nvPr/>
        </p:nvSpPr>
        <p:spPr>
          <a:xfrm>
            <a:off x="1143000" y="5257800"/>
            <a:ext cx="5669280" cy="64008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Identificar al iniciador (número, contacto, correos cruzados) y pedir exhibición si la contraparte controla otra copia</a:t>
            </a:r>
            <a:endParaRPr lang="en-US" sz="1250" dirty="0"/>
          </a:p>
        </p:txBody>
      </p:sp>
      <p:sp>
        <p:nvSpPr>
          <p:cNvPr id="27" name="Text 24"/>
          <p:cNvSpPr txBox="1"/>
          <p:nvPr/>
        </p:nvSpPr>
        <p:spPr>
          <a:xfrm>
            <a:off x="7315200" y="1371600"/>
            <a:ext cx="4389120" cy="41148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Dos cláusulas modelo</a:t>
            </a:r>
            <a:endParaRPr lang="en-US" sz="1600" dirty="0"/>
          </a:p>
        </p:txBody>
      </p:sp>
      <p:sp>
        <p:nvSpPr>
          <p:cNvPr id="28" name="Shape 25"/>
          <p:cNvSpPr/>
          <p:nvPr/>
        </p:nvSpPr>
        <p:spPr>
          <a:xfrm>
            <a:off x="7315200" y="1874520"/>
            <a:ext cx="4389120" cy="2011680"/>
          </a:xfrm>
          <a:prstGeom prst="roundRect">
            <a:avLst>
              <a:gd name="adj" fmla="val 5455"/>
            </a:avLst>
          </a:prstGeom>
          <a:solidFill>
            <a:srgbClr val="1B2A41"/>
          </a:solidFill>
          <a:ln w="12700">
            <a:solidFill>
              <a:srgbClr val="1B2A41"/>
            </a:solidFill>
            <a:prstDash val="solid"/>
          </a:ln>
        </p:spPr>
      </p:sp>
      <p:sp>
        <p:nvSpPr>
          <p:cNvPr id="29" name="Text 26"/>
          <p:cNvSpPr txBox="1"/>
          <p:nvPr/>
        </p:nvSpPr>
        <p:spPr>
          <a:xfrm>
            <a:off x="7498080" y="1965960"/>
            <a:ext cx="4023360" cy="41148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(i) Función de pausa y corrección</a:t>
            </a:r>
            <a:endParaRPr lang="en-US" sz="1400" dirty="0"/>
          </a:p>
        </p:txBody>
      </p:sp>
      <p:sp>
        <p:nvSpPr>
          <p:cNvPr id="30" name="Text 27"/>
          <p:cNvSpPr txBox="1"/>
          <p:nvPr/>
        </p:nvSpPr>
        <p:spPr>
          <a:xfrm>
            <a:off x="7498080" y="2377440"/>
            <a:ext cx="4023360" cy="14630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El código incluirá un mecanismo de suspensión y un oráculo o tercero verificador cuya confirmación de conformidad, no solo de entrega, condiciona el pago.</a:t>
            </a:r>
            <a:endParaRPr lang="en-US" sz="1200" dirty="0"/>
          </a:p>
        </p:txBody>
      </p:sp>
      <p:sp>
        <p:nvSpPr>
          <p:cNvPr id="31" name="Shape 28"/>
          <p:cNvSpPr/>
          <p:nvPr/>
        </p:nvSpPr>
        <p:spPr>
          <a:xfrm>
            <a:off x="7315200" y="4023360"/>
            <a:ext cx="4389120" cy="2011680"/>
          </a:xfrm>
          <a:prstGeom prst="roundRect">
            <a:avLst>
              <a:gd name="adj" fmla="val 5455"/>
            </a:avLst>
          </a:prstGeom>
          <a:solidFill>
            <a:srgbClr val="1B2A41"/>
          </a:solidFill>
          <a:ln w="12700">
            <a:solidFill>
              <a:srgbClr val="1B2A41"/>
            </a:solidFill>
            <a:prstDash val="solid"/>
          </a:ln>
        </p:spPr>
      </p:sp>
      <p:sp>
        <p:nvSpPr>
          <p:cNvPr id="32" name="Text 29"/>
          <p:cNvSpPr txBox="1"/>
          <p:nvPr/>
        </p:nvSpPr>
        <p:spPr>
          <a:xfrm>
            <a:off x="7498080" y="4114800"/>
            <a:ext cx="4023360" cy="41148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(ii) Prevalencia y jurisdicción</a:t>
            </a:r>
            <a:endParaRPr lang="en-US" sz="1400" dirty="0"/>
          </a:p>
        </p:txBody>
      </p:sp>
      <p:sp>
        <p:nvSpPr>
          <p:cNvPr id="33" name="Text 30"/>
          <p:cNvSpPr txBox="1"/>
          <p:nvPr/>
        </p:nvSpPr>
        <p:spPr>
          <a:xfrm>
            <a:off x="7498080" y="4526280"/>
            <a:ext cx="4023360" cy="14630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El texto en lenguaje natural prevalece sobre el código en caso de discrepancia; ley aplicable colombiana y cláusula compromisoria o juez competente.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2A41"/>
        </a:solidFill>
      </p:bgPr>
    </p:bg>
    <p:spTree>
      <p:nvGrpSpPr>
        <p:cNvPr id="1" name=""/>
        <p:cNvGrpSpPr/>
        <p:nvPr/>
      </p:nvGrpSpPr>
      <p:grpSpPr>
        <a:xfrm>
          <a:off x="0" y="0"/>
          <a:ext cx="0" cy="0"/>
          <a:chOff x="0" y="0"/>
          <a:chExt cx="0" cy="0"/>
        </a:xfrm>
      </p:grpSpPr>
      <p:sp>
        <p:nvSpPr>
          <p:cNvPr id="3" name="Shape 0"/>
          <p:cNvSpPr/>
          <p:nvPr/>
        </p:nvSpPr>
        <p:spPr>
          <a:xfrm>
            <a:off x="914400" y="1280160"/>
            <a:ext cx="1188720" cy="1188720"/>
          </a:xfrm>
          <a:prstGeom prst="ellipse">
            <a:avLst/>
          </a:prstGeom>
          <a:solidFill>
            <a:srgbClr val="0F7C90"/>
          </a:solidFill>
          <a:ln w="12700">
            <a:solidFill>
              <a:srgbClr val="0F7C90"/>
            </a:solidFill>
            <a:prstDash val="solid"/>
          </a:ln>
        </p:spPr>
      </p:sp>
      <p:pic>
        <p:nvPicPr>
          <p:cNvPr id="4" name="Image 0" descr="preencoded.png">    </p:cNvPr>
          <p:cNvPicPr>
            <a:picLocks noChangeAspect="1"/>
          </p:cNvPicPr>
          <p:nvPr/>
        </p:nvPicPr>
        <p:blipFill>
          <a:blip r:embed="rId1"/>
          <a:stretch>
            <a:fillRect/>
          </a:stretch>
        </p:blipFill>
        <p:spPr>
          <a:xfrm>
            <a:off x="1211580" y="1577340"/>
            <a:ext cx="594360" cy="594360"/>
          </a:xfrm>
          <a:prstGeom prst="rect">
            <a:avLst/>
          </a:prstGeom>
        </p:spPr>
      </p:pic>
      <p:sp>
        <p:nvSpPr>
          <p:cNvPr id="5" name="Text 1"/>
          <p:cNvSpPr txBox="1"/>
          <p:nvPr/>
        </p:nvSpPr>
        <p:spPr>
          <a:xfrm>
            <a:off x="2377440" y="1234440"/>
            <a:ext cx="7315200" cy="12801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Pausa · 7 minutos</a:t>
            </a:r>
            <a:endParaRPr lang="en-US" sz="4400" dirty="0"/>
          </a:p>
        </p:txBody>
      </p:sp>
      <p:sp>
        <p:nvSpPr>
          <p:cNvPr id="6" name="Text 2"/>
          <p:cNvSpPr txBox="1"/>
          <p:nvPr/>
        </p:nvSpPr>
        <p:spPr>
          <a:xfrm>
            <a:off x="914400" y="2926080"/>
            <a:ext cx="10058400" cy="457200"/>
          </a:xfrm>
          <a:prstGeom prst="rect">
            <a:avLst/>
          </a:prstGeom>
          <a:noFill/>
          <a:ln/>
        </p:spPr>
        <p:txBody>
          <a:bodyPr wrap="square" lIns="0" tIns="0" rIns="0" bIns="0" rtlCol="0" anchor="t"/>
          <a:lstStyle/>
          <a:p>
            <a:pPr indent="0" marL="0">
              <a:buNone/>
            </a:pPr>
            <a:r>
              <a:rPr lang="en-US" sz="1800" dirty="0">
                <a:solidFill>
                  <a:srgbClr val="CADCFC"/>
                </a:solidFill>
                <a:latin typeface="Calibri" pitchFamily="34" charset="0"/>
                <a:ea typeface="Calibri" pitchFamily="34" charset="-122"/>
                <a:cs typeface="Calibri" pitchFamily="34" charset="-120"/>
              </a:rPr>
              <a:t>Al regresar: Taller 2 con grupos nuevos</a:t>
            </a:r>
            <a:endParaRPr lang="en-US" sz="1800" dirty="0"/>
          </a:p>
        </p:txBody>
      </p:sp>
      <p:sp>
        <p:nvSpPr>
          <p:cNvPr id="7" name="Shape 3"/>
          <p:cNvSpPr/>
          <p:nvPr/>
        </p:nvSpPr>
        <p:spPr>
          <a:xfrm>
            <a:off x="914400" y="3566160"/>
            <a:ext cx="10332720" cy="2377440"/>
          </a:xfrm>
          <a:prstGeom prst="roundRect">
            <a:avLst>
              <a:gd name="adj" fmla="val 4615"/>
            </a:avLst>
          </a:prstGeom>
          <a:solidFill>
            <a:srgbClr val="243654"/>
          </a:solidFill>
          <a:ln w="12700">
            <a:solidFill>
              <a:srgbClr val="243654"/>
            </a:solidFill>
            <a:prstDash val="solid"/>
          </a:ln>
        </p:spPr>
      </p:sp>
      <p:sp>
        <p:nvSpPr>
          <p:cNvPr id="8" name="Text 4"/>
          <p:cNvSpPr txBox="1"/>
          <p:nvPr/>
        </p:nvSpPr>
        <p:spPr>
          <a:xfrm>
            <a:off x="1188720" y="3749040"/>
            <a:ext cx="9784080" cy="20116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SaludSonrisa, clínica odontológica con 40.000 pacientes, pide concepto para: (1) contratar un asistente de IA generativa con servidores en Estados Unidos que resumirá historias clínicas y responderá a pacientes; el proveedor ofrece «anonimizar» los datos y se reserva usarlos para «mejorar el servicio»; (2) implantar check-in por reconocimiento facial en recepción. El gerente quiere firmar el viernes.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Video 3 · Datos personales en la nube y en sistemas de IA</a:t>
            </a:r>
            <a:endParaRPr lang="en-US" sz="2400" dirty="0"/>
          </a:p>
        </p:txBody>
      </p:sp>
      <p:sp>
        <p:nvSpPr>
          <p:cNvPr id="3" name="Shape 1"/>
          <p:cNvSpPr/>
          <p:nvPr/>
        </p:nvSpPr>
        <p:spPr>
          <a:xfrm>
            <a:off x="9646920" y="384048"/>
            <a:ext cx="2084832" cy="384048"/>
          </a:xfrm>
          <a:prstGeom prst="roundRect">
            <a:avLst>
              <a:gd name="adj" fmla="val 50000"/>
            </a:avLst>
          </a:prstGeom>
          <a:solidFill>
            <a:srgbClr val="E8A33D"/>
          </a:solidFill>
          <a:ln w="12700">
            <a:solidFill>
              <a:srgbClr val="E8A33D"/>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CONSENTIR</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72-80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17</a:t>
            </a:r>
            <a:endParaRPr lang="en-US" sz="900" dirty="0"/>
          </a:p>
        </p:txBody>
      </p:sp>
      <p:sp>
        <p:nvSpPr>
          <p:cNvPr id="8" name="Shape 5"/>
          <p:cNvSpPr/>
          <p:nvPr/>
        </p:nvSpPr>
        <p:spPr>
          <a:xfrm>
            <a:off x="548640" y="1371600"/>
            <a:ext cx="3657600" cy="4663440"/>
          </a:xfrm>
          <a:prstGeom prst="roundRect">
            <a:avLst>
              <a:gd name="adj" fmla="val 3000"/>
            </a:avLst>
          </a:prstGeom>
          <a:solidFill>
            <a:srgbClr val="1B2A41"/>
          </a:solidFill>
          <a:ln w="12700">
            <a:solidFill>
              <a:srgbClr val="1B2A41"/>
            </a:solidFill>
            <a:prstDash val="solid"/>
          </a:ln>
        </p:spPr>
      </p:sp>
      <p:sp>
        <p:nvSpPr>
          <p:cNvPr id="9" name="Shape 6"/>
          <p:cNvSpPr/>
          <p:nvPr/>
        </p:nvSpPr>
        <p:spPr>
          <a:xfrm>
            <a:off x="1920240" y="1691640"/>
            <a:ext cx="914400" cy="914400"/>
          </a:xfrm>
          <a:prstGeom prst="ellipse">
            <a:avLst/>
          </a:prstGeom>
          <a:solidFill>
            <a:srgbClr val="0F7C90"/>
          </a:solidFill>
          <a:ln w="12700">
            <a:solidFill>
              <a:srgbClr val="0F7C90"/>
            </a:solidFill>
            <a:prstDash val="solid"/>
          </a:ln>
        </p:spPr>
      </p:sp>
      <p:pic>
        <p:nvPicPr>
          <p:cNvPr id="10" name="Image 0" descr="preencoded.png">    </p:cNvPr>
          <p:cNvPicPr>
            <a:picLocks noChangeAspect="1"/>
          </p:cNvPicPr>
          <p:nvPr/>
        </p:nvPicPr>
        <p:blipFill>
          <a:blip r:embed="rId1"/>
          <a:stretch>
            <a:fillRect/>
          </a:stretch>
        </p:blipFill>
        <p:spPr>
          <a:xfrm>
            <a:off x="2148840" y="1920240"/>
            <a:ext cx="457200" cy="457200"/>
          </a:xfrm>
          <a:prstGeom prst="rect">
            <a:avLst/>
          </a:prstGeom>
        </p:spPr>
      </p:pic>
      <p:sp>
        <p:nvSpPr>
          <p:cNvPr id="11" name="Text 7"/>
          <p:cNvSpPr txBox="1"/>
          <p:nvPr/>
        </p:nvSpPr>
        <p:spPr>
          <a:xfrm>
            <a:off x="731520" y="2743200"/>
            <a:ext cx="3291840" cy="91440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Protección de datos personales en computación en la nube</a:t>
            </a:r>
            <a:endParaRPr lang="en-US" sz="1600" dirty="0"/>
          </a:p>
        </p:txBody>
      </p:sp>
      <p:sp>
        <p:nvSpPr>
          <p:cNvPr id="12" name="Text 8"/>
          <p:cNvSpPr txBox="1"/>
          <p:nvPr/>
        </p:nvSpPr>
        <p:spPr>
          <a:xfrm>
            <a:off x="731520" y="3703320"/>
            <a:ext cx="3291840" cy="54864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Nelson Remolina Angarita · Universidad de los Andes (GECTI)</a:t>
            </a:r>
            <a:endParaRPr lang="en-US" sz="1200" dirty="0"/>
          </a:p>
        </p:txBody>
      </p:sp>
      <p:sp>
        <p:nvSpPr>
          <p:cNvPr id="13" name="Text 9"/>
          <p:cNvSpPr txBox="1"/>
          <p:nvPr/>
        </p:nvSpPr>
        <p:spPr>
          <a:xfrm>
            <a:off x="731520" y="4297680"/>
            <a:ext cx="3291840" cy="365760"/>
          </a:xfrm>
          <a:prstGeom prst="rect">
            <a:avLst/>
          </a:prstGeom>
          <a:noFill/>
          <a:ln/>
        </p:spPr>
        <p:txBody>
          <a:bodyPr wrap="square" lIns="0" tIns="0" rIns="0" bIns="0" rtlCol="0" anchor="t"/>
          <a:lstStyle/>
          <a:p>
            <a:pPr algn="ctr" indent="0" marL="0">
              <a:buNone/>
            </a:pPr>
            <a:r>
              <a:rPr lang="en-US" sz="1200" dirty="0">
                <a:solidFill>
                  <a:srgbClr val="CADCFC"/>
                </a:solidFill>
                <a:latin typeface="Calibri" pitchFamily="34" charset="0"/>
                <a:ea typeface="Calibri" pitchFamily="34" charset="-122"/>
                <a:cs typeface="Calibri" pitchFamily="34" charset="-120"/>
              </a:rPr>
              <a:t>Fragmento de 5 min + 3 min de marco</a:t>
            </a:r>
            <a:endParaRPr lang="en-US" sz="1200" dirty="0"/>
          </a:p>
        </p:txBody>
      </p:sp>
      <p:sp>
        <p:nvSpPr>
          <p:cNvPr id="14" name="Text 10"/>
          <p:cNvSpPr txBox="1"/>
          <p:nvPr/>
        </p:nvSpPr>
        <p:spPr>
          <a:xfrm>
            <a:off x="4572000" y="1371600"/>
            <a:ext cx="7132320" cy="411480"/>
          </a:xfrm>
          <a:prstGeom prst="rect">
            <a:avLst/>
          </a:prstGeom>
          <a:noFill/>
          <a:ln/>
        </p:spPr>
        <p:txBody>
          <a:bodyPr wrap="square" lIns="0" tIns="0" rIns="0" bIns="0" rtlCol="0" anchor="t"/>
          <a:lstStyle/>
          <a:p>
            <a:pPr indent="0" marL="0">
              <a:buNone/>
            </a:pPr>
            <a:r>
              <a:rPr lang="en-US" sz="1700" b="1" dirty="0">
                <a:solidFill>
                  <a:srgbClr val="1B2A41"/>
                </a:solidFill>
                <a:latin typeface="Calibri" pitchFamily="34" charset="0"/>
                <a:ea typeface="Calibri" pitchFamily="34" charset="-122"/>
                <a:cs typeface="Calibri" pitchFamily="34" charset="-120"/>
              </a:rPr>
              <a:t>Cinco reglas para el Taller 2</a:t>
            </a:r>
            <a:endParaRPr lang="en-US" sz="1700" dirty="0"/>
          </a:p>
        </p:txBody>
      </p:sp>
      <p:sp>
        <p:nvSpPr>
          <p:cNvPr id="15" name="Shape 11"/>
          <p:cNvSpPr/>
          <p:nvPr/>
        </p:nvSpPr>
        <p:spPr>
          <a:xfrm>
            <a:off x="4572000" y="1874520"/>
            <a:ext cx="7132320" cy="749808"/>
          </a:xfrm>
          <a:prstGeom prst="roundRect">
            <a:avLst>
              <a:gd name="adj" fmla="val 14634"/>
            </a:avLst>
          </a:prstGeom>
          <a:solidFill>
            <a:srgbClr val="F4F7FA"/>
          </a:solidFill>
          <a:ln w="12700">
            <a:solidFill>
              <a:srgbClr val="F4F7FA"/>
            </a:solidFill>
            <a:prstDash val="solid"/>
          </a:ln>
        </p:spPr>
      </p:sp>
      <p:sp>
        <p:nvSpPr>
          <p:cNvPr id="16" name="Shape 12"/>
          <p:cNvSpPr/>
          <p:nvPr/>
        </p:nvSpPr>
        <p:spPr>
          <a:xfrm>
            <a:off x="4709160" y="2020824"/>
            <a:ext cx="457200" cy="457200"/>
          </a:xfrm>
          <a:prstGeom prst="ellipse">
            <a:avLst/>
          </a:prstGeom>
          <a:solidFill>
            <a:srgbClr val="E8A33D"/>
          </a:solidFill>
          <a:ln w="12700">
            <a:solidFill>
              <a:srgbClr val="E8A33D"/>
            </a:solidFill>
            <a:prstDash val="solid"/>
          </a:ln>
        </p:spPr>
      </p:sp>
      <p:sp>
        <p:nvSpPr>
          <p:cNvPr id="17" name="Text 13"/>
          <p:cNvSpPr txBox="1"/>
          <p:nvPr/>
        </p:nvSpPr>
        <p:spPr>
          <a:xfrm>
            <a:off x="4709160" y="202082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4"/>
          <p:cNvSpPr txBox="1"/>
          <p:nvPr/>
        </p:nvSpPr>
        <p:spPr>
          <a:xfrm>
            <a:off x="5303520" y="1929384"/>
            <a:ext cx="6309360" cy="320040"/>
          </a:xfrm>
          <a:prstGeom prst="rect">
            <a:avLst/>
          </a:prstGeom>
          <a:noFill/>
          <a:ln/>
        </p:spPr>
        <p:txBody>
          <a:bodyPr wrap="square" lIns="0" tIns="0" rIns="0" bIns="0" rtlCol="0" anchor="t"/>
          <a:lstStyle/>
          <a:p>
            <a:pPr indent="0" marL="0">
              <a:buNone/>
            </a:pPr>
            <a:r>
              <a:rPr lang="en-US" sz="1350" b="1" dirty="0">
                <a:solidFill>
                  <a:srgbClr val="1B2A41"/>
                </a:solidFill>
                <a:latin typeface="Calibri" pitchFamily="34" charset="0"/>
                <a:ea typeface="Calibri" pitchFamily="34" charset="-122"/>
                <a:cs typeface="Calibri" pitchFamily="34" charset="-120"/>
              </a:rPr>
              <a:t>Responsable vs. encargado</a:t>
            </a:r>
            <a:endParaRPr lang="en-US" sz="1350" dirty="0"/>
          </a:p>
        </p:txBody>
      </p:sp>
      <p:sp>
        <p:nvSpPr>
          <p:cNvPr id="19" name="Text 15"/>
          <p:cNvSpPr txBox="1"/>
          <p:nvPr/>
        </p:nvSpPr>
        <p:spPr>
          <a:xfrm>
            <a:off x="5303520" y="2240280"/>
            <a:ext cx="6309360" cy="365760"/>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¿Quién decide fines y medios y quién trata por cuenta de otro?</a:t>
            </a:r>
            <a:endParaRPr lang="en-US" sz="1100" dirty="0"/>
          </a:p>
        </p:txBody>
      </p:sp>
      <p:sp>
        <p:nvSpPr>
          <p:cNvPr id="20" name="Shape 16"/>
          <p:cNvSpPr/>
          <p:nvPr/>
        </p:nvSpPr>
        <p:spPr>
          <a:xfrm>
            <a:off x="4572000" y="2724912"/>
            <a:ext cx="7132320" cy="749808"/>
          </a:xfrm>
          <a:prstGeom prst="roundRect">
            <a:avLst>
              <a:gd name="adj" fmla="val 14634"/>
            </a:avLst>
          </a:prstGeom>
          <a:solidFill>
            <a:srgbClr val="F4F7FA"/>
          </a:solidFill>
          <a:ln w="12700">
            <a:solidFill>
              <a:srgbClr val="F4F7FA"/>
            </a:solidFill>
            <a:prstDash val="solid"/>
          </a:ln>
        </p:spPr>
      </p:sp>
      <p:sp>
        <p:nvSpPr>
          <p:cNvPr id="21" name="Shape 17"/>
          <p:cNvSpPr/>
          <p:nvPr/>
        </p:nvSpPr>
        <p:spPr>
          <a:xfrm>
            <a:off x="4709160" y="2871216"/>
            <a:ext cx="457200" cy="457200"/>
          </a:xfrm>
          <a:prstGeom prst="ellipse">
            <a:avLst/>
          </a:prstGeom>
          <a:solidFill>
            <a:srgbClr val="E8A33D"/>
          </a:solidFill>
          <a:ln w="12700">
            <a:solidFill>
              <a:srgbClr val="E8A33D"/>
            </a:solidFill>
            <a:prstDash val="solid"/>
          </a:ln>
        </p:spPr>
      </p:sp>
      <p:sp>
        <p:nvSpPr>
          <p:cNvPr id="22" name="Text 18"/>
          <p:cNvSpPr txBox="1"/>
          <p:nvPr/>
        </p:nvSpPr>
        <p:spPr>
          <a:xfrm>
            <a:off x="4709160" y="28712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3" name="Text 19"/>
          <p:cNvSpPr txBox="1"/>
          <p:nvPr/>
        </p:nvSpPr>
        <p:spPr>
          <a:xfrm>
            <a:off x="5303520" y="2779776"/>
            <a:ext cx="6309360" cy="320040"/>
          </a:xfrm>
          <a:prstGeom prst="rect">
            <a:avLst/>
          </a:prstGeom>
          <a:noFill/>
          <a:ln/>
        </p:spPr>
        <p:txBody>
          <a:bodyPr wrap="square" lIns="0" tIns="0" rIns="0" bIns="0" rtlCol="0" anchor="t"/>
          <a:lstStyle/>
          <a:p>
            <a:pPr indent="0" marL="0">
              <a:buNone/>
            </a:pPr>
            <a:r>
              <a:rPr lang="en-US" sz="1350" b="1" dirty="0">
                <a:solidFill>
                  <a:srgbClr val="1B2A41"/>
                </a:solidFill>
                <a:latin typeface="Calibri" pitchFamily="34" charset="0"/>
                <a:ea typeface="Calibri" pitchFamily="34" charset="-122"/>
                <a:cs typeface="Calibri" pitchFamily="34" charset="-120"/>
              </a:rPr>
              <a:t>Transferencia vs. transmisión internacional</a:t>
            </a:r>
            <a:endParaRPr lang="en-US" sz="1350" dirty="0"/>
          </a:p>
        </p:txBody>
      </p:sp>
      <p:sp>
        <p:nvSpPr>
          <p:cNvPr id="24" name="Text 20"/>
          <p:cNvSpPr txBox="1"/>
          <p:nvPr/>
        </p:nvSpPr>
        <p:spPr>
          <a:xfrm>
            <a:off x="5303520" y="3090672"/>
            <a:ext cx="6309360" cy="365760"/>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Art. 26 Ley 1581 (nivel adecuado o excepción) vs. contrato de transmisión (Decreto 1377 de 2013)</a:t>
            </a:r>
            <a:endParaRPr lang="en-US" sz="1100" dirty="0"/>
          </a:p>
        </p:txBody>
      </p:sp>
      <p:sp>
        <p:nvSpPr>
          <p:cNvPr id="25" name="Shape 21"/>
          <p:cNvSpPr/>
          <p:nvPr/>
        </p:nvSpPr>
        <p:spPr>
          <a:xfrm>
            <a:off x="4572000" y="3575304"/>
            <a:ext cx="7132320" cy="749808"/>
          </a:xfrm>
          <a:prstGeom prst="roundRect">
            <a:avLst>
              <a:gd name="adj" fmla="val 14634"/>
            </a:avLst>
          </a:prstGeom>
          <a:solidFill>
            <a:srgbClr val="F4F7FA"/>
          </a:solidFill>
          <a:ln w="12700">
            <a:solidFill>
              <a:srgbClr val="F4F7FA"/>
            </a:solidFill>
            <a:prstDash val="solid"/>
          </a:ln>
        </p:spPr>
      </p:sp>
      <p:sp>
        <p:nvSpPr>
          <p:cNvPr id="26" name="Shape 22"/>
          <p:cNvSpPr/>
          <p:nvPr/>
        </p:nvSpPr>
        <p:spPr>
          <a:xfrm>
            <a:off x="4709160" y="3721608"/>
            <a:ext cx="457200" cy="457200"/>
          </a:xfrm>
          <a:prstGeom prst="ellipse">
            <a:avLst/>
          </a:prstGeom>
          <a:solidFill>
            <a:srgbClr val="E8A33D"/>
          </a:solidFill>
          <a:ln w="12700">
            <a:solidFill>
              <a:srgbClr val="E8A33D"/>
            </a:solidFill>
            <a:prstDash val="solid"/>
          </a:ln>
        </p:spPr>
      </p:sp>
      <p:sp>
        <p:nvSpPr>
          <p:cNvPr id="27" name="Text 23"/>
          <p:cNvSpPr txBox="1"/>
          <p:nvPr/>
        </p:nvSpPr>
        <p:spPr>
          <a:xfrm>
            <a:off x="4709160" y="37216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4"/>
          <p:cNvSpPr txBox="1"/>
          <p:nvPr/>
        </p:nvSpPr>
        <p:spPr>
          <a:xfrm>
            <a:off x="5303520" y="3630168"/>
            <a:ext cx="6309360" cy="320040"/>
          </a:xfrm>
          <a:prstGeom prst="rect">
            <a:avLst/>
          </a:prstGeom>
          <a:noFill/>
          <a:ln/>
        </p:spPr>
        <p:txBody>
          <a:bodyPr wrap="square" lIns="0" tIns="0" rIns="0" bIns="0" rtlCol="0" anchor="t"/>
          <a:lstStyle/>
          <a:p>
            <a:pPr indent="0" marL="0">
              <a:buNone/>
            </a:pPr>
            <a:r>
              <a:rPr lang="en-US" sz="1350" b="1" dirty="0">
                <a:solidFill>
                  <a:srgbClr val="1B2A41"/>
                </a:solidFill>
                <a:latin typeface="Calibri" pitchFamily="34" charset="0"/>
                <a:ea typeface="Calibri" pitchFamily="34" charset="-122"/>
                <a:cs typeface="Calibri" pitchFamily="34" charset="-120"/>
              </a:rPr>
              <a:t>Datos sensibles y biometría</a:t>
            </a:r>
            <a:endParaRPr lang="en-US" sz="1350" dirty="0"/>
          </a:p>
        </p:txBody>
      </p:sp>
      <p:sp>
        <p:nvSpPr>
          <p:cNvPr id="29" name="Text 25"/>
          <p:cNvSpPr txBox="1"/>
          <p:nvPr/>
        </p:nvSpPr>
        <p:spPr>
          <a:xfrm>
            <a:off x="5303520" y="3941064"/>
            <a:ext cx="6309360" cy="365760"/>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Arts. 5 y 6 Ley 1581: autorización explícita; el titular no está obligado a darla</a:t>
            </a:r>
            <a:endParaRPr lang="en-US" sz="1100" dirty="0"/>
          </a:p>
        </p:txBody>
      </p:sp>
      <p:sp>
        <p:nvSpPr>
          <p:cNvPr id="30" name="Shape 26"/>
          <p:cNvSpPr/>
          <p:nvPr/>
        </p:nvSpPr>
        <p:spPr>
          <a:xfrm>
            <a:off x="4572000" y="4425696"/>
            <a:ext cx="7132320" cy="749808"/>
          </a:xfrm>
          <a:prstGeom prst="roundRect">
            <a:avLst>
              <a:gd name="adj" fmla="val 14634"/>
            </a:avLst>
          </a:prstGeom>
          <a:solidFill>
            <a:srgbClr val="F4F7FA"/>
          </a:solidFill>
          <a:ln w="12700">
            <a:solidFill>
              <a:srgbClr val="F4F7FA"/>
            </a:solidFill>
            <a:prstDash val="solid"/>
          </a:ln>
        </p:spPr>
      </p:sp>
      <p:sp>
        <p:nvSpPr>
          <p:cNvPr id="31" name="Shape 27"/>
          <p:cNvSpPr/>
          <p:nvPr/>
        </p:nvSpPr>
        <p:spPr>
          <a:xfrm>
            <a:off x="4709160" y="4572000"/>
            <a:ext cx="457200" cy="457200"/>
          </a:xfrm>
          <a:prstGeom prst="ellipse">
            <a:avLst/>
          </a:prstGeom>
          <a:solidFill>
            <a:srgbClr val="E8A33D"/>
          </a:solidFill>
          <a:ln w="12700">
            <a:solidFill>
              <a:srgbClr val="E8A33D"/>
            </a:solidFill>
            <a:prstDash val="solid"/>
          </a:ln>
        </p:spPr>
      </p:sp>
      <p:sp>
        <p:nvSpPr>
          <p:cNvPr id="32" name="Text 28"/>
          <p:cNvSpPr txBox="1"/>
          <p:nvPr/>
        </p:nvSpPr>
        <p:spPr>
          <a:xfrm>
            <a:off x="4709160" y="45720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3" name="Text 29"/>
          <p:cNvSpPr txBox="1"/>
          <p:nvPr/>
        </p:nvSpPr>
        <p:spPr>
          <a:xfrm>
            <a:off x="5303520" y="4480560"/>
            <a:ext cx="6309360" cy="320040"/>
          </a:xfrm>
          <a:prstGeom prst="rect">
            <a:avLst/>
          </a:prstGeom>
          <a:noFill/>
          <a:ln/>
        </p:spPr>
        <p:txBody>
          <a:bodyPr wrap="square" lIns="0" tIns="0" rIns="0" bIns="0" rtlCol="0" anchor="t"/>
          <a:lstStyle/>
          <a:p>
            <a:pPr indent="0" marL="0">
              <a:buNone/>
            </a:pPr>
            <a:r>
              <a:rPr lang="en-US" sz="1350" b="1" dirty="0">
                <a:solidFill>
                  <a:srgbClr val="1B2A41"/>
                </a:solidFill>
                <a:latin typeface="Calibri" pitchFamily="34" charset="0"/>
                <a:ea typeface="Calibri" pitchFamily="34" charset="-122"/>
                <a:cs typeface="Calibri" pitchFamily="34" charset="-120"/>
              </a:rPr>
              <a:t>Responsabilidad demostrada</a:t>
            </a:r>
            <a:endParaRPr lang="en-US" sz="1350" dirty="0"/>
          </a:p>
        </p:txBody>
      </p:sp>
      <p:sp>
        <p:nvSpPr>
          <p:cNvPr id="34" name="Text 30"/>
          <p:cNvSpPr txBox="1"/>
          <p:nvPr/>
        </p:nvSpPr>
        <p:spPr>
          <a:xfrm>
            <a:off x="5303520" y="4791456"/>
            <a:ext cx="6309360" cy="365760"/>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Políticas, evaluación de riesgos, contratos, auditoría y registro de evidencias (Guía GECTI)</a:t>
            </a:r>
            <a:endParaRPr lang="en-US" sz="1100" dirty="0"/>
          </a:p>
        </p:txBody>
      </p:sp>
      <p:sp>
        <p:nvSpPr>
          <p:cNvPr id="35" name="Shape 31"/>
          <p:cNvSpPr/>
          <p:nvPr/>
        </p:nvSpPr>
        <p:spPr>
          <a:xfrm>
            <a:off x="4572000" y="5276088"/>
            <a:ext cx="7132320" cy="749808"/>
          </a:xfrm>
          <a:prstGeom prst="roundRect">
            <a:avLst>
              <a:gd name="adj" fmla="val 14634"/>
            </a:avLst>
          </a:prstGeom>
          <a:solidFill>
            <a:srgbClr val="F4F7FA"/>
          </a:solidFill>
          <a:ln w="12700">
            <a:solidFill>
              <a:srgbClr val="F4F7FA"/>
            </a:solidFill>
            <a:prstDash val="solid"/>
          </a:ln>
        </p:spPr>
      </p:sp>
      <p:sp>
        <p:nvSpPr>
          <p:cNvPr id="36" name="Shape 32"/>
          <p:cNvSpPr/>
          <p:nvPr/>
        </p:nvSpPr>
        <p:spPr>
          <a:xfrm>
            <a:off x="4709160" y="5422392"/>
            <a:ext cx="457200" cy="457200"/>
          </a:xfrm>
          <a:prstGeom prst="ellipse">
            <a:avLst/>
          </a:prstGeom>
          <a:solidFill>
            <a:srgbClr val="E8A33D"/>
          </a:solidFill>
          <a:ln w="12700">
            <a:solidFill>
              <a:srgbClr val="E8A33D"/>
            </a:solidFill>
            <a:prstDash val="solid"/>
          </a:ln>
        </p:spPr>
      </p:sp>
      <p:sp>
        <p:nvSpPr>
          <p:cNvPr id="37" name="Text 33"/>
          <p:cNvSpPr txBox="1"/>
          <p:nvPr/>
        </p:nvSpPr>
        <p:spPr>
          <a:xfrm>
            <a:off x="4709160" y="542239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8" name="Text 34"/>
          <p:cNvSpPr txBox="1"/>
          <p:nvPr/>
        </p:nvSpPr>
        <p:spPr>
          <a:xfrm>
            <a:off x="5303520" y="5330952"/>
            <a:ext cx="6309360" cy="320040"/>
          </a:xfrm>
          <a:prstGeom prst="rect">
            <a:avLst/>
          </a:prstGeom>
          <a:noFill/>
          <a:ln/>
        </p:spPr>
        <p:txBody>
          <a:bodyPr wrap="square" lIns="0" tIns="0" rIns="0" bIns="0" rtlCol="0" anchor="t"/>
          <a:lstStyle/>
          <a:p>
            <a:pPr indent="0" marL="0">
              <a:buNone/>
            </a:pPr>
            <a:r>
              <a:rPr lang="en-US" sz="1350" b="1" dirty="0">
                <a:solidFill>
                  <a:srgbClr val="1B2A41"/>
                </a:solidFill>
                <a:latin typeface="Calibri" pitchFamily="34" charset="0"/>
                <a:ea typeface="Calibri" pitchFamily="34" charset="-122"/>
                <a:cs typeface="Calibri" pitchFamily="34" charset="-120"/>
              </a:rPr>
              <a:t>Circular Externa 002 de 2024 de la SIC</a:t>
            </a:r>
            <a:endParaRPr lang="en-US" sz="1350" dirty="0"/>
          </a:p>
        </p:txBody>
      </p:sp>
      <p:sp>
        <p:nvSpPr>
          <p:cNvPr id="39" name="Text 35"/>
          <p:cNvSpPr txBox="1"/>
          <p:nvPr/>
        </p:nvSpPr>
        <p:spPr>
          <a:xfrm>
            <a:off x="5303520" y="5641848"/>
            <a:ext cx="6309360" cy="365760"/>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Lineamientos para el tratamiento de datos personales en sistemas de IA (conversatorio del Externado)</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Taller 2 · Due diligence de datos e IA para contratar a un proveedor</a:t>
            </a:r>
            <a:endParaRPr lang="en-US" sz="2400" dirty="0"/>
          </a:p>
        </p:txBody>
      </p:sp>
      <p:sp>
        <p:nvSpPr>
          <p:cNvPr id="3" name="Shape 1"/>
          <p:cNvSpPr/>
          <p:nvPr/>
        </p:nvSpPr>
        <p:spPr>
          <a:xfrm>
            <a:off x="9646920" y="384048"/>
            <a:ext cx="2084832" cy="384048"/>
          </a:xfrm>
          <a:prstGeom prst="roundRect">
            <a:avLst>
              <a:gd name="adj" fmla="val 50000"/>
            </a:avLst>
          </a:prstGeom>
          <a:solidFill>
            <a:srgbClr val="E8A33D"/>
          </a:solidFill>
          <a:ln w="12700">
            <a:solidFill>
              <a:srgbClr val="E8A33D"/>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CONSENTIR</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80-103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18</a:t>
            </a:r>
            <a:endParaRPr lang="en-US" sz="900" dirty="0"/>
          </a:p>
        </p:txBody>
      </p:sp>
      <p:sp>
        <p:nvSpPr>
          <p:cNvPr id="8" name="Text 5"/>
          <p:cNvSpPr txBox="1"/>
          <p:nvPr/>
        </p:nvSpPr>
        <p:spPr>
          <a:xfrm>
            <a:off x="548640" y="1371600"/>
            <a:ext cx="3657600" cy="365760"/>
          </a:xfrm>
          <a:prstGeom prst="rect">
            <a:avLst/>
          </a:prstGeom>
          <a:noFill/>
          <a:ln/>
        </p:spPr>
        <p:txBody>
          <a:bodyPr wrap="square" lIns="0" tIns="0" rIns="0" bIns="0" rtlCol="0" anchor="t"/>
          <a:lstStyle/>
          <a:p>
            <a:pPr indent="0" marL="0">
              <a:buNone/>
            </a:pPr>
            <a:r>
              <a:rPr lang="en-US" sz="1500" b="1" dirty="0">
                <a:solidFill>
                  <a:srgbClr val="1B2A41"/>
                </a:solidFill>
                <a:latin typeface="Calibri" pitchFamily="34" charset="0"/>
                <a:ea typeface="Calibri" pitchFamily="34" charset="-122"/>
                <a:cs typeface="Calibri" pitchFamily="34" charset="-120"/>
              </a:rPr>
              <a:t>Semáforo de la matriz</a:t>
            </a:r>
            <a:endParaRPr lang="en-US" sz="1500" dirty="0"/>
          </a:p>
        </p:txBody>
      </p:sp>
      <p:sp>
        <p:nvSpPr>
          <p:cNvPr id="9" name="Shape 6"/>
          <p:cNvSpPr/>
          <p:nvPr/>
        </p:nvSpPr>
        <p:spPr>
          <a:xfrm>
            <a:off x="548640" y="1920240"/>
            <a:ext cx="457200" cy="457200"/>
          </a:xfrm>
          <a:prstGeom prst="ellipse">
            <a:avLst/>
          </a:prstGeom>
          <a:solidFill>
            <a:srgbClr val="2E8B57"/>
          </a:solidFill>
          <a:ln w="12700">
            <a:solidFill>
              <a:srgbClr val="2E8B57"/>
            </a:solidFill>
            <a:prstDash val="solid"/>
          </a:ln>
        </p:spPr>
      </p:sp>
      <p:sp>
        <p:nvSpPr>
          <p:cNvPr id="10" name="Text 7"/>
          <p:cNvSpPr txBox="1"/>
          <p:nvPr/>
        </p:nvSpPr>
        <p:spPr>
          <a:xfrm>
            <a:off x="1143000" y="1828800"/>
            <a:ext cx="1097280" cy="6400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Verde</a:t>
            </a:r>
            <a:endParaRPr lang="en-US" sz="1300" dirty="0"/>
          </a:p>
        </p:txBody>
      </p:sp>
      <p:sp>
        <p:nvSpPr>
          <p:cNvPr id="11" name="Text 8"/>
          <p:cNvSpPr txBox="1"/>
          <p:nvPr/>
        </p:nvSpPr>
        <p:spPr>
          <a:xfrm>
            <a:off x="2194560" y="1828800"/>
            <a:ext cx="2926080" cy="64008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Obligación exigible y verificable ya prevista</a:t>
            </a:r>
            <a:endParaRPr lang="en-US" sz="1150" dirty="0"/>
          </a:p>
        </p:txBody>
      </p:sp>
      <p:sp>
        <p:nvSpPr>
          <p:cNvPr id="12" name="Shape 9"/>
          <p:cNvSpPr/>
          <p:nvPr/>
        </p:nvSpPr>
        <p:spPr>
          <a:xfrm>
            <a:off x="548640" y="2651760"/>
            <a:ext cx="457200" cy="457200"/>
          </a:xfrm>
          <a:prstGeom prst="ellipse">
            <a:avLst/>
          </a:prstGeom>
          <a:solidFill>
            <a:srgbClr val="E8A33D"/>
          </a:solidFill>
          <a:ln w="12700">
            <a:solidFill>
              <a:srgbClr val="E8A33D"/>
            </a:solidFill>
            <a:prstDash val="solid"/>
          </a:ln>
        </p:spPr>
      </p:sp>
      <p:sp>
        <p:nvSpPr>
          <p:cNvPr id="13" name="Text 10"/>
          <p:cNvSpPr txBox="1"/>
          <p:nvPr/>
        </p:nvSpPr>
        <p:spPr>
          <a:xfrm>
            <a:off x="1143000" y="2560320"/>
            <a:ext cx="1097280" cy="6400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Amarillo</a:t>
            </a:r>
            <a:endParaRPr lang="en-US" sz="1300" dirty="0"/>
          </a:p>
        </p:txBody>
      </p:sp>
      <p:sp>
        <p:nvSpPr>
          <p:cNvPr id="14" name="Text 11"/>
          <p:cNvSpPr txBox="1"/>
          <p:nvPr/>
        </p:nvSpPr>
        <p:spPr>
          <a:xfrm>
            <a:off x="2194560" y="2560320"/>
            <a:ext cx="2926080" cy="64008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Principio mencionado por el proveedor sin mecanismo de cumplimiento</a:t>
            </a:r>
            <a:endParaRPr lang="en-US" sz="1150" dirty="0"/>
          </a:p>
        </p:txBody>
      </p:sp>
      <p:sp>
        <p:nvSpPr>
          <p:cNvPr id="15" name="Shape 12"/>
          <p:cNvSpPr/>
          <p:nvPr/>
        </p:nvSpPr>
        <p:spPr>
          <a:xfrm>
            <a:off x="548640" y="3383280"/>
            <a:ext cx="457200" cy="457200"/>
          </a:xfrm>
          <a:prstGeom prst="ellipse">
            <a:avLst/>
          </a:prstGeom>
          <a:solidFill>
            <a:srgbClr val="C0392B"/>
          </a:solidFill>
          <a:ln w="12700">
            <a:solidFill>
              <a:srgbClr val="C0392B"/>
            </a:solidFill>
            <a:prstDash val="solid"/>
          </a:ln>
        </p:spPr>
      </p:sp>
      <p:sp>
        <p:nvSpPr>
          <p:cNvPr id="16" name="Text 13"/>
          <p:cNvSpPr txBox="1"/>
          <p:nvPr/>
        </p:nvSpPr>
        <p:spPr>
          <a:xfrm>
            <a:off x="1143000" y="3291840"/>
            <a:ext cx="1097280" cy="640080"/>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Rojo</a:t>
            </a:r>
            <a:endParaRPr lang="en-US" sz="1300" dirty="0"/>
          </a:p>
        </p:txBody>
      </p:sp>
      <p:sp>
        <p:nvSpPr>
          <p:cNvPr id="17" name="Text 14"/>
          <p:cNvSpPr txBox="1"/>
          <p:nvPr/>
        </p:nvSpPr>
        <p:spPr>
          <a:xfrm>
            <a:off x="2194560" y="3291840"/>
            <a:ext cx="2926080" cy="640080"/>
          </a:xfrm>
          <a:prstGeom prst="rect">
            <a:avLst/>
          </a:prstGeom>
          <a:noFill/>
          <a:ln/>
        </p:spPr>
        <p:txBody>
          <a:bodyPr wrap="square" lIns="0" tIns="0" rIns="0" bIns="0" rtlCol="0" anchor="ctr"/>
          <a:lstStyle/>
          <a:p>
            <a:pPr indent="0" marL="0">
              <a:buNone/>
            </a:pPr>
            <a:r>
              <a:rPr lang="en-US" sz="1150" dirty="0">
                <a:solidFill>
                  <a:srgbClr val="1F2937"/>
                </a:solidFill>
                <a:latin typeface="Calibri" pitchFamily="34" charset="0"/>
                <a:ea typeface="Calibri" pitchFamily="34" charset="-122"/>
                <a:cs typeface="Calibri" pitchFamily="34" charset="-120"/>
              </a:rPr>
              <a:t>Ausente</a:t>
            </a:r>
            <a:endParaRPr lang="en-US" sz="1150" dirty="0"/>
          </a:p>
        </p:txBody>
      </p:sp>
      <p:sp>
        <p:nvSpPr>
          <p:cNvPr id="18" name="Text 15"/>
          <p:cNvSpPr txBox="1"/>
          <p:nvPr/>
        </p:nvSpPr>
        <p:spPr>
          <a:xfrm>
            <a:off x="548640" y="4069080"/>
            <a:ext cx="4572000" cy="640080"/>
          </a:xfrm>
          <a:prstGeom prst="rect">
            <a:avLst/>
          </a:prstGeom>
          <a:noFill/>
          <a:ln/>
        </p:spPr>
        <p:txBody>
          <a:bodyPr wrap="square" lIns="0" tIns="0" rIns="0" bIns="0" rtlCol="0" anchor="t"/>
          <a:lstStyle/>
          <a:p>
            <a:pPr indent="0" marL="0">
              <a:buNone/>
            </a:pPr>
            <a:r>
              <a:rPr lang="en-US" sz="1150" i="1" dirty="0">
                <a:solidFill>
                  <a:srgbClr val="4A5568"/>
                </a:solidFill>
                <a:latin typeface="Calibri" pitchFamily="34" charset="0"/>
                <a:ea typeface="Calibri" pitchFamily="34" charset="-122"/>
                <a:cs typeface="Calibri" pitchFamily="34" charset="-120"/>
              </a:rPr>
              <a:t>Cada fila lleva la evidencia que se pediría: política, certificado, cláusula, registro o prueba.</a:t>
            </a:r>
            <a:endParaRPr lang="en-US" sz="1150" dirty="0"/>
          </a:p>
        </p:txBody>
      </p:sp>
      <p:sp>
        <p:nvSpPr>
          <p:cNvPr id="19" name="Text 16"/>
          <p:cNvSpPr txBox="1"/>
          <p:nvPr/>
        </p:nvSpPr>
        <p:spPr>
          <a:xfrm>
            <a:off x="548640" y="4754880"/>
            <a:ext cx="4572000" cy="36576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Herramientas sobre la mesa</a:t>
            </a:r>
            <a:endParaRPr lang="en-US" sz="1300" dirty="0"/>
          </a:p>
        </p:txBody>
      </p:sp>
      <p:sp>
        <p:nvSpPr>
          <p:cNvPr id="20" name="Text 17"/>
          <p:cNvSpPr txBox="1"/>
          <p:nvPr/>
        </p:nvSpPr>
        <p:spPr>
          <a:xfrm>
            <a:off x="548640" y="5120640"/>
            <a:ext cx="4572000" cy="914400"/>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Guía GECTI de accountability (Uniandes) · Toolkit ético legal de IA (Uniandes) · Caso CLOUD Act (Harvard Law School) · Principled AI (Berkman Klein) · Caso Mercado Libre (Externado) · Circular 002 de 2024</a:t>
            </a:r>
            <a:endParaRPr lang="en-US" sz="1100" dirty="0"/>
          </a:p>
        </p:txBody>
      </p:sp>
      <p:sp>
        <p:nvSpPr>
          <p:cNvPr id="21" name="Text 18"/>
          <p:cNvSpPr txBox="1"/>
          <p:nvPr/>
        </p:nvSpPr>
        <p:spPr>
          <a:xfrm>
            <a:off x="5486400" y="1371600"/>
            <a:ext cx="6217920" cy="365760"/>
          </a:xfrm>
          <a:prstGeom prst="rect">
            <a:avLst/>
          </a:prstGeom>
          <a:noFill/>
          <a:ln/>
        </p:spPr>
        <p:txBody>
          <a:bodyPr wrap="square" lIns="0" tIns="0" rIns="0" bIns="0" rtlCol="0" anchor="t"/>
          <a:lstStyle/>
          <a:p>
            <a:pPr indent="0" marL="0">
              <a:buNone/>
            </a:pPr>
            <a:r>
              <a:rPr lang="en-US" sz="1500" b="1" dirty="0">
                <a:solidFill>
                  <a:srgbClr val="1B2A41"/>
                </a:solidFill>
                <a:latin typeface="Calibri" pitchFamily="34" charset="0"/>
                <a:ea typeface="Calibri" pitchFamily="34" charset="-122"/>
                <a:cs typeface="Calibri" pitchFamily="34" charset="-120"/>
              </a:rPr>
              <a:t>Pasos y tiempos</a:t>
            </a:r>
            <a:endParaRPr lang="en-US" sz="1500" dirty="0"/>
          </a:p>
        </p:txBody>
      </p:sp>
      <p:sp>
        <p:nvSpPr>
          <p:cNvPr id="22" name="Shape 19"/>
          <p:cNvSpPr/>
          <p:nvPr/>
        </p:nvSpPr>
        <p:spPr>
          <a:xfrm>
            <a:off x="5486400" y="1828800"/>
            <a:ext cx="6217920" cy="768096"/>
          </a:xfrm>
          <a:prstGeom prst="roundRect">
            <a:avLst>
              <a:gd name="adj" fmla="val 14286"/>
            </a:avLst>
          </a:prstGeom>
          <a:solidFill>
            <a:srgbClr val="F4F7FA"/>
          </a:solidFill>
          <a:ln w="12700">
            <a:solidFill>
              <a:srgbClr val="F4F7FA"/>
            </a:solidFill>
            <a:prstDash val="solid"/>
          </a:ln>
        </p:spPr>
      </p:sp>
      <p:sp>
        <p:nvSpPr>
          <p:cNvPr id="23" name="Text 20"/>
          <p:cNvSpPr txBox="1"/>
          <p:nvPr/>
        </p:nvSpPr>
        <p:spPr>
          <a:xfrm>
            <a:off x="5623560" y="1874520"/>
            <a:ext cx="822960" cy="676656"/>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0-2</a:t>
            </a:r>
            <a:endParaRPr lang="en-US" sz="1300" dirty="0"/>
          </a:p>
        </p:txBody>
      </p:sp>
      <p:sp>
        <p:nvSpPr>
          <p:cNvPr id="24" name="Text 21"/>
          <p:cNvSpPr txBox="1"/>
          <p:nvPr/>
        </p:nvSpPr>
        <p:spPr>
          <a:xfrm>
            <a:off x="6492240" y="1874520"/>
            <a:ext cx="5120640" cy="67665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Leer el caso con las cinco reglas a la vista. ¿El proyecto realmente usa IA y para qué decisiones?</a:t>
            </a:r>
            <a:endParaRPr lang="en-US" sz="1050" dirty="0"/>
          </a:p>
        </p:txBody>
      </p:sp>
      <p:sp>
        <p:nvSpPr>
          <p:cNvPr id="25" name="Shape 22"/>
          <p:cNvSpPr/>
          <p:nvPr/>
        </p:nvSpPr>
        <p:spPr>
          <a:xfrm>
            <a:off x="5486400" y="2679192"/>
            <a:ext cx="6217920" cy="768096"/>
          </a:xfrm>
          <a:prstGeom prst="roundRect">
            <a:avLst>
              <a:gd name="adj" fmla="val 14286"/>
            </a:avLst>
          </a:prstGeom>
          <a:solidFill>
            <a:srgbClr val="F4F7FA"/>
          </a:solidFill>
          <a:ln w="12700">
            <a:solidFill>
              <a:srgbClr val="F4F7FA"/>
            </a:solidFill>
            <a:prstDash val="solid"/>
          </a:ln>
        </p:spPr>
      </p:sp>
      <p:sp>
        <p:nvSpPr>
          <p:cNvPr id="26" name="Text 23"/>
          <p:cNvSpPr txBox="1"/>
          <p:nvPr/>
        </p:nvSpPr>
        <p:spPr>
          <a:xfrm>
            <a:off x="5623560" y="2724912"/>
            <a:ext cx="822960" cy="676656"/>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2-8</a:t>
            </a:r>
            <a:endParaRPr lang="en-US" sz="1300" dirty="0"/>
          </a:p>
        </p:txBody>
      </p:sp>
      <p:sp>
        <p:nvSpPr>
          <p:cNvPr id="27" name="Text 24"/>
          <p:cNvSpPr txBox="1"/>
          <p:nvPr/>
        </p:nvSpPr>
        <p:spPr>
          <a:xfrm>
            <a:off x="6492240" y="2724912"/>
            <a:ext cx="5120640" cy="67665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Bases jurídicas y datos sensibles: salud y biometría (arts. 5 y 6); necesidad y proporcionalidad (caso Mercado Libre); Circular 002 de 2024</a:t>
            </a:r>
            <a:endParaRPr lang="en-US" sz="1050" dirty="0"/>
          </a:p>
        </p:txBody>
      </p:sp>
      <p:sp>
        <p:nvSpPr>
          <p:cNvPr id="28" name="Shape 25"/>
          <p:cNvSpPr/>
          <p:nvPr/>
        </p:nvSpPr>
        <p:spPr>
          <a:xfrm>
            <a:off x="5486400" y="3529584"/>
            <a:ext cx="6217920" cy="768096"/>
          </a:xfrm>
          <a:prstGeom prst="roundRect">
            <a:avLst>
              <a:gd name="adj" fmla="val 14286"/>
            </a:avLst>
          </a:prstGeom>
          <a:solidFill>
            <a:srgbClr val="F4F7FA"/>
          </a:solidFill>
          <a:ln w="12700">
            <a:solidFill>
              <a:srgbClr val="F4F7FA"/>
            </a:solidFill>
            <a:prstDash val="solid"/>
          </a:ln>
        </p:spPr>
      </p:sp>
      <p:sp>
        <p:nvSpPr>
          <p:cNvPr id="29" name="Text 26"/>
          <p:cNvSpPr txBox="1"/>
          <p:nvPr/>
        </p:nvSpPr>
        <p:spPr>
          <a:xfrm>
            <a:off x="5623560" y="3575304"/>
            <a:ext cx="822960" cy="676656"/>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8-14</a:t>
            </a:r>
            <a:endParaRPr lang="en-US" sz="1300" dirty="0"/>
          </a:p>
        </p:txBody>
      </p:sp>
      <p:sp>
        <p:nvSpPr>
          <p:cNvPr id="30" name="Text 27"/>
          <p:cNvSpPr txBox="1"/>
          <p:nvPr/>
        </p:nvSpPr>
        <p:spPr>
          <a:xfrm>
            <a:off x="6492240" y="3575304"/>
            <a:ext cx="5120640" cy="67665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Transferencia, transmisión y accountability: ¿encargado o responsable? Lista GECTI; caso CLOUD Act: cifrado con llaves propias, segregación, notificación, sin entrenamiento; ¿anonimización real o seudonimización?</a:t>
            </a:r>
            <a:endParaRPr lang="en-US" sz="1050" dirty="0"/>
          </a:p>
        </p:txBody>
      </p:sp>
      <p:sp>
        <p:nvSpPr>
          <p:cNvPr id="31" name="Shape 28"/>
          <p:cNvSpPr/>
          <p:nvPr/>
        </p:nvSpPr>
        <p:spPr>
          <a:xfrm>
            <a:off x="5486400" y="4379976"/>
            <a:ext cx="6217920" cy="768096"/>
          </a:xfrm>
          <a:prstGeom prst="roundRect">
            <a:avLst>
              <a:gd name="adj" fmla="val 14286"/>
            </a:avLst>
          </a:prstGeom>
          <a:solidFill>
            <a:srgbClr val="F4F7FA"/>
          </a:solidFill>
          <a:ln w="12700">
            <a:solidFill>
              <a:srgbClr val="F4F7FA"/>
            </a:solidFill>
            <a:prstDash val="solid"/>
          </a:ln>
        </p:spPr>
      </p:sp>
      <p:sp>
        <p:nvSpPr>
          <p:cNvPr id="32" name="Text 29"/>
          <p:cNvSpPr txBox="1"/>
          <p:nvPr/>
        </p:nvSpPr>
        <p:spPr>
          <a:xfrm>
            <a:off x="5623560" y="4425696"/>
            <a:ext cx="822960" cy="676656"/>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14-19</a:t>
            </a:r>
            <a:endParaRPr lang="en-US" sz="1300" dirty="0"/>
          </a:p>
        </p:txBody>
      </p:sp>
      <p:sp>
        <p:nvSpPr>
          <p:cNvPr id="33" name="Text 30"/>
          <p:cNvSpPr txBox="1"/>
          <p:nvPr/>
        </p:nvSpPr>
        <p:spPr>
          <a:xfrm>
            <a:off x="6492240" y="4425696"/>
            <a:ext cx="5120640" cy="67665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De principios a cláusulas: cinco temas de Principled AI convertidos en cláusulas verificables; asignar el semáforo</a:t>
            </a:r>
            <a:endParaRPr lang="en-US" sz="1050" dirty="0"/>
          </a:p>
        </p:txBody>
      </p:sp>
      <p:sp>
        <p:nvSpPr>
          <p:cNvPr id="34" name="Shape 31"/>
          <p:cNvSpPr/>
          <p:nvPr/>
        </p:nvSpPr>
        <p:spPr>
          <a:xfrm>
            <a:off x="5486400" y="5230368"/>
            <a:ext cx="6217920" cy="768096"/>
          </a:xfrm>
          <a:prstGeom prst="roundRect">
            <a:avLst>
              <a:gd name="adj" fmla="val 14286"/>
            </a:avLst>
          </a:prstGeom>
          <a:solidFill>
            <a:srgbClr val="F4F7FA"/>
          </a:solidFill>
          <a:ln w="12700">
            <a:solidFill>
              <a:srgbClr val="F4F7FA"/>
            </a:solidFill>
            <a:prstDash val="solid"/>
          </a:ln>
        </p:spPr>
      </p:sp>
      <p:sp>
        <p:nvSpPr>
          <p:cNvPr id="35" name="Text 32"/>
          <p:cNvSpPr txBox="1"/>
          <p:nvPr/>
        </p:nvSpPr>
        <p:spPr>
          <a:xfrm>
            <a:off x="5623560" y="5276088"/>
            <a:ext cx="822960" cy="676656"/>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19-23</a:t>
            </a:r>
            <a:endParaRPr lang="en-US" sz="1300" dirty="0"/>
          </a:p>
        </p:txBody>
      </p:sp>
      <p:sp>
        <p:nvSpPr>
          <p:cNvPr id="36" name="Text 33"/>
          <p:cNvSpPr txBox="1"/>
          <p:nvPr/>
        </p:nvSpPr>
        <p:spPr>
          <a:xfrm>
            <a:off x="6492240" y="5276088"/>
            <a:ext cx="5120640" cy="676656"/>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Plenaria: dos grupos con semáforos distintos; matriz modelo del facilitador</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De principios a cláusulas · Principled AI (Berkman Klein, 2020)</a:t>
            </a:r>
            <a:endParaRPr lang="en-US" sz="2400" dirty="0"/>
          </a:p>
        </p:txBody>
      </p:sp>
      <p:sp>
        <p:nvSpPr>
          <p:cNvPr id="3" name="Shape 1"/>
          <p:cNvSpPr/>
          <p:nvPr/>
        </p:nvSpPr>
        <p:spPr>
          <a:xfrm>
            <a:off x="9646920" y="384048"/>
            <a:ext cx="2084832" cy="384048"/>
          </a:xfrm>
          <a:prstGeom prst="roundRect">
            <a:avLst>
              <a:gd name="adj" fmla="val 50000"/>
            </a:avLst>
          </a:prstGeom>
          <a:solidFill>
            <a:srgbClr val="E8A33D"/>
          </a:solidFill>
          <a:ln w="12700">
            <a:solidFill>
              <a:srgbClr val="E8A33D"/>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CONSENTIR</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94-103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19</a:t>
            </a:r>
            <a:endParaRPr lang="en-US" sz="900" dirty="0"/>
          </a:p>
        </p:txBody>
      </p:sp>
      <p:sp>
        <p:nvSpPr>
          <p:cNvPr id="8" name="Shape 5"/>
          <p:cNvSpPr/>
          <p:nvPr/>
        </p:nvSpPr>
        <p:spPr>
          <a:xfrm>
            <a:off x="548640" y="1371600"/>
            <a:ext cx="2651760" cy="640080"/>
          </a:xfrm>
          <a:prstGeom prst="roundRect">
            <a:avLst>
              <a:gd name="adj" fmla="val 50000"/>
            </a:avLst>
          </a:prstGeom>
          <a:solidFill>
            <a:srgbClr val="EAF1F6"/>
          </a:solidFill>
          <a:ln w="12700">
            <a:solidFill>
              <a:srgbClr val="EAF1F6"/>
            </a:solidFill>
            <a:prstDash val="solid"/>
          </a:ln>
        </p:spPr>
      </p:sp>
      <p:sp>
        <p:nvSpPr>
          <p:cNvPr id="9" name="Text 6"/>
          <p:cNvSpPr txBox="1"/>
          <p:nvPr/>
        </p:nvSpPr>
        <p:spPr>
          <a:xfrm>
            <a:off x="685800" y="1371600"/>
            <a:ext cx="2377440" cy="640080"/>
          </a:xfrm>
          <a:prstGeom prst="rect">
            <a:avLst/>
          </a:prstGeom>
          <a:noFill/>
          <a:ln/>
        </p:spPr>
        <p:txBody>
          <a:bodyPr wrap="square" lIns="0" tIns="0" rIns="0" bIns="0" rtlCol="0" anchor="ctr"/>
          <a:lstStyle/>
          <a:p>
            <a:pPr algn="ctr" indent="0" marL="0">
              <a:buNone/>
            </a:pPr>
            <a:r>
              <a:rPr lang="en-US" sz="1250" b="1" dirty="0">
                <a:solidFill>
                  <a:srgbClr val="1B2A41"/>
                </a:solidFill>
                <a:latin typeface="Calibri" pitchFamily="34" charset="0"/>
                <a:ea typeface="Calibri" pitchFamily="34" charset="-122"/>
                <a:cs typeface="Calibri" pitchFamily="34" charset="-120"/>
              </a:rPr>
              <a:t>Privacidad</a:t>
            </a:r>
            <a:endParaRPr lang="en-US" sz="1250" dirty="0"/>
          </a:p>
        </p:txBody>
      </p:sp>
      <p:sp>
        <p:nvSpPr>
          <p:cNvPr id="10" name="Shape 7"/>
          <p:cNvSpPr/>
          <p:nvPr/>
        </p:nvSpPr>
        <p:spPr>
          <a:xfrm>
            <a:off x="3364992" y="1371600"/>
            <a:ext cx="2651760" cy="640080"/>
          </a:xfrm>
          <a:prstGeom prst="roundRect">
            <a:avLst>
              <a:gd name="adj" fmla="val 50000"/>
            </a:avLst>
          </a:prstGeom>
          <a:solidFill>
            <a:srgbClr val="EAF1F6"/>
          </a:solidFill>
          <a:ln w="12700">
            <a:solidFill>
              <a:srgbClr val="EAF1F6"/>
            </a:solidFill>
            <a:prstDash val="solid"/>
          </a:ln>
        </p:spPr>
      </p:sp>
      <p:sp>
        <p:nvSpPr>
          <p:cNvPr id="11" name="Text 8"/>
          <p:cNvSpPr txBox="1"/>
          <p:nvPr/>
        </p:nvSpPr>
        <p:spPr>
          <a:xfrm>
            <a:off x="3502152" y="1371600"/>
            <a:ext cx="2377440" cy="640080"/>
          </a:xfrm>
          <a:prstGeom prst="rect">
            <a:avLst/>
          </a:prstGeom>
          <a:noFill/>
          <a:ln/>
        </p:spPr>
        <p:txBody>
          <a:bodyPr wrap="square" lIns="0" tIns="0" rIns="0" bIns="0" rtlCol="0" anchor="ctr"/>
          <a:lstStyle/>
          <a:p>
            <a:pPr algn="ctr" indent="0" marL="0">
              <a:buNone/>
            </a:pPr>
            <a:r>
              <a:rPr lang="en-US" sz="1250" b="1" dirty="0">
                <a:solidFill>
                  <a:srgbClr val="1B2A41"/>
                </a:solidFill>
                <a:latin typeface="Calibri" pitchFamily="34" charset="0"/>
                <a:ea typeface="Calibri" pitchFamily="34" charset="-122"/>
                <a:cs typeface="Calibri" pitchFamily="34" charset="-120"/>
              </a:rPr>
              <a:t>Rendición de cuentas</a:t>
            </a:r>
            <a:endParaRPr lang="en-US" sz="1250" dirty="0"/>
          </a:p>
        </p:txBody>
      </p:sp>
      <p:sp>
        <p:nvSpPr>
          <p:cNvPr id="12" name="Shape 9"/>
          <p:cNvSpPr/>
          <p:nvPr/>
        </p:nvSpPr>
        <p:spPr>
          <a:xfrm>
            <a:off x="6181344" y="1371600"/>
            <a:ext cx="2651760" cy="640080"/>
          </a:xfrm>
          <a:prstGeom prst="roundRect">
            <a:avLst>
              <a:gd name="adj" fmla="val 50000"/>
            </a:avLst>
          </a:prstGeom>
          <a:solidFill>
            <a:srgbClr val="EAF1F6"/>
          </a:solidFill>
          <a:ln w="12700">
            <a:solidFill>
              <a:srgbClr val="EAF1F6"/>
            </a:solidFill>
            <a:prstDash val="solid"/>
          </a:ln>
        </p:spPr>
      </p:sp>
      <p:sp>
        <p:nvSpPr>
          <p:cNvPr id="13" name="Text 10"/>
          <p:cNvSpPr txBox="1"/>
          <p:nvPr/>
        </p:nvSpPr>
        <p:spPr>
          <a:xfrm>
            <a:off x="6318504" y="1371600"/>
            <a:ext cx="2377440" cy="640080"/>
          </a:xfrm>
          <a:prstGeom prst="rect">
            <a:avLst/>
          </a:prstGeom>
          <a:noFill/>
          <a:ln/>
        </p:spPr>
        <p:txBody>
          <a:bodyPr wrap="square" lIns="0" tIns="0" rIns="0" bIns="0" rtlCol="0" anchor="ctr"/>
          <a:lstStyle/>
          <a:p>
            <a:pPr algn="ctr" indent="0" marL="0">
              <a:buNone/>
            </a:pPr>
            <a:r>
              <a:rPr lang="en-US" sz="1250" b="1" dirty="0">
                <a:solidFill>
                  <a:srgbClr val="1B2A41"/>
                </a:solidFill>
                <a:latin typeface="Calibri" pitchFamily="34" charset="0"/>
                <a:ea typeface="Calibri" pitchFamily="34" charset="-122"/>
                <a:cs typeface="Calibri" pitchFamily="34" charset="-120"/>
              </a:rPr>
              <a:t>Seguridad y protección</a:t>
            </a:r>
            <a:endParaRPr lang="en-US" sz="1250" dirty="0"/>
          </a:p>
        </p:txBody>
      </p:sp>
      <p:sp>
        <p:nvSpPr>
          <p:cNvPr id="14" name="Shape 11"/>
          <p:cNvSpPr/>
          <p:nvPr/>
        </p:nvSpPr>
        <p:spPr>
          <a:xfrm>
            <a:off x="8997696" y="1371600"/>
            <a:ext cx="2651760" cy="640080"/>
          </a:xfrm>
          <a:prstGeom prst="roundRect">
            <a:avLst>
              <a:gd name="adj" fmla="val 50000"/>
            </a:avLst>
          </a:prstGeom>
          <a:solidFill>
            <a:srgbClr val="EAF1F6"/>
          </a:solidFill>
          <a:ln w="12700">
            <a:solidFill>
              <a:srgbClr val="EAF1F6"/>
            </a:solidFill>
            <a:prstDash val="solid"/>
          </a:ln>
        </p:spPr>
      </p:sp>
      <p:sp>
        <p:nvSpPr>
          <p:cNvPr id="15" name="Text 12"/>
          <p:cNvSpPr txBox="1"/>
          <p:nvPr/>
        </p:nvSpPr>
        <p:spPr>
          <a:xfrm>
            <a:off x="9134856" y="1371600"/>
            <a:ext cx="2377440" cy="640080"/>
          </a:xfrm>
          <a:prstGeom prst="rect">
            <a:avLst/>
          </a:prstGeom>
          <a:noFill/>
          <a:ln/>
        </p:spPr>
        <p:txBody>
          <a:bodyPr wrap="square" lIns="0" tIns="0" rIns="0" bIns="0" rtlCol="0" anchor="ctr"/>
          <a:lstStyle/>
          <a:p>
            <a:pPr algn="ctr" indent="0" marL="0">
              <a:buNone/>
            </a:pPr>
            <a:r>
              <a:rPr lang="en-US" sz="1250" b="1" dirty="0">
                <a:solidFill>
                  <a:srgbClr val="1B2A41"/>
                </a:solidFill>
                <a:latin typeface="Calibri" pitchFamily="34" charset="0"/>
                <a:ea typeface="Calibri" pitchFamily="34" charset="-122"/>
                <a:cs typeface="Calibri" pitchFamily="34" charset="-120"/>
              </a:rPr>
              <a:t>Transparencia y explicabilidad</a:t>
            </a:r>
            <a:endParaRPr lang="en-US" sz="1250" dirty="0"/>
          </a:p>
        </p:txBody>
      </p:sp>
      <p:sp>
        <p:nvSpPr>
          <p:cNvPr id="16" name="Shape 13"/>
          <p:cNvSpPr/>
          <p:nvPr/>
        </p:nvSpPr>
        <p:spPr>
          <a:xfrm>
            <a:off x="548640" y="2148840"/>
            <a:ext cx="2651760" cy="640080"/>
          </a:xfrm>
          <a:prstGeom prst="roundRect">
            <a:avLst>
              <a:gd name="adj" fmla="val 50000"/>
            </a:avLst>
          </a:prstGeom>
          <a:solidFill>
            <a:srgbClr val="EAF1F6"/>
          </a:solidFill>
          <a:ln w="12700">
            <a:solidFill>
              <a:srgbClr val="EAF1F6"/>
            </a:solidFill>
            <a:prstDash val="solid"/>
          </a:ln>
        </p:spPr>
      </p:sp>
      <p:sp>
        <p:nvSpPr>
          <p:cNvPr id="17" name="Text 14"/>
          <p:cNvSpPr txBox="1"/>
          <p:nvPr/>
        </p:nvSpPr>
        <p:spPr>
          <a:xfrm>
            <a:off x="685800" y="2148840"/>
            <a:ext cx="2377440" cy="640080"/>
          </a:xfrm>
          <a:prstGeom prst="rect">
            <a:avLst/>
          </a:prstGeom>
          <a:noFill/>
          <a:ln/>
        </p:spPr>
        <p:txBody>
          <a:bodyPr wrap="square" lIns="0" tIns="0" rIns="0" bIns="0" rtlCol="0" anchor="ctr"/>
          <a:lstStyle/>
          <a:p>
            <a:pPr algn="ctr" indent="0" marL="0">
              <a:buNone/>
            </a:pPr>
            <a:r>
              <a:rPr lang="en-US" sz="1250" b="1" dirty="0">
                <a:solidFill>
                  <a:srgbClr val="1B2A41"/>
                </a:solidFill>
                <a:latin typeface="Calibri" pitchFamily="34" charset="0"/>
                <a:ea typeface="Calibri" pitchFamily="34" charset="-122"/>
                <a:cs typeface="Calibri" pitchFamily="34" charset="-120"/>
              </a:rPr>
              <a:t>Equidad y no discriminación</a:t>
            </a:r>
            <a:endParaRPr lang="en-US" sz="1250" dirty="0"/>
          </a:p>
        </p:txBody>
      </p:sp>
      <p:sp>
        <p:nvSpPr>
          <p:cNvPr id="18" name="Shape 15"/>
          <p:cNvSpPr/>
          <p:nvPr/>
        </p:nvSpPr>
        <p:spPr>
          <a:xfrm>
            <a:off x="3364992" y="2148840"/>
            <a:ext cx="2651760" cy="640080"/>
          </a:xfrm>
          <a:prstGeom prst="roundRect">
            <a:avLst>
              <a:gd name="adj" fmla="val 50000"/>
            </a:avLst>
          </a:prstGeom>
          <a:solidFill>
            <a:srgbClr val="EAF1F6"/>
          </a:solidFill>
          <a:ln w="12700">
            <a:solidFill>
              <a:srgbClr val="EAF1F6"/>
            </a:solidFill>
            <a:prstDash val="solid"/>
          </a:ln>
        </p:spPr>
      </p:sp>
      <p:sp>
        <p:nvSpPr>
          <p:cNvPr id="19" name="Text 16"/>
          <p:cNvSpPr txBox="1"/>
          <p:nvPr/>
        </p:nvSpPr>
        <p:spPr>
          <a:xfrm>
            <a:off x="3502152" y="2148840"/>
            <a:ext cx="2377440" cy="640080"/>
          </a:xfrm>
          <a:prstGeom prst="rect">
            <a:avLst/>
          </a:prstGeom>
          <a:noFill/>
          <a:ln/>
        </p:spPr>
        <p:txBody>
          <a:bodyPr wrap="square" lIns="0" tIns="0" rIns="0" bIns="0" rtlCol="0" anchor="ctr"/>
          <a:lstStyle/>
          <a:p>
            <a:pPr algn="ctr" indent="0" marL="0">
              <a:buNone/>
            </a:pPr>
            <a:r>
              <a:rPr lang="en-US" sz="1250" b="1" dirty="0">
                <a:solidFill>
                  <a:srgbClr val="1B2A41"/>
                </a:solidFill>
                <a:latin typeface="Calibri" pitchFamily="34" charset="0"/>
                <a:ea typeface="Calibri" pitchFamily="34" charset="-122"/>
                <a:cs typeface="Calibri" pitchFamily="34" charset="-120"/>
              </a:rPr>
              <a:t>Control humano de la tecnología</a:t>
            </a:r>
            <a:endParaRPr lang="en-US" sz="1250" dirty="0"/>
          </a:p>
        </p:txBody>
      </p:sp>
      <p:sp>
        <p:nvSpPr>
          <p:cNvPr id="20" name="Shape 17"/>
          <p:cNvSpPr/>
          <p:nvPr/>
        </p:nvSpPr>
        <p:spPr>
          <a:xfrm>
            <a:off x="6181344" y="2148840"/>
            <a:ext cx="2651760" cy="640080"/>
          </a:xfrm>
          <a:prstGeom prst="roundRect">
            <a:avLst>
              <a:gd name="adj" fmla="val 50000"/>
            </a:avLst>
          </a:prstGeom>
          <a:solidFill>
            <a:srgbClr val="EAF1F6"/>
          </a:solidFill>
          <a:ln w="12700">
            <a:solidFill>
              <a:srgbClr val="EAF1F6"/>
            </a:solidFill>
            <a:prstDash val="solid"/>
          </a:ln>
        </p:spPr>
      </p:sp>
      <p:sp>
        <p:nvSpPr>
          <p:cNvPr id="21" name="Text 18"/>
          <p:cNvSpPr txBox="1"/>
          <p:nvPr/>
        </p:nvSpPr>
        <p:spPr>
          <a:xfrm>
            <a:off x="6318504" y="2148840"/>
            <a:ext cx="2377440" cy="640080"/>
          </a:xfrm>
          <a:prstGeom prst="rect">
            <a:avLst/>
          </a:prstGeom>
          <a:noFill/>
          <a:ln/>
        </p:spPr>
        <p:txBody>
          <a:bodyPr wrap="square" lIns="0" tIns="0" rIns="0" bIns="0" rtlCol="0" anchor="ctr"/>
          <a:lstStyle/>
          <a:p>
            <a:pPr algn="ctr" indent="0" marL="0">
              <a:buNone/>
            </a:pPr>
            <a:r>
              <a:rPr lang="en-US" sz="1250" b="1" dirty="0">
                <a:solidFill>
                  <a:srgbClr val="1B2A41"/>
                </a:solidFill>
                <a:latin typeface="Calibri" pitchFamily="34" charset="0"/>
                <a:ea typeface="Calibri" pitchFamily="34" charset="-122"/>
                <a:cs typeface="Calibri" pitchFamily="34" charset="-120"/>
              </a:rPr>
              <a:t>Responsabilidad profesional</a:t>
            </a:r>
            <a:endParaRPr lang="en-US" sz="1250" dirty="0"/>
          </a:p>
        </p:txBody>
      </p:sp>
      <p:sp>
        <p:nvSpPr>
          <p:cNvPr id="22" name="Shape 19"/>
          <p:cNvSpPr/>
          <p:nvPr/>
        </p:nvSpPr>
        <p:spPr>
          <a:xfrm>
            <a:off x="8997696" y="2148840"/>
            <a:ext cx="2651760" cy="640080"/>
          </a:xfrm>
          <a:prstGeom prst="roundRect">
            <a:avLst>
              <a:gd name="adj" fmla="val 50000"/>
            </a:avLst>
          </a:prstGeom>
          <a:solidFill>
            <a:srgbClr val="EAF1F6"/>
          </a:solidFill>
          <a:ln w="12700">
            <a:solidFill>
              <a:srgbClr val="EAF1F6"/>
            </a:solidFill>
            <a:prstDash val="solid"/>
          </a:ln>
        </p:spPr>
      </p:sp>
      <p:sp>
        <p:nvSpPr>
          <p:cNvPr id="23" name="Text 20"/>
          <p:cNvSpPr txBox="1"/>
          <p:nvPr/>
        </p:nvSpPr>
        <p:spPr>
          <a:xfrm>
            <a:off x="9134856" y="2148840"/>
            <a:ext cx="2377440" cy="640080"/>
          </a:xfrm>
          <a:prstGeom prst="rect">
            <a:avLst/>
          </a:prstGeom>
          <a:noFill/>
          <a:ln/>
        </p:spPr>
        <p:txBody>
          <a:bodyPr wrap="square" lIns="0" tIns="0" rIns="0" bIns="0" rtlCol="0" anchor="ctr"/>
          <a:lstStyle/>
          <a:p>
            <a:pPr algn="ctr" indent="0" marL="0">
              <a:buNone/>
            </a:pPr>
            <a:r>
              <a:rPr lang="en-US" sz="1250" b="1" dirty="0">
                <a:solidFill>
                  <a:srgbClr val="1B2A41"/>
                </a:solidFill>
                <a:latin typeface="Calibri" pitchFamily="34" charset="0"/>
                <a:ea typeface="Calibri" pitchFamily="34" charset="-122"/>
                <a:cs typeface="Calibri" pitchFamily="34" charset="-120"/>
              </a:rPr>
              <a:t>Promoción de valores humanos</a:t>
            </a:r>
            <a:endParaRPr lang="en-US" sz="1250" dirty="0"/>
          </a:p>
        </p:txBody>
      </p:sp>
      <p:sp>
        <p:nvSpPr>
          <p:cNvPr id="24" name="Text 21"/>
          <p:cNvSpPr txBox="1"/>
          <p:nvPr/>
        </p:nvSpPr>
        <p:spPr>
          <a:xfrm>
            <a:off x="548640" y="3017520"/>
            <a:ext cx="5943600" cy="41148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Al menos cinco cláusulas verificables</a:t>
            </a:r>
            <a:endParaRPr lang="en-US" sz="1600" dirty="0"/>
          </a:p>
        </p:txBody>
      </p:sp>
      <p:sp>
        <p:nvSpPr>
          <p:cNvPr id="25" name="Text 22"/>
          <p:cNvSpPr txBox="1"/>
          <p:nvPr/>
        </p:nvSpPr>
        <p:spPr>
          <a:xfrm>
            <a:off x="548640" y="3474720"/>
            <a:ext cx="6035040" cy="2560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Registro de consultas y salidas del sistema (transparencia)</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Revisión humana antes de enviar cualquier respuesta a pacientes (control humano)</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Pruebas de sesgo y tasa de error del reconocimiento facial (no discriminación)</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Derecho de auditoría y responsabilidad por daños (rendición de cuentas)</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Plan de incidentes y notificación a la SIC; cifrado con llaves propias (seguridad)</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Prohibición de usar los datos para entrenar modelos (privacidad)</a:t>
            </a:r>
            <a:endParaRPr lang="en-US" sz="1250" dirty="0"/>
          </a:p>
        </p:txBody>
      </p:sp>
      <p:sp>
        <p:nvSpPr>
          <p:cNvPr id="26" name="Shape 23"/>
          <p:cNvSpPr/>
          <p:nvPr/>
        </p:nvSpPr>
        <p:spPr>
          <a:xfrm>
            <a:off x="6949440" y="3017520"/>
            <a:ext cx="4754880" cy="3017520"/>
          </a:xfrm>
          <a:prstGeom prst="roundRect">
            <a:avLst>
              <a:gd name="adj" fmla="val 3636"/>
            </a:avLst>
          </a:prstGeom>
          <a:solidFill>
            <a:srgbClr val="1B2A41"/>
          </a:solidFill>
          <a:ln w="12700">
            <a:solidFill>
              <a:srgbClr val="1B2A41"/>
            </a:solidFill>
            <a:prstDash val="solid"/>
          </a:ln>
        </p:spPr>
      </p:sp>
      <p:sp>
        <p:nvSpPr>
          <p:cNvPr id="27" name="Text 24"/>
          <p:cNvSpPr txBox="1"/>
          <p:nvPr/>
        </p:nvSpPr>
        <p:spPr>
          <a:xfrm>
            <a:off x="7132320" y="3108960"/>
            <a:ext cx="4389120" cy="411480"/>
          </a:xfrm>
          <a:prstGeom prst="rect">
            <a:avLst/>
          </a:prstGeom>
          <a:noFill/>
          <a:ln/>
        </p:spPr>
        <p:txBody>
          <a:bodyPr wrap="square" lIns="0" tIns="0" rIns="0" bIns="0" rtlCol="0" anchor="t"/>
          <a:lstStyle/>
          <a:p>
            <a:pPr indent="0" marL="0">
              <a:buNone/>
            </a:pPr>
            <a:r>
              <a:rPr lang="en-US" sz="1500" b="1" dirty="0">
                <a:solidFill>
                  <a:srgbClr val="E8A33D"/>
                </a:solidFill>
                <a:latin typeface="Calibri" pitchFamily="34" charset="0"/>
                <a:ea typeface="Calibri" pitchFamily="34" charset="-122"/>
                <a:cs typeface="Calibri" pitchFamily="34" charset="-120"/>
              </a:rPr>
              <a:t>Resultado esperable</a:t>
            </a:r>
            <a:endParaRPr lang="en-US" sz="1500" dirty="0"/>
          </a:p>
        </p:txBody>
      </p:sp>
      <p:sp>
        <p:nvSpPr>
          <p:cNvPr id="28" name="Shape 25"/>
          <p:cNvSpPr/>
          <p:nvPr/>
        </p:nvSpPr>
        <p:spPr>
          <a:xfrm>
            <a:off x="7178040" y="3657600"/>
            <a:ext cx="411480" cy="411480"/>
          </a:xfrm>
          <a:prstGeom prst="ellipse">
            <a:avLst/>
          </a:prstGeom>
          <a:solidFill>
            <a:srgbClr val="E8A33D"/>
          </a:solidFill>
          <a:ln w="12700">
            <a:solidFill>
              <a:srgbClr val="E8A33D"/>
            </a:solidFill>
            <a:prstDash val="solid"/>
          </a:ln>
        </p:spPr>
      </p:sp>
      <p:sp>
        <p:nvSpPr>
          <p:cNvPr id="29" name="Text 26"/>
          <p:cNvSpPr txBox="1"/>
          <p:nvPr/>
        </p:nvSpPr>
        <p:spPr>
          <a:xfrm>
            <a:off x="7726680" y="3611880"/>
            <a:ext cx="3840480" cy="6858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IA generativa: condicionado, con cláusulas y sin uso para entrenamiento</a:t>
            </a:r>
            <a:endParaRPr lang="en-US" sz="1250" dirty="0"/>
          </a:p>
        </p:txBody>
      </p:sp>
      <p:sp>
        <p:nvSpPr>
          <p:cNvPr id="30" name="Shape 27"/>
          <p:cNvSpPr/>
          <p:nvPr/>
        </p:nvSpPr>
        <p:spPr>
          <a:xfrm>
            <a:off x="7178040" y="4434840"/>
            <a:ext cx="411480" cy="411480"/>
          </a:xfrm>
          <a:prstGeom prst="ellipse">
            <a:avLst/>
          </a:prstGeom>
          <a:solidFill>
            <a:srgbClr val="C0392B"/>
          </a:solidFill>
          <a:ln w="12700">
            <a:solidFill>
              <a:srgbClr val="C0392B"/>
            </a:solidFill>
            <a:prstDash val="solid"/>
          </a:ln>
        </p:spPr>
      </p:sp>
      <p:sp>
        <p:nvSpPr>
          <p:cNvPr id="31" name="Text 28"/>
          <p:cNvSpPr txBox="1"/>
          <p:nvPr/>
        </p:nvSpPr>
        <p:spPr>
          <a:xfrm>
            <a:off x="7726680" y="4343400"/>
            <a:ext cx="3840480" cy="8229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Reconocimiento facial: no, o condicionado solo si se demuestra necesidad y existe alternativa voluntaria</a:t>
            </a:r>
            <a:endParaRPr lang="en-US" sz="1250" dirty="0"/>
          </a:p>
        </p:txBody>
      </p:sp>
      <p:sp>
        <p:nvSpPr>
          <p:cNvPr id="32" name="Text 29"/>
          <p:cNvSpPr txBox="1"/>
          <p:nvPr/>
        </p:nvSpPr>
        <p:spPr>
          <a:xfrm>
            <a:off x="7132320" y="5257800"/>
            <a:ext cx="4389120" cy="731520"/>
          </a:xfrm>
          <a:prstGeom prst="rect">
            <a:avLst/>
          </a:prstGeom>
          <a:noFill/>
          <a:ln/>
        </p:spPr>
        <p:txBody>
          <a:bodyPr wrap="square" lIns="0" tIns="0" rIns="0" bIns="0" rtlCol="0" anchor="t"/>
          <a:lstStyle/>
          <a:p>
            <a:pPr indent="0" marL="0">
              <a:buNone/>
            </a:pPr>
            <a:r>
              <a:rPr lang="en-US" sz="1200" i="1" dirty="0">
                <a:solidFill>
                  <a:srgbClr val="CADCFC"/>
                </a:solidFill>
                <a:latin typeface="Calibri" pitchFamily="34" charset="0"/>
                <a:ea typeface="Calibri" pitchFamily="34" charset="-122"/>
                <a:cs typeface="Calibri" pitchFamily="34" charset="-120"/>
              </a:rPr>
              <a:t>Pregunta incómoda: ¿y si el proveedor además entrena su modelo con las historias clínicas?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400" b="1" dirty="0">
                <a:solidFill>
                  <a:srgbClr val="1B2A41"/>
                </a:solidFill>
                <a:latin typeface="Cambria" pitchFamily="34" charset="0"/>
                <a:ea typeface="Cambria" pitchFamily="34" charset="-122"/>
                <a:cs typeface="Cambria" pitchFamily="34" charset="-120"/>
              </a:rPr>
              <a:t>Video 4 y debate · Voz clonada y decisiones automatizadas</a:t>
            </a:r>
            <a:endParaRPr lang="en-US" sz="2400" dirty="0"/>
          </a:p>
        </p:txBody>
      </p:sp>
      <p:sp>
        <p:nvSpPr>
          <p:cNvPr id="3" name="Shape 1"/>
          <p:cNvSpPr/>
          <p:nvPr/>
        </p:nvSpPr>
        <p:spPr>
          <a:xfrm>
            <a:off x="9646920" y="384048"/>
            <a:ext cx="2084832" cy="384048"/>
          </a:xfrm>
          <a:prstGeom prst="roundRect">
            <a:avLst>
              <a:gd name="adj" fmla="val 50000"/>
            </a:avLst>
          </a:prstGeom>
          <a:solidFill>
            <a:srgbClr val="6C4AB6"/>
          </a:solidFill>
          <a:ln w="12700">
            <a:solidFill>
              <a:srgbClr val="6C4AB6"/>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EXPLICAR</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103-112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20</a:t>
            </a:r>
            <a:endParaRPr lang="en-US" sz="900" dirty="0"/>
          </a:p>
        </p:txBody>
      </p:sp>
      <p:sp>
        <p:nvSpPr>
          <p:cNvPr id="8" name="Shape 5"/>
          <p:cNvSpPr/>
          <p:nvPr/>
        </p:nvSpPr>
        <p:spPr>
          <a:xfrm>
            <a:off x="548640" y="1371600"/>
            <a:ext cx="3657600" cy="2377440"/>
          </a:xfrm>
          <a:prstGeom prst="roundRect">
            <a:avLst>
              <a:gd name="adj" fmla="val 4615"/>
            </a:avLst>
          </a:prstGeom>
          <a:solidFill>
            <a:srgbClr val="1B2A41"/>
          </a:solidFill>
          <a:ln w="12700">
            <a:solidFill>
              <a:srgbClr val="1B2A41"/>
            </a:solidFill>
            <a:prstDash val="solid"/>
          </a:ln>
        </p:spPr>
      </p:sp>
      <p:sp>
        <p:nvSpPr>
          <p:cNvPr id="9" name="Shape 6"/>
          <p:cNvSpPr/>
          <p:nvPr/>
        </p:nvSpPr>
        <p:spPr>
          <a:xfrm>
            <a:off x="777240" y="1600200"/>
            <a:ext cx="640080" cy="640080"/>
          </a:xfrm>
          <a:prstGeom prst="ellipse">
            <a:avLst/>
          </a:prstGeom>
          <a:solidFill>
            <a:srgbClr val="6C4AB6"/>
          </a:solidFill>
          <a:ln w="12700">
            <a:solidFill>
              <a:srgbClr val="6C4AB6"/>
            </a:solidFill>
            <a:prstDash val="solid"/>
          </a:ln>
        </p:spPr>
      </p:sp>
      <p:pic>
        <p:nvPicPr>
          <p:cNvPr id="10" name="Image 0" descr="preencoded.png">    </p:cNvPr>
          <p:cNvPicPr>
            <a:picLocks noChangeAspect="1"/>
          </p:cNvPicPr>
          <p:nvPr/>
        </p:nvPicPr>
        <p:blipFill>
          <a:blip r:embed="rId1"/>
          <a:stretch>
            <a:fillRect/>
          </a:stretch>
        </p:blipFill>
        <p:spPr>
          <a:xfrm>
            <a:off x="937260" y="1760220"/>
            <a:ext cx="320040" cy="320040"/>
          </a:xfrm>
          <a:prstGeom prst="rect">
            <a:avLst/>
          </a:prstGeom>
        </p:spPr>
      </p:pic>
      <p:sp>
        <p:nvSpPr>
          <p:cNvPr id="11" name="Text 7"/>
          <p:cNvSpPr txBox="1"/>
          <p:nvPr/>
        </p:nvSpPr>
        <p:spPr>
          <a:xfrm>
            <a:off x="1554480" y="1508760"/>
            <a:ext cx="2514600" cy="9144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Jonathan Zittrain · Openness and Oversight of Artificial Intelligence</a:t>
            </a:r>
            <a:endParaRPr lang="en-US" sz="1300" dirty="0"/>
          </a:p>
        </p:txBody>
      </p:sp>
      <p:sp>
        <p:nvSpPr>
          <p:cNvPr id="12" name="Text 8"/>
          <p:cNvSpPr txBox="1"/>
          <p:nvPr/>
        </p:nvSpPr>
        <p:spPr>
          <a:xfrm>
            <a:off x="777240" y="2468880"/>
            <a:ext cx="3246120" cy="1188720"/>
          </a:xfrm>
          <a:prstGeom prst="rect">
            <a:avLst/>
          </a:prstGeom>
          <a:noFill/>
          <a:ln/>
        </p:spPr>
        <p:txBody>
          <a:bodyPr wrap="square" lIns="0" tIns="0" rIns="0" bIns="0" rtlCol="0" anchor="t"/>
          <a:lstStyle/>
          <a:p>
            <a:pPr indent="0" marL="0">
              <a:buNone/>
            </a:pPr>
            <a:r>
              <a:rPr lang="en-US" sz="1100" dirty="0">
                <a:solidFill>
                  <a:srgbClr val="CADCFC"/>
                </a:solidFill>
                <a:latin typeface="Calibri" pitchFamily="34" charset="0"/>
                <a:ea typeface="Calibri" pitchFamily="34" charset="-122"/>
                <a:cs typeface="Calibri" pitchFamily="34" charset="-120"/>
              </a:rPr>
              <a:t>Harvard Law School · Berkman Klein Center · clip de 3 min. Consigna: anote la afirmación con la que menos esté de acuerdo.</a:t>
            </a:r>
            <a:endParaRPr lang="en-US" sz="1100" dirty="0"/>
          </a:p>
        </p:txBody>
      </p:sp>
      <p:sp>
        <p:nvSpPr>
          <p:cNvPr id="13" name="Shape 9"/>
          <p:cNvSpPr/>
          <p:nvPr/>
        </p:nvSpPr>
        <p:spPr>
          <a:xfrm>
            <a:off x="548640" y="3931920"/>
            <a:ext cx="3657600" cy="2103120"/>
          </a:xfrm>
          <a:prstGeom prst="roundRect">
            <a:avLst>
              <a:gd name="adj" fmla="val 5217"/>
            </a:avLst>
          </a:prstGeom>
          <a:solidFill>
            <a:srgbClr val="EAF1F6"/>
          </a:solidFill>
          <a:ln w="12700">
            <a:solidFill>
              <a:srgbClr val="EAF1F6"/>
            </a:solidFill>
            <a:prstDash val="solid"/>
          </a:ln>
        </p:spPr>
      </p:sp>
      <p:sp>
        <p:nvSpPr>
          <p:cNvPr id="14" name="Text 10"/>
          <p:cNvSpPr txBox="1"/>
          <p:nvPr/>
        </p:nvSpPr>
        <p:spPr>
          <a:xfrm>
            <a:off x="731520" y="4023360"/>
            <a:ext cx="3291840" cy="365760"/>
          </a:xfrm>
          <a:prstGeom prst="rect">
            <a:avLst/>
          </a:prstGeom>
          <a:noFill/>
          <a:ln/>
        </p:spPr>
        <p:txBody>
          <a:bodyPr wrap="square" lIns="0" tIns="0" rIns="0" bIns="0" rtlCol="0" anchor="t"/>
          <a:lstStyle/>
          <a:p>
            <a:pPr indent="0" marL="0">
              <a:buNone/>
            </a:pPr>
            <a:r>
              <a:rPr lang="en-US" sz="1400" b="1" dirty="0">
                <a:solidFill>
                  <a:srgbClr val="1B2A41"/>
                </a:solidFill>
                <a:latin typeface="Calibri" pitchFamily="34" charset="0"/>
                <a:ea typeface="Calibri" pitchFamily="34" charset="-122"/>
                <a:cs typeface="Calibri" pitchFamily="34" charset="-120"/>
              </a:rPr>
              <a:t>Formato del debate</a:t>
            </a:r>
            <a:endParaRPr lang="en-US" sz="1400" dirty="0"/>
          </a:p>
        </p:txBody>
      </p:sp>
      <p:sp>
        <p:nvSpPr>
          <p:cNvPr id="15" name="Text 11"/>
          <p:cNvSpPr txBox="1"/>
          <p:nvPr/>
        </p:nvSpPr>
        <p:spPr>
          <a:xfrm>
            <a:off x="731520" y="4434840"/>
            <a:ext cx="3291840" cy="155448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1 min de preparación por mesa</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1 min por posición</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1 min de réplica</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Cierre con la posición modelo</a:t>
            </a:r>
            <a:endParaRPr lang="en-US" sz="1300" dirty="0"/>
          </a:p>
        </p:txBody>
      </p:sp>
      <p:sp>
        <p:nvSpPr>
          <p:cNvPr id="16" name="Shape 12"/>
          <p:cNvSpPr/>
          <p:nvPr/>
        </p:nvSpPr>
        <p:spPr>
          <a:xfrm>
            <a:off x="4572000" y="1371600"/>
            <a:ext cx="7132320" cy="2240280"/>
          </a:xfrm>
          <a:prstGeom prst="roundRect">
            <a:avLst>
              <a:gd name="adj" fmla="val 4898"/>
            </a:avLst>
          </a:prstGeom>
          <a:solidFill>
            <a:srgbClr val="EAF1F6"/>
          </a:solidFill>
          <a:ln w="12700">
            <a:solidFill>
              <a:srgbClr val="EAF1F6"/>
            </a:solidFill>
            <a:prstDash val="solid"/>
          </a:ln>
        </p:spPr>
      </p:sp>
      <p:sp>
        <p:nvSpPr>
          <p:cNvPr id="17" name="Text 13"/>
          <p:cNvSpPr txBox="1"/>
          <p:nvPr/>
        </p:nvSpPr>
        <p:spPr>
          <a:xfrm>
            <a:off x="4754880" y="1463040"/>
            <a:ext cx="6766560" cy="365760"/>
          </a:xfrm>
          <a:prstGeom prst="rect">
            <a:avLst/>
          </a:prstGeom>
          <a:noFill/>
          <a:ln/>
        </p:spPr>
        <p:txBody>
          <a:bodyPr wrap="square" lIns="0" tIns="0" rIns="0" bIns="0" rtlCol="0" anchor="t"/>
          <a:lstStyle/>
          <a:p>
            <a:pPr indent="0" marL="0">
              <a:buNone/>
            </a:pPr>
            <a:r>
              <a:rPr lang="en-US" sz="1500" b="1" dirty="0">
                <a:solidFill>
                  <a:srgbClr val="6C4AB6"/>
                </a:solidFill>
                <a:latin typeface="Calibri" pitchFamily="34" charset="0"/>
                <a:ea typeface="Calibri" pitchFamily="34" charset="-122"/>
                <a:cs typeface="Calibri" pitchFamily="34" charset="-120"/>
              </a:rPr>
              <a:t>El escenario</a:t>
            </a:r>
            <a:endParaRPr lang="en-US" sz="1500" dirty="0"/>
          </a:p>
        </p:txBody>
      </p:sp>
      <p:sp>
        <p:nvSpPr>
          <p:cNvPr id="18" name="Text 14"/>
          <p:cNvSpPr txBox="1"/>
          <p:nvPr/>
        </p:nvSpPr>
        <p:spPr>
          <a:xfrm>
            <a:off x="4754880" y="1828800"/>
            <a:ext cx="6766560" cy="1737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Un audio de 40 segundos con la voz clonada del socio director ordena al tesorero de la firma una transferencia urgente a un proveedor nuevo; se ejecuta. Tres días después la misma voz circula en redes atribuyéndole declaraciones falsas sobre un cliente. La voz se clonó a partir de un webinar público de la firma.</a:t>
            </a:r>
            <a:endParaRPr lang="en-US" sz="1300" dirty="0"/>
          </a:p>
        </p:txBody>
      </p:sp>
      <p:sp>
        <p:nvSpPr>
          <p:cNvPr id="19" name="Text 15"/>
          <p:cNvSpPr txBox="1"/>
          <p:nvPr/>
        </p:nvSpPr>
        <p:spPr>
          <a:xfrm>
            <a:off x="4572000" y="3794760"/>
            <a:ext cx="7132320" cy="365760"/>
          </a:xfrm>
          <a:prstGeom prst="rect">
            <a:avLst/>
          </a:prstGeom>
          <a:noFill/>
          <a:ln/>
        </p:spPr>
        <p:txBody>
          <a:bodyPr wrap="square" lIns="0" tIns="0" rIns="0" bIns="0" rtlCol="0" anchor="t"/>
          <a:lstStyle/>
          <a:p>
            <a:pPr indent="0" marL="0">
              <a:buNone/>
            </a:pPr>
            <a:r>
              <a:rPr lang="en-US" sz="1500" b="1" dirty="0">
                <a:solidFill>
                  <a:srgbClr val="1B2A41"/>
                </a:solidFill>
                <a:latin typeface="Calibri" pitchFamily="34" charset="0"/>
                <a:ea typeface="Calibri" pitchFamily="34" charset="-122"/>
                <a:cs typeface="Calibri" pitchFamily="34" charset="-120"/>
              </a:rPr>
              <a:t>Preguntas para las mesas</a:t>
            </a:r>
            <a:endParaRPr lang="en-US" sz="1500" dirty="0"/>
          </a:p>
        </p:txBody>
      </p:sp>
      <p:sp>
        <p:nvSpPr>
          <p:cNvPr id="20" name="Shape 16"/>
          <p:cNvSpPr/>
          <p:nvPr/>
        </p:nvSpPr>
        <p:spPr>
          <a:xfrm>
            <a:off x="4572000" y="4343400"/>
            <a:ext cx="457200" cy="457200"/>
          </a:xfrm>
          <a:prstGeom prst="ellipse">
            <a:avLst/>
          </a:prstGeom>
          <a:solidFill>
            <a:srgbClr val="6C4AB6"/>
          </a:solidFill>
          <a:ln w="12700">
            <a:solidFill>
              <a:srgbClr val="6C4AB6"/>
            </a:solidFill>
            <a:prstDash val="solid"/>
          </a:ln>
        </p:spPr>
      </p:sp>
      <p:sp>
        <p:nvSpPr>
          <p:cNvPr id="21" name="Text 17"/>
          <p:cNvSpPr txBox="1"/>
          <p:nvPr/>
        </p:nvSpPr>
        <p:spPr>
          <a:xfrm>
            <a:off x="457200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Text 18"/>
          <p:cNvSpPr txBox="1"/>
          <p:nvPr/>
        </p:nvSpPr>
        <p:spPr>
          <a:xfrm>
            <a:off x="5166360" y="4206240"/>
            <a:ext cx="6537960" cy="82296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¿Qué riesgos jurídicos identifica y qué salvaguardas contractuales exigiría a un proveedor de clonación de voz? (caso Modulate, Berkman Klein)</a:t>
            </a:r>
            <a:endParaRPr lang="en-US" sz="1250" dirty="0"/>
          </a:p>
        </p:txBody>
      </p:sp>
      <p:sp>
        <p:nvSpPr>
          <p:cNvPr id="23" name="Shape 19"/>
          <p:cNvSpPr/>
          <p:nvPr/>
        </p:nvSpPr>
        <p:spPr>
          <a:xfrm>
            <a:off x="4572000" y="5257800"/>
            <a:ext cx="457200" cy="457200"/>
          </a:xfrm>
          <a:prstGeom prst="ellipse">
            <a:avLst/>
          </a:prstGeom>
          <a:solidFill>
            <a:srgbClr val="6C4AB6"/>
          </a:solidFill>
          <a:ln w="12700">
            <a:solidFill>
              <a:srgbClr val="6C4AB6"/>
            </a:solidFill>
            <a:prstDash val="solid"/>
          </a:ln>
        </p:spPr>
      </p:sp>
      <p:sp>
        <p:nvSpPr>
          <p:cNvPr id="24" name="Text 20"/>
          <p:cNvSpPr txBox="1"/>
          <p:nvPr/>
        </p:nvSpPr>
        <p:spPr>
          <a:xfrm>
            <a:off x="4572000" y="52578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1"/>
          <p:cNvSpPr txBox="1"/>
          <p:nvPr/>
        </p:nvSpPr>
        <p:spPr>
          <a:xfrm>
            <a:off x="5166360" y="5120640"/>
            <a:ext cx="6537960" cy="82296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¿La «deuda intelectual» de Zittrain es argumento para prohibir las decisiones automatizadas o para exigir explicabilidad? (nota de Uniandes sobre explicabilidad)</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Evaluación relámpago</a:t>
            </a:r>
            <a:endParaRPr lang="en-US" sz="2800" dirty="0"/>
          </a:p>
        </p:txBody>
      </p:sp>
      <p:sp>
        <p:nvSpPr>
          <p:cNvPr id="3" name="Shape 1"/>
          <p:cNvSpPr/>
          <p:nvPr/>
        </p:nvSpPr>
        <p:spPr>
          <a:xfrm>
            <a:off x="9646920" y="384048"/>
            <a:ext cx="2084832" cy="384048"/>
          </a:xfrm>
          <a:prstGeom prst="roundRect">
            <a:avLst>
              <a:gd name="adj" fmla="val 50000"/>
            </a:avLst>
          </a:prstGeom>
          <a:solidFill>
            <a:srgbClr val="1B2A41"/>
          </a:solidFill>
          <a:ln w="12700">
            <a:solidFill>
              <a:srgbClr val="1B2A41"/>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SÍNTESIS</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112-115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21</a:t>
            </a:r>
            <a:endParaRPr lang="en-US" sz="900" dirty="0"/>
          </a:p>
        </p:txBody>
      </p:sp>
      <p:sp>
        <p:nvSpPr>
          <p:cNvPr id="8" name="Shape 5"/>
          <p:cNvSpPr/>
          <p:nvPr/>
        </p:nvSpPr>
        <p:spPr>
          <a:xfrm>
            <a:off x="548640" y="1417320"/>
            <a:ext cx="11064240" cy="1325880"/>
          </a:xfrm>
          <a:prstGeom prst="roundRect">
            <a:avLst>
              <a:gd name="adj" fmla="val 8276"/>
            </a:avLst>
          </a:prstGeom>
          <a:solidFill>
            <a:srgbClr val="F4F7FA"/>
          </a:solidFill>
          <a:ln w="12700">
            <a:solidFill>
              <a:srgbClr val="F4F7FA"/>
            </a:solidFill>
            <a:prstDash val="solid"/>
          </a:ln>
        </p:spPr>
      </p:sp>
      <p:sp>
        <p:nvSpPr>
          <p:cNvPr id="9" name="Shape 6"/>
          <p:cNvSpPr/>
          <p:nvPr/>
        </p:nvSpPr>
        <p:spPr>
          <a:xfrm>
            <a:off x="777240" y="1783080"/>
            <a:ext cx="594360" cy="594360"/>
          </a:xfrm>
          <a:prstGeom prst="ellipse">
            <a:avLst/>
          </a:prstGeom>
          <a:solidFill>
            <a:srgbClr val="1B2A41"/>
          </a:solidFill>
          <a:ln w="12700">
            <a:solidFill>
              <a:srgbClr val="1B2A41"/>
            </a:solidFill>
            <a:prstDash val="solid"/>
          </a:ln>
        </p:spPr>
      </p:sp>
      <p:sp>
        <p:nvSpPr>
          <p:cNvPr id="10" name="Text 7"/>
          <p:cNvSpPr txBox="1"/>
          <p:nvPr/>
        </p:nvSpPr>
        <p:spPr>
          <a:xfrm>
            <a:off x="777240" y="178308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1" name="Text 8"/>
          <p:cNvSpPr txBox="1"/>
          <p:nvPr/>
        </p:nvSpPr>
        <p:spPr>
          <a:xfrm>
            <a:off x="1645920" y="1554480"/>
            <a:ext cx="9601200" cy="365760"/>
          </a:xfrm>
          <a:prstGeom prst="rect">
            <a:avLst/>
          </a:prstGeom>
          <a:noFill/>
          <a:ln/>
        </p:spPr>
        <p:txBody>
          <a:bodyPr wrap="square" lIns="0" tIns="0" rIns="0" bIns="0" rtlCol="0" anchor="t"/>
          <a:lstStyle/>
          <a:p>
            <a:pPr indent="0" marL="0">
              <a:buNone/>
            </a:pPr>
            <a:r>
              <a:rPr lang="en-US" sz="1200" b="1" dirty="0">
                <a:solidFill>
                  <a:srgbClr val="0F7C90"/>
                </a:solidFill>
                <a:latin typeface="Calibri" pitchFamily="34" charset="0"/>
                <a:ea typeface="Calibri" pitchFamily="34" charset="-122"/>
                <a:cs typeface="Calibri" pitchFamily="34" charset="-120"/>
              </a:rPr>
              <a:t>Verdadero o falso</a:t>
            </a:r>
            <a:endParaRPr lang="en-US" sz="1200" dirty="0"/>
          </a:p>
        </p:txBody>
      </p:sp>
      <p:sp>
        <p:nvSpPr>
          <p:cNvPr id="12" name="Text 9"/>
          <p:cNvSpPr txBox="1"/>
          <p:nvPr/>
        </p:nvSpPr>
        <p:spPr>
          <a:xfrm>
            <a:off x="1645920" y="1874520"/>
            <a:ext cx="9692640" cy="82296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La simple impresión en papel de un correo electrónico se valora en el proceso como mensaje de datos.</a:t>
            </a:r>
            <a:endParaRPr lang="en-US" sz="1500" dirty="0"/>
          </a:p>
        </p:txBody>
      </p:sp>
      <p:sp>
        <p:nvSpPr>
          <p:cNvPr id="13" name="Shape 10"/>
          <p:cNvSpPr/>
          <p:nvPr/>
        </p:nvSpPr>
        <p:spPr>
          <a:xfrm>
            <a:off x="548640" y="2926080"/>
            <a:ext cx="11064240" cy="1325880"/>
          </a:xfrm>
          <a:prstGeom prst="roundRect">
            <a:avLst>
              <a:gd name="adj" fmla="val 8276"/>
            </a:avLst>
          </a:prstGeom>
          <a:solidFill>
            <a:srgbClr val="F4F7FA"/>
          </a:solidFill>
          <a:ln w="12700">
            <a:solidFill>
              <a:srgbClr val="F4F7FA"/>
            </a:solidFill>
            <a:prstDash val="solid"/>
          </a:ln>
        </p:spPr>
      </p:sp>
      <p:sp>
        <p:nvSpPr>
          <p:cNvPr id="14" name="Shape 11"/>
          <p:cNvSpPr/>
          <p:nvPr/>
        </p:nvSpPr>
        <p:spPr>
          <a:xfrm>
            <a:off x="777240" y="3291840"/>
            <a:ext cx="594360" cy="594360"/>
          </a:xfrm>
          <a:prstGeom prst="ellipse">
            <a:avLst/>
          </a:prstGeom>
          <a:solidFill>
            <a:srgbClr val="1B2A41"/>
          </a:solidFill>
          <a:ln w="12700">
            <a:solidFill>
              <a:srgbClr val="1B2A41"/>
            </a:solidFill>
            <a:prstDash val="solid"/>
          </a:ln>
        </p:spPr>
      </p:sp>
      <p:sp>
        <p:nvSpPr>
          <p:cNvPr id="15" name="Text 12"/>
          <p:cNvSpPr txBox="1"/>
          <p:nvPr/>
        </p:nvSpPr>
        <p:spPr>
          <a:xfrm>
            <a:off x="777240" y="32918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6" name="Text 13"/>
          <p:cNvSpPr txBox="1"/>
          <p:nvPr/>
        </p:nvSpPr>
        <p:spPr>
          <a:xfrm>
            <a:off x="1645920" y="3063240"/>
            <a:ext cx="9601200" cy="365760"/>
          </a:xfrm>
          <a:prstGeom prst="rect">
            <a:avLst/>
          </a:prstGeom>
          <a:noFill/>
          <a:ln/>
        </p:spPr>
        <p:txBody>
          <a:bodyPr wrap="square" lIns="0" tIns="0" rIns="0" bIns="0" rtlCol="0" anchor="t"/>
          <a:lstStyle/>
          <a:p>
            <a:pPr indent="0" marL="0">
              <a:buNone/>
            </a:pPr>
            <a:r>
              <a:rPr lang="en-US" sz="1200" b="1" dirty="0">
                <a:solidFill>
                  <a:srgbClr val="0F7C90"/>
                </a:solidFill>
                <a:latin typeface="Calibri" pitchFamily="34" charset="0"/>
                <a:ea typeface="Calibri" pitchFamily="34" charset="-122"/>
                <a:cs typeface="Calibri" pitchFamily="34" charset="-120"/>
              </a:rPr>
              <a:t>Enumere</a:t>
            </a:r>
            <a:endParaRPr lang="en-US" sz="1200" dirty="0"/>
          </a:p>
        </p:txBody>
      </p:sp>
      <p:sp>
        <p:nvSpPr>
          <p:cNvPr id="17" name="Text 14"/>
          <p:cNvSpPr txBox="1"/>
          <p:nvPr/>
        </p:nvSpPr>
        <p:spPr>
          <a:xfrm>
            <a:off x="1645920" y="3383280"/>
            <a:ext cx="9692640" cy="82296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Tres condiciones que la Corte Constitucional fijó en la Sentencia T-323 de 2024 para el uso de herramientas de IA por los jueces.</a:t>
            </a:r>
            <a:endParaRPr lang="en-US" sz="1500" dirty="0"/>
          </a:p>
        </p:txBody>
      </p:sp>
      <p:sp>
        <p:nvSpPr>
          <p:cNvPr id="18" name="Shape 15"/>
          <p:cNvSpPr/>
          <p:nvPr/>
        </p:nvSpPr>
        <p:spPr>
          <a:xfrm>
            <a:off x="548640" y="4434840"/>
            <a:ext cx="11064240" cy="1325880"/>
          </a:xfrm>
          <a:prstGeom prst="roundRect">
            <a:avLst>
              <a:gd name="adj" fmla="val 8276"/>
            </a:avLst>
          </a:prstGeom>
          <a:solidFill>
            <a:srgbClr val="F4F7FA"/>
          </a:solidFill>
          <a:ln w="12700">
            <a:solidFill>
              <a:srgbClr val="F4F7FA"/>
            </a:solidFill>
            <a:prstDash val="solid"/>
          </a:ln>
        </p:spPr>
      </p:sp>
      <p:sp>
        <p:nvSpPr>
          <p:cNvPr id="19" name="Shape 16"/>
          <p:cNvSpPr/>
          <p:nvPr/>
        </p:nvSpPr>
        <p:spPr>
          <a:xfrm>
            <a:off x="777240" y="4800600"/>
            <a:ext cx="594360" cy="594360"/>
          </a:xfrm>
          <a:prstGeom prst="ellipse">
            <a:avLst/>
          </a:prstGeom>
          <a:solidFill>
            <a:srgbClr val="1B2A41"/>
          </a:solidFill>
          <a:ln w="12700">
            <a:solidFill>
              <a:srgbClr val="1B2A41"/>
            </a:solidFill>
            <a:prstDash val="solid"/>
          </a:ln>
        </p:spPr>
      </p:sp>
      <p:sp>
        <p:nvSpPr>
          <p:cNvPr id="20" name="Text 17"/>
          <p:cNvSpPr txBox="1"/>
          <p:nvPr/>
        </p:nvSpPr>
        <p:spPr>
          <a:xfrm>
            <a:off x="777240" y="480060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8"/>
          <p:cNvSpPr txBox="1"/>
          <p:nvPr/>
        </p:nvSpPr>
        <p:spPr>
          <a:xfrm>
            <a:off x="1645920" y="4572000"/>
            <a:ext cx="9601200" cy="365760"/>
          </a:xfrm>
          <a:prstGeom prst="rect">
            <a:avLst/>
          </a:prstGeom>
          <a:noFill/>
          <a:ln/>
        </p:spPr>
        <p:txBody>
          <a:bodyPr wrap="square" lIns="0" tIns="0" rIns="0" bIns="0" rtlCol="0" anchor="t"/>
          <a:lstStyle/>
          <a:p>
            <a:pPr indent="0" marL="0">
              <a:buNone/>
            </a:pPr>
            <a:r>
              <a:rPr lang="en-US" sz="1200" b="1" dirty="0">
                <a:solidFill>
                  <a:srgbClr val="0F7C90"/>
                </a:solidFill>
                <a:latin typeface="Calibri" pitchFamily="34" charset="0"/>
                <a:ea typeface="Calibri" pitchFamily="34" charset="-122"/>
                <a:cs typeface="Calibri" pitchFamily="34" charset="-120"/>
              </a:rPr>
              <a:t>Resuelva</a:t>
            </a:r>
            <a:endParaRPr lang="en-US" sz="1200" dirty="0"/>
          </a:p>
        </p:txBody>
      </p:sp>
      <p:sp>
        <p:nvSpPr>
          <p:cNvPr id="22" name="Text 19"/>
          <p:cNvSpPr txBox="1"/>
          <p:nvPr/>
        </p:nvSpPr>
        <p:spPr>
          <a:xfrm>
            <a:off x="1645920" y="4892040"/>
            <a:ext cx="9692640" cy="82296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Una empresa colombiana envía datos de sus empleados a la casa matriz en un país sin nivel adecuado, sin autorización de los titulares. ¿Qué excepción del artículo 26 de la Ley 1581 podría invocar y qué debe poder demostrar?</a:t>
            </a:r>
            <a:endParaRPr lang="en-US" sz="1500" dirty="0"/>
          </a:p>
        </p:txBody>
      </p:sp>
      <p:sp>
        <p:nvSpPr>
          <p:cNvPr id="23" name="Text 20"/>
          <p:cNvSpPr txBox="1"/>
          <p:nvPr/>
        </p:nvSpPr>
        <p:spPr>
          <a:xfrm>
            <a:off x="548640" y="5989320"/>
            <a:ext cx="10972800" cy="320040"/>
          </a:xfrm>
          <a:prstGeom prst="rect">
            <a:avLst/>
          </a:prstGeom>
          <a:noFill/>
          <a:ln/>
        </p:spPr>
        <p:txBody>
          <a:bodyPr wrap="square" lIns="0" tIns="0" rIns="0" bIns="0" rtlCol="0" anchor="t"/>
          <a:lstStyle/>
          <a:p>
            <a:pPr indent="0" marL="0">
              <a:buNone/>
            </a:pPr>
            <a:r>
              <a:rPr lang="en-US" sz="1100" i="1" dirty="0">
                <a:solidFill>
                  <a:srgbClr val="7A8699"/>
                </a:solidFill>
                <a:latin typeface="Calibri" pitchFamily="34" charset="0"/>
                <a:ea typeface="Calibri" pitchFamily="34" charset="-122"/>
                <a:cs typeface="Calibri" pitchFamily="34" charset="-120"/>
              </a:rPr>
              <a:t>A mano alzada o con el formulario. Las respuestas están en las notas del orador.</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A41"/>
        </a:solidFill>
      </p:bgPr>
    </p:bg>
    <p:spTree>
      <p:nvGrpSpPr>
        <p:cNvPr id="1" name=""/>
        <p:cNvGrpSpPr/>
        <p:nvPr/>
      </p:nvGrpSpPr>
      <p:grpSpPr>
        <a:xfrm>
          <a:off x="0" y="0"/>
          <a:ext cx="0" cy="0"/>
          <a:chOff x="0" y="0"/>
          <a:chExt cx="0" cy="0"/>
        </a:xfrm>
      </p:grpSpPr>
      <p:sp>
        <p:nvSpPr>
          <p:cNvPr id="3" name="Text 0"/>
          <p:cNvSpPr txBox="1"/>
          <p:nvPr/>
        </p:nvSpPr>
        <p:spPr>
          <a:xfrm>
            <a:off x="731520" y="45720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Cierre · Cuatro deberes sobre tres capas</a:t>
            </a:r>
            <a:endParaRPr lang="en-US" sz="3200" dirty="0"/>
          </a:p>
        </p:txBody>
      </p:sp>
      <p:sp>
        <p:nvSpPr>
          <p:cNvPr id="4" name="Shape 1"/>
          <p:cNvSpPr/>
          <p:nvPr/>
        </p:nvSpPr>
        <p:spPr>
          <a:xfrm>
            <a:off x="731520" y="1463040"/>
            <a:ext cx="6766560" cy="841248"/>
          </a:xfrm>
          <a:prstGeom prst="roundRect">
            <a:avLst>
              <a:gd name="adj" fmla="val 10870"/>
            </a:avLst>
          </a:prstGeom>
          <a:solidFill>
            <a:srgbClr val="2E4A6B"/>
          </a:solidFill>
          <a:ln w="12700">
            <a:solidFill>
              <a:srgbClr val="2E4A6B"/>
            </a:solidFill>
            <a:prstDash val="solid"/>
          </a:ln>
        </p:spPr>
      </p:sp>
      <p:sp>
        <p:nvSpPr>
          <p:cNvPr id="5" name="Text 2"/>
          <p:cNvSpPr txBox="1"/>
          <p:nvPr/>
        </p:nvSpPr>
        <p:spPr>
          <a:xfrm>
            <a:off x="914400" y="1536192"/>
            <a:ext cx="6400800" cy="34747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Capa social y legal</a:t>
            </a:r>
            <a:endParaRPr lang="en-US" sz="1500" dirty="0"/>
          </a:p>
        </p:txBody>
      </p:sp>
      <p:sp>
        <p:nvSpPr>
          <p:cNvPr id="6" name="Text 3"/>
          <p:cNvSpPr txBox="1"/>
          <p:nvPr/>
        </p:nvSpPr>
        <p:spPr>
          <a:xfrm>
            <a:off x="914400" y="1883664"/>
            <a:ext cx="6400800" cy="384048"/>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Lo que ya resolvió la norma: Ley 527, Ley 1581, T-323 de 2024, Circular 002 de 2024</a:t>
            </a:r>
            <a:endParaRPr lang="en-US" sz="1150" dirty="0"/>
          </a:p>
        </p:txBody>
      </p:sp>
      <p:sp>
        <p:nvSpPr>
          <p:cNvPr id="7" name="Shape 4"/>
          <p:cNvSpPr/>
          <p:nvPr/>
        </p:nvSpPr>
        <p:spPr>
          <a:xfrm>
            <a:off x="731520" y="2423160"/>
            <a:ext cx="6766560" cy="841248"/>
          </a:xfrm>
          <a:prstGeom prst="roundRect">
            <a:avLst>
              <a:gd name="adj" fmla="val 10870"/>
            </a:avLst>
          </a:prstGeom>
          <a:solidFill>
            <a:srgbClr val="0F7C90"/>
          </a:solidFill>
          <a:ln w="12700">
            <a:solidFill>
              <a:srgbClr val="0F7C90"/>
            </a:solidFill>
            <a:prstDash val="solid"/>
          </a:ln>
        </p:spPr>
      </p:sp>
      <p:sp>
        <p:nvSpPr>
          <p:cNvPr id="8" name="Text 5"/>
          <p:cNvSpPr txBox="1"/>
          <p:nvPr/>
        </p:nvSpPr>
        <p:spPr>
          <a:xfrm>
            <a:off x="914400" y="2496312"/>
            <a:ext cx="6400800" cy="34747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Capa ética</a:t>
            </a:r>
            <a:endParaRPr lang="en-US" sz="1500" dirty="0"/>
          </a:p>
        </p:txBody>
      </p:sp>
      <p:sp>
        <p:nvSpPr>
          <p:cNvPr id="9" name="Text 6"/>
          <p:cNvSpPr txBox="1"/>
          <p:nvPr/>
        </p:nvSpPr>
        <p:spPr>
          <a:xfrm>
            <a:off x="914400" y="2843784"/>
            <a:ext cx="6400800" cy="384048"/>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Lo que exige un principio: transparencia, control humano, no discriminación (Principled AI)</a:t>
            </a:r>
            <a:endParaRPr lang="en-US" sz="1150" dirty="0"/>
          </a:p>
        </p:txBody>
      </p:sp>
      <p:sp>
        <p:nvSpPr>
          <p:cNvPr id="10" name="Shape 7"/>
          <p:cNvSpPr/>
          <p:nvPr/>
        </p:nvSpPr>
        <p:spPr>
          <a:xfrm>
            <a:off x="731520" y="3383280"/>
            <a:ext cx="6766560" cy="841248"/>
          </a:xfrm>
          <a:prstGeom prst="roundRect">
            <a:avLst>
              <a:gd name="adj" fmla="val 10870"/>
            </a:avLst>
          </a:prstGeom>
          <a:solidFill>
            <a:srgbClr val="E8A33D"/>
          </a:solidFill>
          <a:ln w="12700">
            <a:solidFill>
              <a:srgbClr val="E8A33D"/>
            </a:solidFill>
            <a:prstDash val="solid"/>
          </a:ln>
        </p:spPr>
      </p:sp>
      <p:sp>
        <p:nvSpPr>
          <p:cNvPr id="11" name="Text 8"/>
          <p:cNvSpPr txBox="1"/>
          <p:nvPr/>
        </p:nvSpPr>
        <p:spPr>
          <a:xfrm>
            <a:off x="914400" y="3456432"/>
            <a:ext cx="6400800" cy="347472"/>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Capa técnica</a:t>
            </a:r>
            <a:endParaRPr lang="en-US" sz="1500" dirty="0"/>
          </a:p>
        </p:txBody>
      </p:sp>
      <p:sp>
        <p:nvSpPr>
          <p:cNvPr id="12" name="Text 9"/>
          <p:cNvSpPr txBox="1"/>
          <p:nvPr/>
        </p:nvSpPr>
        <p:spPr>
          <a:xfrm>
            <a:off x="914400" y="3803904"/>
            <a:ext cx="6400800" cy="384048"/>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Lo que solo resuelve la arquitectura: marcas de agua, registros de auditoría, cifrado</a:t>
            </a:r>
            <a:endParaRPr lang="en-US" sz="1150" dirty="0"/>
          </a:p>
        </p:txBody>
      </p:sp>
      <p:sp>
        <p:nvSpPr>
          <p:cNvPr id="13" name="Shape 10"/>
          <p:cNvSpPr/>
          <p:nvPr/>
        </p:nvSpPr>
        <p:spPr>
          <a:xfrm>
            <a:off x="731520" y="4526280"/>
            <a:ext cx="1554480" cy="457200"/>
          </a:xfrm>
          <a:prstGeom prst="roundRect">
            <a:avLst>
              <a:gd name="adj" fmla="val 50000"/>
            </a:avLst>
          </a:prstGeom>
          <a:solidFill>
            <a:srgbClr val="C0392B"/>
          </a:solidFill>
          <a:ln w="12700">
            <a:solidFill>
              <a:srgbClr val="C0392B"/>
            </a:solidFill>
            <a:prstDash val="solid"/>
          </a:ln>
        </p:spPr>
      </p:sp>
      <p:sp>
        <p:nvSpPr>
          <p:cNvPr id="14" name="Text 11"/>
          <p:cNvSpPr txBox="1"/>
          <p:nvPr/>
        </p:nvSpPr>
        <p:spPr>
          <a:xfrm>
            <a:off x="731520" y="4526280"/>
            <a:ext cx="15544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VERIFICAR</a:t>
            </a:r>
            <a:endParaRPr lang="en-US" sz="1100" dirty="0"/>
          </a:p>
        </p:txBody>
      </p:sp>
      <p:sp>
        <p:nvSpPr>
          <p:cNvPr id="15" name="Shape 12"/>
          <p:cNvSpPr/>
          <p:nvPr/>
        </p:nvSpPr>
        <p:spPr>
          <a:xfrm>
            <a:off x="2423160" y="4526280"/>
            <a:ext cx="1554480" cy="457200"/>
          </a:xfrm>
          <a:prstGeom prst="roundRect">
            <a:avLst>
              <a:gd name="adj" fmla="val 50000"/>
            </a:avLst>
          </a:prstGeom>
          <a:solidFill>
            <a:srgbClr val="0F7C90"/>
          </a:solidFill>
          <a:ln w="12700">
            <a:solidFill>
              <a:srgbClr val="0F7C90"/>
            </a:solidFill>
            <a:prstDash val="solid"/>
          </a:ln>
        </p:spPr>
      </p:sp>
      <p:sp>
        <p:nvSpPr>
          <p:cNvPr id="16" name="Text 13"/>
          <p:cNvSpPr txBox="1"/>
          <p:nvPr/>
        </p:nvSpPr>
        <p:spPr>
          <a:xfrm>
            <a:off x="2423160" y="4526280"/>
            <a:ext cx="15544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DEMOSTRAR</a:t>
            </a:r>
            <a:endParaRPr lang="en-US" sz="1100" dirty="0"/>
          </a:p>
        </p:txBody>
      </p:sp>
      <p:sp>
        <p:nvSpPr>
          <p:cNvPr id="17" name="Shape 14"/>
          <p:cNvSpPr/>
          <p:nvPr/>
        </p:nvSpPr>
        <p:spPr>
          <a:xfrm>
            <a:off x="4114800" y="4526280"/>
            <a:ext cx="1554480" cy="457200"/>
          </a:xfrm>
          <a:prstGeom prst="roundRect">
            <a:avLst>
              <a:gd name="adj" fmla="val 50000"/>
            </a:avLst>
          </a:prstGeom>
          <a:solidFill>
            <a:srgbClr val="E8A33D"/>
          </a:solidFill>
          <a:ln w="12700">
            <a:solidFill>
              <a:srgbClr val="E8A33D"/>
            </a:solidFill>
            <a:prstDash val="solid"/>
          </a:ln>
        </p:spPr>
      </p:sp>
      <p:sp>
        <p:nvSpPr>
          <p:cNvPr id="18" name="Text 15"/>
          <p:cNvSpPr txBox="1"/>
          <p:nvPr/>
        </p:nvSpPr>
        <p:spPr>
          <a:xfrm>
            <a:off x="4114800" y="4526280"/>
            <a:ext cx="15544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CONSENTIR</a:t>
            </a:r>
            <a:endParaRPr lang="en-US" sz="1100" dirty="0"/>
          </a:p>
        </p:txBody>
      </p:sp>
      <p:sp>
        <p:nvSpPr>
          <p:cNvPr id="19" name="Shape 16"/>
          <p:cNvSpPr/>
          <p:nvPr/>
        </p:nvSpPr>
        <p:spPr>
          <a:xfrm>
            <a:off x="5806440" y="4526280"/>
            <a:ext cx="1554480" cy="457200"/>
          </a:xfrm>
          <a:prstGeom prst="roundRect">
            <a:avLst>
              <a:gd name="adj" fmla="val 50000"/>
            </a:avLst>
          </a:prstGeom>
          <a:solidFill>
            <a:srgbClr val="6C4AB6"/>
          </a:solidFill>
          <a:ln w="12700">
            <a:solidFill>
              <a:srgbClr val="6C4AB6"/>
            </a:solidFill>
            <a:prstDash val="solid"/>
          </a:ln>
        </p:spPr>
      </p:sp>
      <p:sp>
        <p:nvSpPr>
          <p:cNvPr id="20" name="Text 17"/>
          <p:cNvSpPr txBox="1"/>
          <p:nvPr/>
        </p:nvSpPr>
        <p:spPr>
          <a:xfrm>
            <a:off x="5806440" y="4526280"/>
            <a:ext cx="155448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EXPLICAR</a:t>
            </a:r>
            <a:endParaRPr lang="en-US" sz="1100" dirty="0"/>
          </a:p>
        </p:txBody>
      </p:sp>
      <p:sp>
        <p:nvSpPr>
          <p:cNvPr id="21" name="Text 18"/>
          <p:cNvSpPr txBox="1"/>
          <p:nvPr/>
        </p:nvSpPr>
        <p:spPr>
          <a:xfrm>
            <a:off x="731520" y="5074920"/>
            <a:ext cx="6766560" cy="365760"/>
          </a:xfrm>
          <a:prstGeom prst="rect">
            <a:avLst/>
          </a:prstGeom>
          <a:noFill/>
          <a:ln/>
        </p:spPr>
        <p:txBody>
          <a:bodyPr wrap="square" lIns="0" tIns="0" rIns="0" bIns="0" rtlCol="0" anchor="t"/>
          <a:lstStyle/>
          <a:p>
            <a:pPr indent="0" marL="0">
              <a:buNone/>
            </a:pPr>
            <a:r>
              <a:rPr lang="en-US" sz="1300" i="1" dirty="0">
                <a:solidFill>
                  <a:srgbClr val="CADCFC"/>
                </a:solidFill>
                <a:latin typeface="Calibri" pitchFamily="34" charset="0"/>
                <a:ea typeface="Calibri" pitchFamily="34" charset="-122"/>
                <a:cs typeface="Calibri" pitchFamily="34" charset="-120"/>
              </a:rPr>
              <a:t>¿En qué capa queda cada deber?</a:t>
            </a:r>
            <a:endParaRPr lang="en-US" sz="1300" dirty="0"/>
          </a:p>
        </p:txBody>
      </p:sp>
      <p:sp>
        <p:nvSpPr>
          <p:cNvPr id="22" name="Shape 19"/>
          <p:cNvSpPr/>
          <p:nvPr/>
        </p:nvSpPr>
        <p:spPr>
          <a:xfrm>
            <a:off x="7955280" y="1463040"/>
            <a:ext cx="3749040" cy="2011680"/>
          </a:xfrm>
          <a:prstGeom prst="roundRect">
            <a:avLst>
              <a:gd name="adj" fmla="val 5455"/>
            </a:avLst>
          </a:prstGeom>
          <a:solidFill>
            <a:srgbClr val="243654"/>
          </a:solidFill>
          <a:ln w="12700">
            <a:solidFill>
              <a:srgbClr val="243654"/>
            </a:solidFill>
            <a:prstDash val="solid"/>
          </a:ln>
        </p:spPr>
      </p:sp>
      <p:sp>
        <p:nvSpPr>
          <p:cNvPr id="23" name="Text 20"/>
          <p:cNvSpPr txBox="1"/>
          <p:nvPr/>
        </p:nvSpPr>
        <p:spPr>
          <a:xfrm>
            <a:off x="8138160" y="1554480"/>
            <a:ext cx="3383280" cy="365760"/>
          </a:xfrm>
          <a:prstGeom prst="rect">
            <a:avLst/>
          </a:prstGeom>
          <a:noFill/>
          <a:ln/>
        </p:spPr>
        <p:txBody>
          <a:bodyPr wrap="square" lIns="0" tIns="0" rIns="0" bIns="0" rtlCol="0" anchor="t"/>
          <a:lstStyle/>
          <a:p>
            <a:pPr indent="0" marL="0">
              <a:buNone/>
            </a:pPr>
            <a:r>
              <a:rPr lang="en-US" sz="1500" b="1" dirty="0">
                <a:solidFill>
                  <a:srgbClr val="E8A33D"/>
                </a:solidFill>
                <a:latin typeface="Calibri" pitchFamily="34" charset="0"/>
                <a:ea typeface="Calibri" pitchFamily="34" charset="-122"/>
                <a:cs typeface="Calibri" pitchFamily="34" charset="-120"/>
              </a:rPr>
              <a:t>Compromiso del lunes</a:t>
            </a:r>
            <a:endParaRPr lang="en-US" sz="1500" dirty="0"/>
          </a:p>
        </p:txBody>
      </p:sp>
      <p:sp>
        <p:nvSpPr>
          <p:cNvPr id="24" name="Text 21"/>
          <p:cNvSpPr txBox="1"/>
          <p:nvPr/>
        </p:nvSpPr>
        <p:spPr>
          <a:xfrm>
            <a:off x="8138160" y="1965960"/>
            <a:ext cx="3383280" cy="13716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Escriba la acción concreta que hará la próxima semana con uno de los tres entregables.</a:t>
            </a:r>
            <a:endParaRPr lang="en-US" sz="1300" dirty="0"/>
          </a:p>
        </p:txBody>
      </p:sp>
      <p:sp>
        <p:nvSpPr>
          <p:cNvPr id="25" name="Shape 22"/>
          <p:cNvSpPr/>
          <p:nvPr/>
        </p:nvSpPr>
        <p:spPr>
          <a:xfrm>
            <a:off x="7955280" y="3611880"/>
            <a:ext cx="3749040" cy="1828800"/>
          </a:xfrm>
          <a:prstGeom prst="roundRect">
            <a:avLst>
              <a:gd name="adj" fmla="val 6000"/>
            </a:avLst>
          </a:prstGeom>
          <a:solidFill>
            <a:srgbClr val="243654"/>
          </a:solidFill>
          <a:ln w="12700">
            <a:solidFill>
              <a:srgbClr val="243654"/>
            </a:solidFill>
            <a:prstDash val="solid"/>
          </a:ln>
        </p:spPr>
      </p:sp>
      <p:sp>
        <p:nvSpPr>
          <p:cNvPr id="26" name="Text 23"/>
          <p:cNvSpPr txBox="1"/>
          <p:nvPr/>
        </p:nvSpPr>
        <p:spPr>
          <a:xfrm>
            <a:off x="8138160" y="3703320"/>
            <a:ext cx="3383280" cy="365760"/>
          </a:xfrm>
          <a:prstGeom prst="rect">
            <a:avLst/>
          </a:prstGeom>
          <a:noFill/>
          <a:ln/>
        </p:spPr>
        <p:txBody>
          <a:bodyPr wrap="square" lIns="0" tIns="0" rIns="0" bIns="0" rtlCol="0" anchor="t"/>
          <a:lstStyle/>
          <a:p>
            <a:pPr indent="0" marL="0">
              <a:buNone/>
            </a:pPr>
            <a:r>
              <a:rPr lang="en-US" sz="1500" b="1" dirty="0">
                <a:solidFill>
                  <a:srgbClr val="E8A33D"/>
                </a:solidFill>
                <a:latin typeface="Calibri" pitchFamily="34" charset="0"/>
                <a:ea typeface="Calibri" pitchFamily="34" charset="-122"/>
                <a:cs typeface="Calibri" pitchFamily="34" charset="-120"/>
              </a:rPr>
              <a:t>Sondeo, otra vez</a:t>
            </a:r>
            <a:endParaRPr lang="en-US" sz="1500" dirty="0"/>
          </a:p>
        </p:txBody>
      </p:sp>
      <p:sp>
        <p:nvSpPr>
          <p:cNvPr id="27" name="Text 24"/>
          <p:cNvSpPr txBox="1"/>
          <p:nvPr/>
        </p:nvSpPr>
        <p:spPr>
          <a:xfrm>
            <a:off x="8138160" y="4114800"/>
            <a:ext cx="3383280" cy="11887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¿Alguien cambiaría hoy su respuesta a las tres preguntas de apertura?</a:t>
            </a:r>
            <a:endParaRPr lang="en-US" sz="1300" dirty="0"/>
          </a:p>
        </p:txBody>
      </p:sp>
      <p:sp>
        <p:nvSpPr>
          <p:cNvPr id="28" name="Text 25"/>
          <p:cNvSpPr txBox="1"/>
          <p:nvPr/>
        </p:nvSpPr>
        <p:spPr>
          <a:xfrm>
            <a:off x="731520" y="5760720"/>
            <a:ext cx="10972800" cy="54864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Hoy mismo reciben: plantillas, clave del ejercicio, extractos, protocolo consolidado y lista de fuentes con URL.</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Rutas de profundización</a:t>
            </a:r>
            <a:endParaRPr lang="en-US" sz="2800" dirty="0"/>
          </a:p>
        </p:txBody>
      </p:sp>
      <p:sp>
        <p:nvSpPr>
          <p:cNvPr id="3" name="Shape 1"/>
          <p:cNvSpPr/>
          <p:nvPr/>
        </p:nvSpPr>
        <p:spPr>
          <a:xfrm>
            <a:off x="9646920" y="384048"/>
            <a:ext cx="2084832" cy="384048"/>
          </a:xfrm>
          <a:prstGeom prst="roundRect">
            <a:avLst>
              <a:gd name="adj" fmla="val 50000"/>
            </a:avLst>
          </a:prstGeom>
          <a:solidFill>
            <a:srgbClr val="1B2A41"/>
          </a:solidFill>
          <a:ln w="12700">
            <a:solidFill>
              <a:srgbClr val="1B2A41"/>
            </a:solidFill>
            <a:prstDash val="solid"/>
          </a:ln>
        </p:spPr>
      </p:sp>
      <p:sp>
        <p:nvSpPr>
          <p:cNvPr id="4" name="Text 2"/>
          <p:cNvSpPr txBox="1"/>
          <p:nvPr/>
        </p:nvSpPr>
        <p:spPr>
          <a:xfrm>
            <a:off x="9646920" y="384048"/>
            <a:ext cx="2084832" cy="38404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SÍNTESIS</a:t>
            </a:r>
            <a:endParaRPr lang="en-US" sz="1200" dirty="0"/>
          </a:p>
        </p:txBody>
      </p:sp>
      <p:sp>
        <p:nvSpPr>
          <p:cNvPr id="5" name="Text 3"/>
          <p:cNvSpPr txBox="1"/>
          <p:nvPr/>
        </p:nvSpPr>
        <p:spPr>
          <a:xfrm>
            <a:off x="9646920" y="822960"/>
            <a:ext cx="2084832" cy="274320"/>
          </a:xfrm>
          <a:prstGeom prst="rect">
            <a:avLst/>
          </a:prstGeom>
          <a:noFill/>
          <a:ln/>
        </p:spPr>
        <p:txBody>
          <a:bodyPr wrap="square" lIns="0" tIns="0" rIns="0" bIns="0" rtlCol="0" anchor="t"/>
          <a:lstStyle/>
          <a:p>
            <a:pPr algn="ctr" indent="0" marL="0">
              <a:buNone/>
            </a:pPr>
            <a:r>
              <a:rPr lang="en-US" sz="1100" dirty="0">
                <a:solidFill>
                  <a:srgbClr val="7A8699"/>
                </a:solidFill>
                <a:latin typeface="Calibri" pitchFamily="34" charset="0"/>
                <a:ea typeface="Calibri" pitchFamily="34" charset="-122"/>
                <a:cs typeface="Calibri" pitchFamily="34" charset="-120"/>
              </a:rPr>
              <a:t>115-120 min</a:t>
            </a:r>
            <a:endParaRPr lang="en-US" sz="1100" dirty="0"/>
          </a:p>
        </p:txBody>
      </p:sp>
      <p:sp>
        <p:nvSpPr>
          <p:cNvPr id="6" name="Text 4"/>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23</a:t>
            </a:r>
            <a:endParaRPr lang="en-US" sz="900" dirty="0"/>
          </a:p>
        </p:txBody>
      </p:sp>
      <p:sp>
        <p:nvSpPr>
          <p:cNvPr id="8" name="Shape 5"/>
          <p:cNvSpPr/>
          <p:nvPr/>
        </p:nvSpPr>
        <p:spPr>
          <a:xfrm>
            <a:off x="548640" y="1371600"/>
            <a:ext cx="3566160" cy="4663440"/>
          </a:xfrm>
          <a:prstGeom prst="roundRect">
            <a:avLst>
              <a:gd name="adj" fmla="val 3077"/>
            </a:avLst>
          </a:prstGeom>
          <a:solidFill>
            <a:srgbClr val="F4F7FA"/>
          </a:solidFill>
          <a:ln w="12700">
            <a:solidFill>
              <a:srgbClr val="F4F7FA"/>
            </a:solidFill>
            <a:prstDash val="solid"/>
          </a:ln>
        </p:spPr>
      </p:sp>
      <p:sp>
        <p:nvSpPr>
          <p:cNvPr id="9" name="Shape 6"/>
          <p:cNvSpPr/>
          <p:nvPr/>
        </p:nvSpPr>
        <p:spPr>
          <a:xfrm>
            <a:off x="731520" y="1554480"/>
            <a:ext cx="3200400" cy="548640"/>
          </a:xfrm>
          <a:prstGeom prst="roundRect">
            <a:avLst>
              <a:gd name="adj" fmla="val 16667"/>
            </a:avLst>
          </a:prstGeom>
          <a:solidFill>
            <a:srgbClr val="0F7C90"/>
          </a:solidFill>
          <a:ln w="12700">
            <a:solidFill>
              <a:srgbClr val="0F7C90"/>
            </a:solidFill>
            <a:prstDash val="solid"/>
          </a:ln>
        </p:spPr>
      </p:sp>
      <p:sp>
        <p:nvSpPr>
          <p:cNvPr id="10" name="Text 7"/>
          <p:cNvSpPr txBox="1"/>
          <p:nvPr/>
        </p:nvSpPr>
        <p:spPr>
          <a:xfrm>
            <a:off x="822960" y="1554480"/>
            <a:ext cx="301752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Universidad Externado de Colombia</a:t>
            </a:r>
            <a:endParaRPr lang="en-US" sz="1400" dirty="0"/>
          </a:p>
        </p:txBody>
      </p:sp>
      <p:sp>
        <p:nvSpPr>
          <p:cNvPr id="11" name="Text 8"/>
          <p:cNvSpPr txBox="1"/>
          <p:nvPr/>
        </p:nvSpPr>
        <p:spPr>
          <a:xfrm>
            <a:off x="777240" y="2286000"/>
            <a:ext cx="3154680" cy="3657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Especialización y Maestría en Derecho Informático y de las Nuevas Tecnologías</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Diplomado en Derecho, Regulación &amp; Tecnología</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Curso de inmersión «IA para Abogados e Investigadores en Derecho»</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Ciclo de Conferencias 2026 (30 años del Departamento de Derecho TIC) y Seminarios web</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Revista de Derecho Privado y Revista La Propiedad Inmaterial</a:t>
            </a:r>
            <a:endParaRPr lang="en-US" sz="1200" dirty="0"/>
          </a:p>
        </p:txBody>
      </p:sp>
      <p:sp>
        <p:nvSpPr>
          <p:cNvPr id="12" name="Shape 9"/>
          <p:cNvSpPr/>
          <p:nvPr/>
        </p:nvSpPr>
        <p:spPr>
          <a:xfrm>
            <a:off x="4297680" y="1371600"/>
            <a:ext cx="3566160" cy="4663440"/>
          </a:xfrm>
          <a:prstGeom prst="roundRect">
            <a:avLst>
              <a:gd name="adj" fmla="val 3077"/>
            </a:avLst>
          </a:prstGeom>
          <a:solidFill>
            <a:srgbClr val="F4F7FA"/>
          </a:solidFill>
          <a:ln w="12700">
            <a:solidFill>
              <a:srgbClr val="F4F7FA"/>
            </a:solidFill>
            <a:prstDash val="solid"/>
          </a:ln>
        </p:spPr>
      </p:sp>
      <p:sp>
        <p:nvSpPr>
          <p:cNvPr id="13" name="Shape 10"/>
          <p:cNvSpPr/>
          <p:nvPr/>
        </p:nvSpPr>
        <p:spPr>
          <a:xfrm>
            <a:off x="4480560" y="1554480"/>
            <a:ext cx="3200400" cy="548640"/>
          </a:xfrm>
          <a:prstGeom prst="roundRect">
            <a:avLst>
              <a:gd name="adj" fmla="val 16667"/>
            </a:avLst>
          </a:prstGeom>
          <a:solidFill>
            <a:srgbClr val="1B2A41"/>
          </a:solidFill>
          <a:ln w="12700">
            <a:solidFill>
              <a:srgbClr val="1B2A41"/>
            </a:solidFill>
            <a:prstDash val="solid"/>
          </a:ln>
        </p:spPr>
      </p:sp>
      <p:sp>
        <p:nvSpPr>
          <p:cNvPr id="14" name="Text 11"/>
          <p:cNvSpPr txBox="1"/>
          <p:nvPr/>
        </p:nvSpPr>
        <p:spPr>
          <a:xfrm>
            <a:off x="4572000" y="1554480"/>
            <a:ext cx="301752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Harvard</a:t>
            </a:r>
            <a:endParaRPr lang="en-US" sz="1400" dirty="0"/>
          </a:p>
        </p:txBody>
      </p:sp>
      <p:sp>
        <p:nvSpPr>
          <p:cNvPr id="15" name="Text 12"/>
          <p:cNvSpPr txBox="1"/>
          <p:nvPr/>
        </p:nvSpPr>
        <p:spPr>
          <a:xfrm>
            <a:off x="4526280" y="2286000"/>
            <a:ext cx="3154680" cy="3657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CS50's Computer Science for Lawyers (HarvardX, gratuito en auditoría)</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Berkman Klein Center: playlist Ethics &amp; Governance of AI; informe Principled AI</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Initiative on Artificial Intelligence and the Law (Bar-Gill y Sunstein)</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The Practice: «Generative AI in the Legal Profession» (2023)</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Harvard Journal of Law &amp; Technology, vol. 38: Sobel y Bracha sobre IA generativa y derecho de autor</a:t>
            </a:r>
            <a:endParaRPr lang="en-US" sz="1200" dirty="0"/>
          </a:p>
        </p:txBody>
      </p:sp>
      <p:sp>
        <p:nvSpPr>
          <p:cNvPr id="16" name="Shape 13"/>
          <p:cNvSpPr/>
          <p:nvPr/>
        </p:nvSpPr>
        <p:spPr>
          <a:xfrm>
            <a:off x="8046720" y="1371600"/>
            <a:ext cx="3566160" cy="4663440"/>
          </a:xfrm>
          <a:prstGeom prst="roundRect">
            <a:avLst>
              <a:gd name="adj" fmla="val 3077"/>
            </a:avLst>
          </a:prstGeom>
          <a:solidFill>
            <a:srgbClr val="F4F7FA"/>
          </a:solidFill>
          <a:ln w="12700">
            <a:solidFill>
              <a:srgbClr val="F4F7FA"/>
            </a:solidFill>
            <a:prstDash val="solid"/>
          </a:ln>
        </p:spPr>
      </p:sp>
      <p:sp>
        <p:nvSpPr>
          <p:cNvPr id="17" name="Shape 14"/>
          <p:cNvSpPr/>
          <p:nvPr/>
        </p:nvSpPr>
        <p:spPr>
          <a:xfrm>
            <a:off x="8229600" y="1554480"/>
            <a:ext cx="3200400" cy="548640"/>
          </a:xfrm>
          <a:prstGeom prst="roundRect">
            <a:avLst>
              <a:gd name="adj" fmla="val 16667"/>
            </a:avLst>
          </a:prstGeom>
          <a:solidFill>
            <a:srgbClr val="E8A33D"/>
          </a:solidFill>
          <a:ln w="12700">
            <a:solidFill>
              <a:srgbClr val="E8A33D"/>
            </a:solidFill>
            <a:prstDash val="solid"/>
          </a:ln>
        </p:spPr>
      </p:sp>
      <p:sp>
        <p:nvSpPr>
          <p:cNvPr id="18" name="Text 15"/>
          <p:cNvSpPr txBox="1"/>
          <p:nvPr/>
        </p:nvSpPr>
        <p:spPr>
          <a:xfrm>
            <a:off x="8321040" y="1554480"/>
            <a:ext cx="301752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Universidad de los Andes</a:t>
            </a:r>
            <a:endParaRPr lang="en-US" sz="1400" dirty="0"/>
          </a:p>
        </p:txBody>
      </p:sp>
      <p:sp>
        <p:nvSpPr>
          <p:cNvPr id="19" name="Text 16"/>
          <p:cNvSpPr txBox="1"/>
          <p:nvPr/>
        </p:nvSpPr>
        <p:spPr>
          <a:xfrm>
            <a:off x="8275320" y="2286000"/>
            <a:ext cx="3154680" cy="3657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Observatorio Ciro Angarita Barón: jurisprudencia de habeas data y Guía GECTI</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Toolkit ético legal de IA y semillero Lab IA/Law</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Maestría en Derecho, Tecnología y Sociedad Digital</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Curso de Educación Continua «Protección de Datos y Accountability» (GECTI)</a:t>
            </a:r>
            <a:endParaRPr lang="en-US" sz="1200" dirty="0"/>
          </a:p>
          <a:p>
            <a:pPr marL="342900" indent="-3429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Coursera: «Introducción a la inteligencia artificial contemporánea» (en español)</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8869680" cy="960120"/>
          </a:xfrm>
          <a:prstGeom prst="rect">
            <a:avLst/>
          </a:prstGeom>
          <a:noFill/>
          <a:ln/>
        </p:spPr>
        <p:txBody>
          <a:bodyPr wrap="square" lIns="0" tIns="0" rIns="0" bIns="0" rtlCol="0" anchor="ctr"/>
          <a:lstStyle/>
          <a:p>
            <a:pPr indent="0" marL="0">
              <a:buNone/>
            </a:pPr>
            <a:r>
              <a:rPr lang="en-US" sz="2800" b="1" dirty="0">
                <a:solidFill>
                  <a:srgbClr val="1B2A41"/>
                </a:solidFill>
                <a:latin typeface="Cambria" pitchFamily="34" charset="0"/>
                <a:ea typeface="Cambria" pitchFamily="34" charset="-122"/>
                <a:cs typeface="Cambria" pitchFamily="34" charset="-120"/>
              </a:rPr>
              <a:t>Fuentes principales de la sesión</a:t>
            </a:r>
            <a:endParaRPr lang="en-US" sz="2800" dirty="0"/>
          </a:p>
        </p:txBody>
      </p:sp>
      <p:sp>
        <p:nvSpPr>
          <p:cNvPr id="3" name="Text 1"/>
          <p:cNvSpPr txBox="1"/>
          <p:nvPr/>
        </p:nvSpPr>
        <p:spPr>
          <a:xfrm>
            <a:off x="11247120" y="6446520"/>
            <a:ext cx="548640" cy="274320"/>
          </a:xfrm>
          <a:prstGeom prst="rect">
            <a:avLst/>
          </a:prstGeom>
          <a:noFill/>
          <a:ln/>
        </p:spPr>
        <p:txBody>
          <a:bodyPr wrap="square" lIns="0" tIns="0" rIns="0" bIns="0" rtlCol="0" anchor="t"/>
          <a:lstStyle/>
          <a:p>
            <a:pPr algn="r" indent="0" marL="0">
              <a:buNone/>
            </a:pPr>
            <a:r>
              <a:rPr lang="en-US" sz="900" dirty="0">
                <a:solidFill>
                  <a:srgbClr val="7A8699"/>
                </a:solidFill>
                <a:latin typeface="Calibri" pitchFamily="34" charset="0"/>
                <a:ea typeface="Calibri" pitchFamily="34" charset="-122"/>
                <a:cs typeface="Calibri" pitchFamily="34" charset="-120"/>
              </a:rPr>
              <a:t>24</a:t>
            </a:r>
            <a:endParaRPr lang="en-US" sz="900" dirty="0"/>
          </a:p>
        </p:txBody>
      </p:sp>
      <p:sp>
        <p:nvSpPr>
          <p:cNvPr id="5" name="Text 2"/>
          <p:cNvSpPr txBox="1"/>
          <p:nvPr/>
        </p:nvSpPr>
        <p:spPr>
          <a:xfrm>
            <a:off x="548640" y="1280160"/>
            <a:ext cx="3566160" cy="411480"/>
          </a:xfrm>
          <a:prstGeom prst="rect">
            <a:avLst/>
          </a:prstGeom>
          <a:noFill/>
          <a:ln/>
        </p:spPr>
        <p:txBody>
          <a:bodyPr wrap="square" lIns="0" tIns="0" rIns="0" bIns="0" rtlCol="0" anchor="t"/>
          <a:lstStyle/>
          <a:p>
            <a:pPr indent="0" marL="0">
              <a:buNone/>
            </a:pPr>
            <a:r>
              <a:rPr lang="en-US" sz="1600" b="1" dirty="0">
                <a:solidFill>
                  <a:srgbClr val="0F7C90"/>
                </a:solidFill>
                <a:latin typeface="Calibri" pitchFamily="34" charset="0"/>
                <a:ea typeface="Calibri" pitchFamily="34" charset="-122"/>
                <a:cs typeface="Calibri" pitchFamily="34" charset="-120"/>
              </a:rPr>
              <a:t>Externado</a:t>
            </a:r>
            <a:endParaRPr lang="en-US" sz="1600" dirty="0"/>
          </a:p>
        </p:txBody>
      </p:sp>
      <p:sp>
        <p:nvSpPr>
          <p:cNvPr id="6" name="Text 3"/>
          <p:cNvSpPr txBox="1"/>
          <p:nvPr/>
        </p:nvSpPr>
        <p:spPr>
          <a:xfrm>
            <a:off x="548640" y="1737360"/>
            <a:ext cx="3566160" cy="438912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Resumen y relatoría de la Sentencia T-323 de 2024 (Dpto. de Propiedad Intelectual; Dptos. de Derecho TIC y Constitucional)</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«El Externado analiza el uso de la IA en la justicia colombiana» (STC17832-2025 y AC739-2026)</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Daniel Peña Valenzuela, «Del contrato electrónico a los smart contracts» (video)</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Memorias I Foro Ley 527 de 1999: dos décadas después (Observatics)</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Padilla Sánchez; Almonacid y Coronel, Revista de Derecho Privado nn. 38-39 (2020)</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«Biometría bajo la lupa: el caso Mercado Libre»; conversatorio Circular 002 de 2024 (SIC)</a:t>
            </a:r>
            <a:endParaRPr lang="en-US" sz="1050" dirty="0"/>
          </a:p>
        </p:txBody>
      </p:sp>
      <p:sp>
        <p:nvSpPr>
          <p:cNvPr id="7" name="Text 4"/>
          <p:cNvSpPr txBox="1"/>
          <p:nvPr/>
        </p:nvSpPr>
        <p:spPr>
          <a:xfrm>
            <a:off x="4297680" y="1280160"/>
            <a:ext cx="3566160" cy="411480"/>
          </a:xfrm>
          <a:prstGeom prst="rect">
            <a:avLst/>
          </a:prstGeom>
          <a:noFill/>
          <a:ln/>
        </p:spPr>
        <p:txBody>
          <a:bodyPr wrap="square" lIns="0" tIns="0" rIns="0" bIns="0" rtlCol="0" anchor="t"/>
          <a:lstStyle/>
          <a:p>
            <a:pPr indent="0" marL="0">
              <a:buNone/>
            </a:pPr>
            <a:r>
              <a:rPr lang="en-US" sz="1600" b="1" dirty="0">
                <a:solidFill>
                  <a:srgbClr val="1B2A41"/>
                </a:solidFill>
                <a:latin typeface="Calibri" pitchFamily="34" charset="0"/>
                <a:ea typeface="Calibri" pitchFamily="34" charset="-122"/>
                <a:cs typeface="Calibri" pitchFamily="34" charset="-120"/>
              </a:rPr>
              <a:t>Harvard</a:t>
            </a:r>
            <a:endParaRPr lang="en-US" sz="1600" dirty="0"/>
          </a:p>
        </p:txBody>
      </p:sp>
      <p:sp>
        <p:nvSpPr>
          <p:cNvPr id="8" name="Text 5"/>
          <p:cNvSpPr txBox="1"/>
          <p:nvPr/>
        </p:nvSpPr>
        <p:spPr>
          <a:xfrm>
            <a:off x="4297680" y="1737360"/>
            <a:ext cx="3566160" cy="438912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Lessig, «Code Is Law» (Harvard Magazine, 2000)</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Gasser y Almeida, «A Layered Model for AI Governance» (2017)</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JOLT Digest, «A Primer on Using AI in the Legal Profession» (2018)</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CS50 for Lawyers, «Understanding Impacts of AI on the Legal Profession» (video)</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Fjeld et al., «Principled Artificial Intelligence» (Berkman Klein, 2020)</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HLS Case Studies, «CLOUD Act Enforcement»; Berkman Klein, «Skin in the Game: Modulate AI»</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Zittrain, «Openness and Oversight of AI» (video, 2017); «Intellectual Debt» (2019)</a:t>
            </a:r>
            <a:endParaRPr lang="en-US" sz="1050" dirty="0"/>
          </a:p>
        </p:txBody>
      </p:sp>
      <p:sp>
        <p:nvSpPr>
          <p:cNvPr id="9" name="Text 6"/>
          <p:cNvSpPr txBox="1"/>
          <p:nvPr/>
        </p:nvSpPr>
        <p:spPr>
          <a:xfrm>
            <a:off x="8046720" y="1280160"/>
            <a:ext cx="3566160" cy="411480"/>
          </a:xfrm>
          <a:prstGeom prst="rect">
            <a:avLst/>
          </a:prstGeom>
          <a:noFill/>
          <a:ln/>
        </p:spPr>
        <p:txBody>
          <a:bodyPr wrap="square" lIns="0" tIns="0" rIns="0" bIns="0" rtlCol="0" anchor="t"/>
          <a:lstStyle/>
          <a:p>
            <a:pPr indent="0" marL="0">
              <a:buNone/>
            </a:pPr>
            <a:r>
              <a:rPr lang="en-US" sz="1600" b="1" dirty="0">
                <a:solidFill>
                  <a:srgbClr val="E8A33D"/>
                </a:solidFill>
                <a:latin typeface="Calibri" pitchFamily="34" charset="0"/>
                <a:ea typeface="Calibri" pitchFamily="34" charset="-122"/>
                <a:cs typeface="Calibri" pitchFamily="34" charset="-120"/>
              </a:rPr>
              <a:t>Uniandes</a:t>
            </a:r>
            <a:endParaRPr lang="en-US" sz="1600" dirty="0"/>
          </a:p>
        </p:txBody>
      </p:sp>
      <p:sp>
        <p:nvSpPr>
          <p:cNvPr id="10" name="Text 7"/>
          <p:cNvSpPr txBox="1"/>
          <p:nvPr/>
        </p:nvSpPr>
        <p:spPr>
          <a:xfrm>
            <a:off x="8046720" y="1737360"/>
            <a:ext cx="3566160" cy="438912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Remolina y Álvarez, Guía GECTI de responsabilidad demostrada en transferencias internacionales (2018)</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Remolina, conferencia sobre protección de datos en cloud computing (video)</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«¿Afecta la inteligencia artificial las decisiones que se toman sobre las personas?» (Facultad de Derecho)</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Flórez Rojas (ed.), «Derecho de las tecnologías y las tecnologías para el derecho» (Ediciones Uniandes, 2022)</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Toolkit ético legal de inteligencia artificial (Facultad de Derecho y GECTI)</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Conferencias del canal de la Facultad de Derecho sobre IA y Estado de derecho (2024-2026)</a:t>
            </a:r>
            <a:endParaRPr lang="en-US" sz="1050" dirty="0"/>
          </a:p>
        </p:txBody>
      </p:sp>
      <p:sp>
        <p:nvSpPr>
          <p:cNvPr id="11" name="Text 8"/>
          <p:cNvSpPr txBox="1"/>
          <p:nvPr/>
        </p:nvSpPr>
        <p:spPr>
          <a:xfrm>
            <a:off x="548640" y="6126480"/>
            <a:ext cx="10607040" cy="457200"/>
          </a:xfrm>
          <a:prstGeom prst="rect">
            <a:avLst/>
          </a:prstGeom>
          <a:noFill/>
          <a:ln/>
        </p:spPr>
        <p:txBody>
          <a:bodyPr wrap="square" lIns="0" tIns="0" rIns="0" bIns="0" rtlCol="0" anchor="t"/>
          <a:lstStyle/>
          <a:p>
            <a:pPr indent="0" marL="0">
              <a:buNone/>
            </a:pPr>
            <a:r>
              <a:rPr lang="en-US" sz="1000" i="1" dirty="0">
                <a:solidFill>
                  <a:srgbClr val="7A8699"/>
                </a:solidFill>
                <a:latin typeface="Calibri" pitchFamily="34" charset="0"/>
                <a:ea typeface="Calibri" pitchFamily="34" charset="-122"/>
                <a:cs typeface="Calibri" pitchFamily="34" charset="-120"/>
              </a:rPr>
              <a:t>Catálogo completo (155 fuentes, con URL y estado de verificación): FUENTES.md / FUENTES.docx en la carpeta de la conferencia.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Derecho y tecnología para el lunes</dc:title>
  <dc:subject>PptxGenJS Presentation</dc:subject>
  <dc:creator>Conferencia Derecho y Tecnología</dc:creator>
  <cp:lastModifiedBy>Conferencia Derecho y Tecnología</cp:lastModifiedBy>
  <cp:revision>1</cp:revision>
  <dcterms:created xsi:type="dcterms:W3CDTF">2026-09-28T03:18:48Z</dcterms:created>
  <dcterms:modified xsi:type="dcterms:W3CDTF">2026-09-28T03:18:48Z</dcterms:modified>
</cp:coreProperties>
</file>